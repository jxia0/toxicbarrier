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8575000" cy="14287500"/>
  <p:notesSz cx="6858000" cy="9144000"/>
  <p:embeddedFontLst>
    <p:embeddedFont>
      <p:font typeface="Arial Bold" charset="1" panose="020B0704020202020204"/>
      <p:regular r:id="rId19"/>
    </p:embeddedFont>
    <p:embeddedFont>
      <p:font typeface="Georgia" charset="1" panose="02040502050405020303"/>
      <p:regular r:id="rId20"/>
    </p:embeddedFont>
    <p:embeddedFont>
      <p:font typeface="Arial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https://github.com/JXia0/ToxicBarrier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Type="http://schemas.openxmlformats.org/officeDocument/2006/relationships/image" Target="../media/portfolio_s3_image.png" Id="rId3"/><Relationship Type="http://schemas.openxmlformats.org/officeDocument/2006/relationships/image" Target="../media/portfolio_s3_image2.png" Id="rId4"/><Relationship Type="http://schemas.openxmlformats.org/officeDocument/2006/relationships/image" Target="../media/portfolio_s3_image3.png" Id="rId5"/><Relationship Type="http://schemas.openxmlformats.org/officeDocument/2006/relationships/image" Target="../media/portfolio_s3_image.jpeg" Id="rId6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Relationship Type="http://schemas.openxmlformats.org/officeDocument/2006/relationships/image" Target="../media/portfolio_s5_image2.jpeg" Id="rId11"/><Relationship Type="http://schemas.openxmlformats.org/officeDocument/2006/relationships/image" Target="../media/portfolio_s5_image4.png" Id="rId12"/><Relationship Type="http://schemas.openxmlformats.org/officeDocument/2006/relationships/image" Target="../media/portfolio_s5_image5.png" Id="rId13"/><Relationship Type="http://schemas.openxmlformats.org/officeDocument/2006/relationships/image" Target="../media/portfolio_s5_image6.png" Id="rId14"/><Relationship Type="http://schemas.openxmlformats.org/officeDocument/2006/relationships/image" Target="../media/portfolio_s5_image7.png" Id="rId15"/><Relationship Type="http://schemas.openxmlformats.org/officeDocument/2006/relationships/image" Target="../media/portfolio_s5_image8.png" Id="rId16"/><Relationship Type="http://schemas.openxmlformats.org/officeDocument/2006/relationships/image" Target="../media/portfolio_s5_image9.png" Id="rId17"/><Relationship Type="http://schemas.openxmlformats.org/officeDocument/2006/relationships/image" Target="../media/portfolio_s5_image10.png" Id="rId18"/><Relationship Type="http://schemas.openxmlformats.org/officeDocument/2006/relationships/image" Target="../media/portfolio_s5_image11.png" Id="rId19"/><Relationship Type="http://schemas.openxmlformats.org/officeDocument/2006/relationships/image" Target="../media/portfolio_s5_image12.png" Id="rId20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24.png" Type="http://schemas.openxmlformats.org/officeDocument/2006/relationships/image"/><Relationship Id="rId4" Target="../media/image17.jpe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7.jpe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Type="http://schemas.openxmlformats.org/officeDocument/2006/relationships/image" Target="../media/portfolio_s11_image3.jpeg" Id="rId8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https://globalgamejam.org/games/2026/letting-go-0" TargetMode="External" Type="http://schemas.openxmlformats.org/officeDocument/2006/relationships/hyperlink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13890625" cy="14287500"/>
            <a:chOff x="0" y="0"/>
            <a:chExt cx="13335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5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335000">
                  <a:moveTo>
                    <a:pt x="0" y="0"/>
                  </a:moveTo>
                  <a:lnTo>
                    <a:pt x="13335000" y="0"/>
                  </a:lnTo>
                  <a:lnTo>
                    <a:pt x="13335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116">
                    <a:alpha val="92000"/>
                  </a:srgbClr>
                </a:gs>
                <a:gs pos="55000">
                  <a:srgbClr val="071116">
                    <a:alpha val="60000"/>
                  </a:srgbClr>
                </a:gs>
                <a:gs pos="100000">
                  <a:srgbClr val="071116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7083" y="833438"/>
            <a:ext cx="9683750" cy="6455833"/>
            <a:chOff x="0" y="0"/>
            <a:chExt cx="9296400" cy="619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96400" cy="6197600"/>
            </a:xfrm>
            <a:custGeom>
              <a:avLst/>
              <a:gdLst/>
              <a:ahLst/>
              <a:cxnLst/>
              <a:rect r="r" b="b" t="t" l="l"/>
              <a:pathLst>
                <a:path h="61976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6197600"/>
                  </a:lnTo>
                  <a:lnTo>
                    <a:pt x="0" y="619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294167" y="820208"/>
            <a:ext cx="873125" cy="873125"/>
            <a:chOff x="0" y="0"/>
            <a:chExt cx="838200" cy="838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4E9D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5386771" y="912812"/>
            <a:ext cx="687917" cy="687917"/>
            <a:chOff x="0" y="0"/>
            <a:chExt cx="660400" cy="66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5294167" y="2156354"/>
            <a:ext cx="873125" cy="873125"/>
            <a:chOff x="0" y="0"/>
            <a:chExt cx="838200" cy="838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4E9D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386771" y="2248958"/>
            <a:ext cx="687917" cy="687917"/>
            <a:chOff x="0" y="0"/>
            <a:chExt cx="660400" cy="660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5294167" y="3492500"/>
            <a:ext cx="873125" cy="873125"/>
            <a:chOff x="0" y="0"/>
            <a:chExt cx="838200" cy="838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4E9D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5386771" y="3585104"/>
            <a:ext cx="687917" cy="687917"/>
            <a:chOff x="0" y="0"/>
            <a:chExt cx="660400" cy="660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778125" y="9674225"/>
            <a:ext cx="10318750" cy="51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2D SURVIVAL &amp; TOWER DEFENSE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78125" y="10441517"/>
            <a:ext cx="11575521" cy="245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Toxic fog erupted beneath a medieval kingdom.</a:t>
            </a:r>
          </a:p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The dead rose. Its cities fell.</a:t>
            </a:r>
          </a:p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One tower still holds back the poison.</a:t>
            </a:r>
          </a:p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You are its last defender.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78125" y="13034433"/>
            <a:ext cx="10186458" cy="499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u="sng">
                <a:solidFill>
                  <a:srgbClr val="467886"/>
                </a:solidFill>
                <a:latin typeface="Arial"/>
                <a:ea typeface="Arial"/>
                <a:cs typeface="Arial"/>
                <a:sym typeface="Arial"/>
                <a:hlinkClick r:id="rId7" tooltip="https://github.com/JXia0/ToxicBarrier"/>
              </a:rPr>
              <a:t>github.com/JXia0/ToxicBarrier</a:t>
            </a:r>
          </a:p>
        </p:txBody>
      </p:sp>
      <p:sp>
        <p:nvSpPr>
          <p:cNvPr id="23" name="AI cover disclosure">
            <a:extLst>
              <a:ext uri="{FF2B5EF4-FFF2-40B4-BE49-F238E27FC236}">
                <a16:creationId xmlns:a16="http://schemas.microsoft.com/office/drawing/2014/main" id="{C8F49DBC-B2DA-4B48-93DE-677D3E1C542B}"/>
              </a:ext>
            </a:extLst>
          </p:cNvPr>
          <p:cNvSpPr>
            <a:spLocks noGrp="1"/>
          </p:cNvSpPr>
          <p:nvPr/>
        </p:nvSpPr>
        <p:spPr>
          <a:xfrm>
            <a:off x="20383500" y="1360170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21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Picture 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1220787"/>
            <a:ext cx="2315104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How to play &amp; game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7083" y="2428346"/>
            <a:ext cx="23151042" cy="75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The player gathers and maneuvers. The allied tower attacks automatically.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487083" y="3546157"/>
            <a:ext cx="14287500" cy="7499456"/>
            <a:chOff x="0" y="0"/>
            <a:chExt cx="13716000" cy="7199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0" cy="7199503"/>
            </a:xfrm>
            <a:custGeom>
              <a:avLst/>
              <a:gdLst/>
              <a:ahLst/>
              <a:cxnLst/>
              <a:rect r="r" b="b" t="t" l="l"/>
              <a:pathLst>
                <a:path h="7199503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7199503"/>
                  </a:lnTo>
                  <a:lnTo>
                    <a:pt x="0" y="7199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859375" y="3588808"/>
            <a:ext cx="8228542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4062">
                <a:solidFill>
                  <a:srgbClr val="E8B66B"/>
                </a:solidFill>
                <a:latin typeface="Georgia"/>
                <a:ea typeface="Georgia"/>
                <a:cs typeface="Georgia"/>
                <a:sym typeface="Georgia"/>
              </a:rPr>
              <a:t>Gather &amp; upgrade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59375" y="4545012"/>
            <a:ext cx="8069792" cy="136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4E9D2"/>
                </a:solidFill>
                <a:latin typeface="Arial"/>
                <a:ea typeface="Arial"/>
                <a:cs typeface="Arial"/>
                <a:sym typeface="Arial"/>
              </a:rPr>
              <a:t>Collect four resource types and invest them in the tower.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59375" y="6142037"/>
            <a:ext cx="8228542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4062">
                <a:solidFill>
                  <a:srgbClr val="E8B66B"/>
                </a:solidFill>
                <a:latin typeface="Georgia"/>
                <a:ea typeface="Georgia"/>
                <a:cs typeface="Georgia"/>
                <a:sym typeface="Georgia"/>
              </a:rPr>
              <a:t>Lure &amp; survive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59375" y="7098242"/>
            <a:ext cx="8069792" cy="136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4E9D2"/>
                </a:solidFill>
                <a:latin typeface="Arial"/>
                <a:ea typeface="Arial"/>
                <a:cs typeface="Arial"/>
                <a:sym typeface="Arial"/>
              </a:rPr>
              <a:t>Bring enemies into tower range. Break pursuit with cover.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59375" y="8695267"/>
            <a:ext cx="8228542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4062">
                <a:solidFill>
                  <a:srgbClr val="E8B66B"/>
                </a:solidFill>
                <a:latin typeface="Georgia"/>
                <a:ea typeface="Georgia"/>
                <a:cs typeface="Georgia"/>
                <a:sym typeface="Georgia"/>
              </a:rPr>
              <a:t>Expand &amp; defend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59375" y="9651471"/>
            <a:ext cx="8069792" cy="136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4E9D2"/>
                </a:solidFill>
                <a:latin typeface="Arial"/>
                <a:ea typeface="Arial"/>
                <a:cs typeface="Arial"/>
                <a:sym typeface="Arial"/>
              </a:rPr>
              <a:t>Upgrade to unlock regions and bring back repair supplies.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859375" y="11592454"/>
            <a:ext cx="8228542" cy="51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VICTORY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859375" y="12227454"/>
            <a:ext cx="8069792" cy="1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4E9D2"/>
                </a:solidFill>
                <a:latin typeface="Arial"/>
                <a:ea typeface="Arial"/>
                <a:cs typeface="Arial"/>
                <a:sym typeface="Arial"/>
              </a:rPr>
              <a:t>Tower level 3. All regions and remaining enemies cleared.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7083" y="11592454"/>
            <a:ext cx="14287500" cy="51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KEYBOARD CONTROLS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87083" y="12303125"/>
            <a:ext cx="4762500" cy="66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229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WASD / Arrows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7083" y="13091054"/>
            <a:ext cx="4762500" cy="53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Move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71354" y="12303125"/>
            <a:ext cx="5556250" cy="66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229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71354" y="13091054"/>
            <a:ext cx="5556250" cy="53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Upgrade / collect supplies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84792" y="12303125"/>
            <a:ext cx="3175000" cy="66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229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Esc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84792" y="13091054"/>
            <a:ext cx="3175000" cy="53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Pause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7083" y="1220787"/>
            <a:ext cx="2315104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Level design &amp; progression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7083" y="2428346"/>
            <a:ext cx="23151042" cy="75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Three concentric regions keep the tower central while exploration becomes more demanding.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7500" y="3763962"/>
            <a:ext cx="3914035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01  LEARN THE LOOP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29600" y="3763962"/>
            <a:ext cx="4135977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02  LEAVE THE REFUGE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78050" y="3763963"/>
            <a:ext cx="4108234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03  SURVIVE THE SIEGE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26500" y="3763963"/>
            <a:ext cx="4108234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LEVEL DESIGN</a:t>
            </a:r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81150" y="4971305"/>
            <a:ext cx="5810250" cy="2897090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29600" y="4971305"/>
            <a:ext cx="5810250" cy="2897090"/>
          </a:xfrm>
          <a:prstGeom prst="rect">
            <a:avLst/>
          </a:prstGeom>
        </p:spPr>
      </p:pic>
      <p:pic>
        <p:nvPicPr>
          <p:cNvPr id="15" name="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4878050" y="4971305"/>
            <a:ext cx="5810250" cy="2897090"/>
          </a:xfrm>
          <a:prstGeom prst="rect">
            <a:avLst/>
          </a:prstGeom>
        </p:spPr>
      </p:pic>
      <p:sp>
        <p:nvSpPr>
          <p:cNvPr id="16" name="Loop explanation">
            <a:extLst>
              <a:ext uri="{FF2B5EF4-FFF2-40B4-BE49-F238E27FC236}">
                <a16:creationId xmlns:a16="http://schemas.microsoft.com/office/drawing/2014/main" id="{CD7F42C1-C05F-451F-9932-6A0934DDABD4}"/>
              </a:ext>
            </a:extLst>
          </p:cNvPr>
          <p:cNvSpPr>
            <a:spLocks noGrp="1"/>
          </p:cNvSpPr>
          <p:nvPr/>
        </p:nvSpPr>
        <p:spPr>
          <a:xfrm>
            <a:off x="1581150" y="8743950"/>
            <a:ext cx="5810250" cy="2609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Gather resources near the tower, then spend them on upgrades. Early waves teach movement and safe returns.</a:t>
            </a:r>
          </a:p>
        </p:txBody>
      </p:sp>
      <p:sp>
        <p:nvSpPr>
          <p:cNvPr id="17" name="Exploration explanation">
            <a:extLst>
              <a:ext uri="{FF2B5EF4-FFF2-40B4-BE49-F238E27FC236}">
                <a16:creationId xmlns:a16="http://schemas.microsoft.com/office/drawing/2014/main" id="{B12052D0-E872-41C7-B9DE-9F9A235EB290}"/>
              </a:ext>
            </a:extLst>
          </p:cNvPr>
          <p:cNvSpPr>
            <a:spLocks noGrp="1"/>
          </p:cNvSpPr>
          <p:nvPr/>
        </p:nvSpPr>
        <p:spPr>
          <a:xfrm>
            <a:off x="8229600" y="8743950"/>
            <a:ext cx="5810250" cy="2609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 level 2 opens the next ring. Travel beyond safety for supplies, using buildings to break pursuit.</a:t>
            </a:r>
          </a:p>
        </p:txBody>
      </p:sp>
      <p:sp>
        <p:nvSpPr>
          <p:cNvPr id="18" name="Siege explanation">
            <a:extLst>
              <a:ext uri="{FF2B5EF4-FFF2-40B4-BE49-F238E27FC236}">
                <a16:creationId xmlns:a16="http://schemas.microsoft.com/office/drawing/2014/main" id="{4B116E75-6FB1-49B3-9788-B0906121C899}"/>
              </a:ext>
            </a:extLst>
          </p:cNvPr>
          <p:cNvSpPr>
            <a:spLocks noGrp="1"/>
          </p:cNvSpPr>
          <p:nvPr/>
        </p:nvSpPr>
        <p:spPr>
          <a:xfrm>
            <a:off x="14878050" y="8743950"/>
            <a:ext cx="5810250" cy="2952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 level 3 opens the final ring. Dodge the skeleton boss, bring back repairs and clear the remaining enemies.</a:t>
            </a:r>
          </a:p>
        </p:txBody>
      </p:sp>
      <p:pic>
        <p:nvPicPr>
          <p:cNvPr id="19" name=""/>
          <p:cNvPicPr>
            <a:picLocks noChangeAspect="1"/>
          </p:cNvPicPr>
          <p:nvPr/>
        </p:nvPicPr>
        <p:blipFill>
          <a:blip r:embed="rId6"/>
          <a:srcRect l="97" t="0" r="97" b="0"/>
          <a:stretch>
            <a:fillRect l="0" t="0" r="0" b="0"/>
          </a:stretch>
        </p:blipFill>
        <p:spPr>
          <a:xfrm rot="16200000">
            <a:off x="22717125" y="3419475"/>
            <a:ext cx="3048000" cy="5429250"/>
          </a:xfrm>
          <a:prstGeom prst="rect">
            <a:avLst/>
          </a:prstGeom>
        </p:spPr>
      </p:pic>
      <p:sp>
        <p:nvSpPr>
          <p:cNvPr id="20" name="Original sketch label">
            <a:extLst>
              <a:ext uri="{FF2B5EF4-FFF2-40B4-BE49-F238E27FC236}">
                <a16:creationId xmlns:a16="http://schemas.microsoft.com/office/drawing/2014/main" id="{1ECBD8A2-153C-4781-98B2-AD325874CFFD}"/>
              </a:ext>
            </a:extLst>
          </p:cNvPr>
          <p:cNvSpPr>
            <a:spLocks noGrp="1"/>
          </p:cNvSpPr>
          <p:nvPr/>
        </p:nvSpPr>
        <p:spPr>
          <a:xfrm>
            <a:off x="21526500" y="7829550"/>
            <a:ext cx="5429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MY ORIGINAL SKETCH</a:t>
            </a:r>
          </a:p>
        </p:txBody>
      </p:sp>
      <p:sp>
        <p:nvSpPr>
          <p:cNvPr id="21" name="Region 3">
            <a:extLst>
              <a:ext uri="{FF2B5EF4-FFF2-40B4-BE49-F238E27FC236}">
                <a16:creationId xmlns:a16="http://schemas.microsoft.com/office/drawing/2014/main" id="{D438913B-E404-4F96-B80E-4BC422FB897B}"/>
              </a:ext>
            </a:extLst>
          </p:cNvPr>
          <p:cNvSpPr>
            <a:spLocks noGrp="1"/>
          </p:cNvSpPr>
          <p:nvPr/>
        </p:nvSpPr>
        <p:spPr>
          <a:xfrm>
            <a:off x="21526500" y="8591550"/>
            <a:ext cx="2819400" cy="2819400"/>
          </a:xfrm>
          <a:prstGeom prst="ellipse">
            <a:avLst/>
          </a:prstGeom>
          <a:solidFill>
            <a:srgbClr val="49303F"/>
          </a:solidFill>
          <a:ln w="17145">
            <a:solidFill>
              <a:srgbClr val="8392B4"/>
            </a:solidFill>
          </a:ln>
        </p:spPr>
      </p:sp>
      <p:sp>
        <p:nvSpPr>
          <p:cNvPr id="22" name="Region 2">
            <a:extLst>
              <a:ext uri="{FF2B5EF4-FFF2-40B4-BE49-F238E27FC236}">
                <a16:creationId xmlns:a16="http://schemas.microsoft.com/office/drawing/2014/main" id="{71D1F57F-1A9D-44C7-998A-7912DA38B3AA}"/>
              </a:ext>
            </a:extLst>
          </p:cNvPr>
          <p:cNvSpPr>
            <a:spLocks noGrp="1"/>
          </p:cNvSpPr>
          <p:nvPr/>
        </p:nvSpPr>
        <p:spPr>
          <a:xfrm>
            <a:off x="21964650" y="9029700"/>
            <a:ext cx="1943100" cy="1943100"/>
          </a:xfrm>
          <a:prstGeom prst="ellipse">
            <a:avLst/>
          </a:prstGeom>
          <a:solidFill>
            <a:srgbClr val="214548"/>
          </a:solidFill>
          <a:ln w="17145">
            <a:solidFill>
              <a:srgbClr val="8BB4AA"/>
            </a:solidFill>
          </a:ln>
        </p:spPr>
      </p:sp>
      <p:sp>
        <p:nvSpPr>
          <p:cNvPr id="23" name="Region 1">
            <a:extLst>
              <a:ext uri="{FF2B5EF4-FFF2-40B4-BE49-F238E27FC236}">
                <a16:creationId xmlns:a16="http://schemas.microsoft.com/office/drawing/2014/main" id="{05A2C634-CC82-4473-ADAF-E79E1F78B619}"/>
              </a:ext>
            </a:extLst>
          </p:cNvPr>
          <p:cNvSpPr>
            <a:spLocks noGrp="1"/>
          </p:cNvSpPr>
          <p:nvPr/>
        </p:nvSpPr>
        <p:spPr>
          <a:xfrm>
            <a:off x="22440900" y="9505950"/>
            <a:ext cx="990600" cy="990600"/>
          </a:xfrm>
          <a:prstGeom prst="ellipse">
            <a:avLst/>
          </a:prstGeom>
          <a:solidFill>
            <a:srgbClr val="75613E"/>
          </a:solidFill>
          <a:ln w="17145">
            <a:solidFill>
              <a:srgbClr val="EDB75E"/>
            </a:solidFill>
          </a:ln>
        </p:spPr>
      </p:sp>
      <p:sp>
        <p:nvSpPr>
          <p:cNvPr id="24" name="Allied tower">
            <a:extLst>
              <a:ext uri="{FF2B5EF4-FFF2-40B4-BE49-F238E27FC236}">
                <a16:creationId xmlns:a16="http://schemas.microsoft.com/office/drawing/2014/main" id="{F463603A-FE3E-4A6F-AC70-E8FFD7559DE4}"/>
              </a:ext>
            </a:extLst>
          </p:cNvPr>
          <p:cNvSpPr>
            <a:spLocks noGrp="1"/>
          </p:cNvSpPr>
          <p:nvPr/>
        </p:nvSpPr>
        <p:spPr>
          <a:xfrm>
            <a:off x="22860000" y="9925050"/>
            <a:ext cx="152400" cy="152400"/>
          </a:xfrm>
          <a:prstGeom prst="rect">
            <a:avLst/>
          </a:prstGeom>
          <a:solidFill>
            <a:srgbClr val="EDB75E"/>
          </a:solidFill>
          <a:ln w="17145">
            <a:solidFill>
              <a:srgbClr val="EDB75E"/>
            </a:solidFill>
          </a:ln>
        </p:spPr>
      </p:sp>
      <p:sp>
        <p:nvSpPr>
          <p:cNvPr id="25" name="Region legend">
            <a:extLst>
              <a:ext uri="{FF2B5EF4-FFF2-40B4-BE49-F238E27FC236}">
                <a16:creationId xmlns:a16="http://schemas.microsoft.com/office/drawing/2014/main" id="{1CA07BBE-3C86-4C90-98E6-C5CC3709926A}"/>
              </a:ext>
            </a:extLst>
          </p:cNvPr>
          <p:cNvSpPr>
            <a:spLocks noGrp="1"/>
          </p:cNvSpPr>
          <p:nvPr/>
        </p:nvSpPr>
        <p:spPr>
          <a:xfrm>
            <a:off x="24555450" y="8934450"/>
            <a:ext cx="241935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1  Refuge</a:t>
            </a:r>
          </a:p>
          <a:p>
            <a:pPr algn="l">
              <a:defRPr sz="21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2  Outer ring</a:t>
            </a:r>
          </a:p>
          <a:p>
            <a:pPr algn="l">
              <a:defRPr sz="21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3  Final siege</a:t>
            </a:r>
          </a:p>
        </p:txBody>
      </p:sp>
      <p:sp>
        <p:nvSpPr>
          <p:cNvPr id="26" name="Fog gating note">
            <a:extLst>
              <a:ext uri="{FF2B5EF4-FFF2-40B4-BE49-F238E27FC236}">
                <a16:creationId xmlns:a16="http://schemas.microsoft.com/office/drawing/2014/main" id="{17330F09-76CA-4683-B4F9-85331F900B62}"/>
              </a:ext>
            </a:extLst>
          </p:cNvPr>
          <p:cNvSpPr>
            <a:spLocks noGrp="1"/>
          </p:cNvSpPr>
          <p:nvPr/>
        </p:nvSpPr>
        <p:spPr>
          <a:xfrm>
            <a:off x="24555450" y="10534650"/>
            <a:ext cx="24193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Fog limits access</a:t>
            </a:r>
          </a:p>
          <a:p>
            <a:pPr algn="l">
              <a:defRPr sz="19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until tower upgrades.</a:t>
            </a:r>
          </a:p>
        </p:txBody>
      </p:sp>
      <p:sp>
        <p:nvSpPr>
          <p:cNvPr id="27" name="Progression step 0">
            <a:extLst>
              <a:ext uri="{FF2B5EF4-FFF2-40B4-BE49-F238E27FC236}">
                <a16:creationId xmlns:a16="http://schemas.microsoft.com/office/drawing/2014/main" id="{BF2168D6-E3E0-428E-B0D2-63A194DEC7A9}"/>
              </a:ext>
            </a:extLst>
          </p:cNvPr>
          <p:cNvSpPr>
            <a:spLocks noGrp="1"/>
          </p:cNvSpPr>
          <p:nvPr/>
        </p:nvSpPr>
        <p:spPr>
          <a:xfrm>
            <a:off x="21526500" y="12115800"/>
            <a:ext cx="1657350" cy="895350"/>
          </a:xfrm>
          <a:prstGeom prst="rect">
            <a:avLst/>
          </a:prstGeom>
          <a:solidFill>
            <a:srgbClr val="11252A"/>
          </a:solidFill>
          <a:ln w="10478">
            <a:solidFill>
              <a:srgbClr val="EDB75E"/>
            </a:solidFill>
          </a:ln>
        </p:spPr>
      </p:sp>
      <p:sp>
        <p:nvSpPr>
          <p:cNvPr id="28" name="Progression label 0">
            <a:extLst>
              <a:ext uri="{FF2B5EF4-FFF2-40B4-BE49-F238E27FC236}">
                <a16:creationId xmlns:a16="http://schemas.microsoft.com/office/drawing/2014/main" id="{C472B185-9B90-4A46-B609-D5F11C44067E}"/>
              </a:ext>
            </a:extLst>
          </p:cNvPr>
          <p:cNvSpPr>
            <a:spLocks noGrp="1"/>
          </p:cNvSpPr>
          <p:nvPr/>
        </p:nvSpPr>
        <p:spPr>
          <a:xfrm>
            <a:off x="21602700" y="12230100"/>
            <a:ext cx="1504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Gather</a:t>
            </a:r>
          </a:p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9" name="Progression arrow 0">
            <a:extLst>
              <a:ext uri="{FF2B5EF4-FFF2-40B4-BE49-F238E27FC236}">
                <a16:creationId xmlns:a16="http://schemas.microsoft.com/office/drawing/2014/main" id="{67297094-1078-4F67-AC17-13E2D25EF1D0}"/>
              </a:ext>
            </a:extLst>
          </p:cNvPr>
          <p:cNvSpPr>
            <a:spLocks noGrp="1"/>
          </p:cNvSpPr>
          <p:nvPr/>
        </p:nvSpPr>
        <p:spPr>
          <a:xfrm>
            <a:off x="23221950" y="12439650"/>
            <a:ext cx="171450" cy="209550"/>
          </a:xfrm>
          <a:prstGeom prst="rightArrow">
            <a:avLst/>
          </a:prstGeom>
          <a:solidFill>
            <a:srgbClr val="EDB75E"/>
          </a:solidFill>
          <a:ln w="17145">
            <a:solidFill>
              <a:srgbClr val="EDB75E"/>
            </a:solidFill>
          </a:ln>
        </p:spPr>
      </p:sp>
      <p:sp>
        <p:nvSpPr>
          <p:cNvPr id="30" name="Progression step 1">
            <a:extLst>
              <a:ext uri="{FF2B5EF4-FFF2-40B4-BE49-F238E27FC236}">
                <a16:creationId xmlns:a16="http://schemas.microsoft.com/office/drawing/2014/main" id="{45D910F6-6702-412D-A77A-130BD29871D0}"/>
              </a:ext>
            </a:extLst>
          </p:cNvPr>
          <p:cNvSpPr>
            <a:spLocks noGrp="1"/>
          </p:cNvSpPr>
          <p:nvPr/>
        </p:nvSpPr>
        <p:spPr>
          <a:xfrm>
            <a:off x="23412450" y="12115800"/>
            <a:ext cx="1657350" cy="895350"/>
          </a:xfrm>
          <a:prstGeom prst="rect">
            <a:avLst/>
          </a:prstGeom>
          <a:solidFill>
            <a:srgbClr val="11252A"/>
          </a:solidFill>
          <a:ln w="10478">
            <a:solidFill>
              <a:srgbClr val="EDB75E"/>
            </a:solidFill>
          </a:ln>
        </p:spPr>
      </p:sp>
      <p:sp>
        <p:nvSpPr>
          <p:cNvPr id="31" name="Progression label 1">
            <a:extLst>
              <a:ext uri="{FF2B5EF4-FFF2-40B4-BE49-F238E27FC236}">
                <a16:creationId xmlns:a16="http://schemas.microsoft.com/office/drawing/2014/main" id="{D7D301D5-A8A9-4570-8037-E56D50BE358E}"/>
              </a:ext>
            </a:extLst>
          </p:cNvPr>
          <p:cNvSpPr>
            <a:spLocks noGrp="1"/>
          </p:cNvSpPr>
          <p:nvPr/>
        </p:nvSpPr>
        <p:spPr>
          <a:xfrm>
            <a:off x="23488650" y="12230100"/>
            <a:ext cx="1504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Upgrade</a:t>
            </a:r>
          </a:p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the tower</a:t>
            </a:r>
          </a:p>
        </p:txBody>
      </p:sp>
      <p:sp>
        <p:nvSpPr>
          <p:cNvPr id="32" name="Progression arrow 1">
            <a:extLst>
              <a:ext uri="{FF2B5EF4-FFF2-40B4-BE49-F238E27FC236}">
                <a16:creationId xmlns:a16="http://schemas.microsoft.com/office/drawing/2014/main" id="{310DADC6-4A27-4C82-A64D-9306B6B4A87F}"/>
              </a:ext>
            </a:extLst>
          </p:cNvPr>
          <p:cNvSpPr>
            <a:spLocks noGrp="1"/>
          </p:cNvSpPr>
          <p:nvPr/>
        </p:nvSpPr>
        <p:spPr>
          <a:xfrm>
            <a:off x="25107900" y="12439650"/>
            <a:ext cx="171450" cy="209550"/>
          </a:xfrm>
          <a:prstGeom prst="rightArrow">
            <a:avLst/>
          </a:prstGeom>
          <a:solidFill>
            <a:srgbClr val="EDB75E"/>
          </a:solidFill>
          <a:ln w="17145">
            <a:solidFill>
              <a:srgbClr val="EDB75E"/>
            </a:solidFill>
          </a:ln>
        </p:spPr>
      </p:sp>
      <p:sp>
        <p:nvSpPr>
          <p:cNvPr id="33" name="Progression step 2">
            <a:extLst>
              <a:ext uri="{FF2B5EF4-FFF2-40B4-BE49-F238E27FC236}">
                <a16:creationId xmlns:a16="http://schemas.microsoft.com/office/drawing/2014/main" id="{86A6C864-9E49-4238-9E69-5C85FF5B6247}"/>
              </a:ext>
            </a:extLst>
          </p:cNvPr>
          <p:cNvSpPr>
            <a:spLocks noGrp="1"/>
          </p:cNvSpPr>
          <p:nvPr/>
        </p:nvSpPr>
        <p:spPr>
          <a:xfrm>
            <a:off x="25298400" y="12115800"/>
            <a:ext cx="1657350" cy="895350"/>
          </a:xfrm>
          <a:prstGeom prst="rect">
            <a:avLst/>
          </a:prstGeom>
          <a:solidFill>
            <a:srgbClr val="11252A"/>
          </a:solidFill>
          <a:ln w="10478">
            <a:solidFill>
              <a:srgbClr val="EDB75E"/>
            </a:solidFill>
          </a:ln>
        </p:spPr>
      </p:sp>
      <p:sp>
        <p:nvSpPr>
          <p:cNvPr id="34" name="Progression label 2">
            <a:extLst>
              <a:ext uri="{FF2B5EF4-FFF2-40B4-BE49-F238E27FC236}">
                <a16:creationId xmlns:a16="http://schemas.microsoft.com/office/drawing/2014/main" id="{2EDD79DC-4645-4C96-B717-644EF3E1A085}"/>
              </a:ext>
            </a:extLst>
          </p:cNvPr>
          <p:cNvSpPr>
            <a:spLocks noGrp="1"/>
          </p:cNvSpPr>
          <p:nvPr/>
        </p:nvSpPr>
        <p:spPr>
          <a:xfrm>
            <a:off x="25374600" y="12230100"/>
            <a:ext cx="1504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Unlock</a:t>
            </a:r>
          </a:p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next ring</a:t>
            </a:r>
          </a:p>
        </p:txBody>
      </p:sp>
      <p:sp>
        <p:nvSpPr>
          <p:cNvPr id="35" name="Region 1 caption">
            <a:extLst>
              <a:ext uri="{FF2B5EF4-FFF2-40B4-BE49-F238E27FC236}">
                <a16:creationId xmlns:a16="http://schemas.microsoft.com/office/drawing/2014/main" id="{C48ACDE8-37C6-41A2-9763-4FAE5161046A}"/>
              </a:ext>
            </a:extLst>
          </p:cNvPr>
          <p:cNvSpPr>
            <a:spLocks noGrp="1"/>
          </p:cNvSpPr>
          <p:nvPr/>
        </p:nvSpPr>
        <p:spPr>
          <a:xfrm>
            <a:off x="1581150" y="12287250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REGION 1 / SAFE RETURNS</a:t>
            </a:r>
          </a:p>
        </p:txBody>
      </p:sp>
      <p:sp>
        <p:nvSpPr>
          <p:cNvPr id="36" name="Region 2 caption">
            <a:extLst>
              <a:ext uri="{FF2B5EF4-FFF2-40B4-BE49-F238E27FC236}">
                <a16:creationId xmlns:a16="http://schemas.microsoft.com/office/drawing/2014/main" id="{553D3D65-E0FF-4BBF-B3C7-7D05514C0EC2}"/>
              </a:ext>
            </a:extLst>
          </p:cNvPr>
          <p:cNvSpPr>
            <a:spLocks noGrp="1"/>
          </p:cNvSpPr>
          <p:nvPr/>
        </p:nvSpPr>
        <p:spPr>
          <a:xfrm>
            <a:off x="8229600" y="12287250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REGION 2 / RISK AND REWARD</a:t>
            </a:r>
          </a:p>
        </p:txBody>
      </p:sp>
      <p:sp>
        <p:nvSpPr>
          <p:cNvPr id="37" name="Region 3 caption">
            <a:extLst>
              <a:ext uri="{FF2B5EF4-FFF2-40B4-BE49-F238E27FC236}">
                <a16:creationId xmlns:a16="http://schemas.microsoft.com/office/drawing/2014/main" id="{F9AAA3CE-7AAD-406E-8BBC-B24A1E5F6902}"/>
              </a:ext>
            </a:extLst>
          </p:cNvPr>
          <p:cNvSpPr>
            <a:spLocks noGrp="1"/>
          </p:cNvSpPr>
          <p:nvPr/>
        </p:nvSpPr>
        <p:spPr>
          <a:xfrm>
            <a:off x="14878050" y="12287250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REGION 3 / FINAL DEFENSE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1220787"/>
            <a:ext cx="23151042" cy="97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Code implementation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  <p:sp>
        <p:nvSpPr>
          <p:cNvPr id="8" name="Script root">
            <a:extLst>
              <a:ext uri="{FF2B5EF4-FFF2-40B4-BE49-F238E27FC236}">
                <a16:creationId xmlns:a16="http://schemas.microsoft.com/office/drawing/2014/main" id="{13F71E37-C648-457C-9039-3F563053A457}"/>
              </a:ext>
            </a:extLst>
          </p:cNvPr>
          <p:cNvSpPr>
            <a:spLocks noGrp="1"/>
          </p:cNvSpPr>
          <p:nvPr/>
        </p:nvSpPr>
        <p:spPr>
          <a:xfrm>
            <a:off x="2514600" y="2971800"/>
            <a:ext cx="16764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Assets / Scripts</a:t>
            </a:r>
          </a:p>
        </p:txBody>
      </p:sp>
      <p:sp>
        <p:nvSpPr>
          <p:cNvPr id="9" name="Folder Core">
            <a:extLst>
              <a:ext uri="{FF2B5EF4-FFF2-40B4-BE49-F238E27FC236}">
                <a16:creationId xmlns:a16="http://schemas.microsoft.com/office/drawing/2014/main" id="{70A59C1B-2693-4069-9BF6-6F6B688FCDC2}"/>
              </a:ext>
            </a:extLst>
          </p:cNvPr>
          <p:cNvSpPr>
            <a:spLocks noGrp="1"/>
          </p:cNvSpPr>
          <p:nvPr/>
        </p:nvSpPr>
        <p:spPr>
          <a:xfrm>
            <a:off x="2514600" y="39814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Core/</a:t>
            </a:r>
          </a:p>
        </p:txBody>
      </p:sp>
      <p:sp>
        <p:nvSpPr>
          <p:cNvPr id="10" name="File Core/ButtonSound.cs">
            <a:extLst>
              <a:ext uri="{FF2B5EF4-FFF2-40B4-BE49-F238E27FC236}">
                <a16:creationId xmlns:a16="http://schemas.microsoft.com/office/drawing/2014/main" id="{BA80C1B6-3B4D-4306-B6EC-2ACE6EA46E45}"/>
              </a:ext>
            </a:extLst>
          </p:cNvPr>
          <p:cNvSpPr>
            <a:spLocks noGrp="1"/>
          </p:cNvSpPr>
          <p:nvPr/>
        </p:nvSpPr>
        <p:spPr>
          <a:xfrm>
            <a:off x="2705100" y="4552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ButtonSound.cs</a:t>
            </a:r>
          </a:p>
        </p:txBody>
      </p:sp>
      <p:sp>
        <p:nvSpPr>
          <p:cNvPr id="11" name="File Core/DebugStartingResources.cs">
            <a:extLst>
              <a:ext uri="{FF2B5EF4-FFF2-40B4-BE49-F238E27FC236}">
                <a16:creationId xmlns:a16="http://schemas.microsoft.com/office/drawing/2014/main" id="{8C3E7B0D-F35E-4F31-A83D-C154E8EF746C}"/>
              </a:ext>
            </a:extLst>
          </p:cNvPr>
          <p:cNvSpPr>
            <a:spLocks noGrp="1"/>
          </p:cNvSpPr>
          <p:nvPr/>
        </p:nvSpPr>
        <p:spPr>
          <a:xfrm>
            <a:off x="2705100" y="4933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DebugStartingResources.cs</a:t>
            </a:r>
          </a:p>
        </p:txBody>
      </p:sp>
      <p:sp>
        <p:nvSpPr>
          <p:cNvPr id="12" name="File Core/GameAudio.cs">
            <a:extLst>
              <a:ext uri="{FF2B5EF4-FFF2-40B4-BE49-F238E27FC236}">
                <a16:creationId xmlns:a16="http://schemas.microsoft.com/office/drawing/2014/main" id="{7B72C8FA-5BF8-47B4-85B4-B3D60AF3203F}"/>
              </a:ext>
            </a:extLst>
          </p:cNvPr>
          <p:cNvSpPr>
            <a:spLocks noGrp="1"/>
          </p:cNvSpPr>
          <p:nvPr/>
        </p:nvSpPr>
        <p:spPr>
          <a:xfrm>
            <a:off x="2705100" y="5314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GameAudio.cs</a:t>
            </a:r>
          </a:p>
        </p:txBody>
      </p:sp>
      <p:sp>
        <p:nvSpPr>
          <p:cNvPr id="13" name="File Core/GameFlowManager.cs">
            <a:extLst>
              <a:ext uri="{FF2B5EF4-FFF2-40B4-BE49-F238E27FC236}">
                <a16:creationId xmlns:a16="http://schemas.microsoft.com/office/drawing/2014/main" id="{8A6E810C-EB55-4562-8C09-1DFEC0976C1A}"/>
              </a:ext>
            </a:extLst>
          </p:cNvPr>
          <p:cNvSpPr>
            <a:spLocks noGrp="1"/>
          </p:cNvSpPr>
          <p:nvPr/>
        </p:nvSpPr>
        <p:spPr>
          <a:xfrm>
            <a:off x="2705100" y="5695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GameFlowManager.cs</a:t>
            </a:r>
          </a:p>
        </p:txBody>
      </p:sp>
      <p:sp>
        <p:nvSpPr>
          <p:cNvPr id="14" name="File Core/GameFlowUI.cs">
            <a:extLst>
              <a:ext uri="{FF2B5EF4-FFF2-40B4-BE49-F238E27FC236}">
                <a16:creationId xmlns:a16="http://schemas.microsoft.com/office/drawing/2014/main" id="{36AA9F18-4798-4512-A44A-47209F4CFAF1}"/>
              </a:ext>
            </a:extLst>
          </p:cNvPr>
          <p:cNvSpPr>
            <a:spLocks noGrp="1"/>
          </p:cNvSpPr>
          <p:nvPr/>
        </p:nvSpPr>
        <p:spPr>
          <a:xfrm>
            <a:off x="2705100" y="6076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GameFlowUI.cs</a:t>
            </a:r>
          </a:p>
        </p:txBody>
      </p:sp>
      <p:sp>
        <p:nvSpPr>
          <p:cNvPr id="15" name="File Core/GameHudUI.cs">
            <a:extLst>
              <a:ext uri="{FF2B5EF4-FFF2-40B4-BE49-F238E27FC236}">
                <a16:creationId xmlns:a16="http://schemas.microsoft.com/office/drawing/2014/main" id="{E63D2447-C885-4CF4-AFDA-7C617279F298}"/>
              </a:ext>
            </a:extLst>
          </p:cNvPr>
          <p:cNvSpPr>
            <a:spLocks noGrp="1"/>
          </p:cNvSpPr>
          <p:nvPr/>
        </p:nvSpPr>
        <p:spPr>
          <a:xfrm>
            <a:off x="2705100" y="6457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GameHudUI.cs</a:t>
            </a:r>
          </a:p>
        </p:txBody>
      </p:sp>
      <p:sp>
        <p:nvSpPr>
          <p:cNvPr id="16" name="File Core/GameSettingsUI.cs">
            <a:extLst>
              <a:ext uri="{FF2B5EF4-FFF2-40B4-BE49-F238E27FC236}">
                <a16:creationId xmlns:a16="http://schemas.microsoft.com/office/drawing/2014/main" id="{1A8022E9-76D4-4FAB-A376-15CDFA736962}"/>
              </a:ext>
            </a:extLst>
          </p:cNvPr>
          <p:cNvSpPr>
            <a:spLocks noGrp="1"/>
          </p:cNvSpPr>
          <p:nvPr/>
        </p:nvSpPr>
        <p:spPr>
          <a:xfrm>
            <a:off x="2705100" y="6838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GameSettingsUI.cs</a:t>
            </a:r>
          </a:p>
        </p:txBody>
      </p:sp>
      <p:sp>
        <p:nvSpPr>
          <p:cNvPr id="17" name="File Core/GameState.cs">
            <a:extLst>
              <a:ext uri="{FF2B5EF4-FFF2-40B4-BE49-F238E27FC236}">
                <a16:creationId xmlns:a16="http://schemas.microsoft.com/office/drawing/2014/main" id="{4D969B4F-F943-45CD-8C7B-9643FF036321}"/>
              </a:ext>
            </a:extLst>
          </p:cNvPr>
          <p:cNvSpPr>
            <a:spLocks noGrp="1"/>
          </p:cNvSpPr>
          <p:nvPr/>
        </p:nvSpPr>
        <p:spPr>
          <a:xfrm>
            <a:off x="2705100" y="7219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GameState.cs</a:t>
            </a:r>
          </a:p>
        </p:txBody>
      </p:sp>
      <p:sp>
        <p:nvSpPr>
          <p:cNvPr id="18" name="File Core/GameText.cs">
            <a:extLst>
              <a:ext uri="{FF2B5EF4-FFF2-40B4-BE49-F238E27FC236}">
                <a16:creationId xmlns:a16="http://schemas.microsoft.com/office/drawing/2014/main" id="{D1367976-085E-45CC-9EC8-63FB741192EF}"/>
              </a:ext>
            </a:extLst>
          </p:cNvPr>
          <p:cNvSpPr>
            <a:spLocks noGrp="1"/>
          </p:cNvSpPr>
          <p:nvPr/>
        </p:nvSpPr>
        <p:spPr>
          <a:xfrm>
            <a:off x="2705100" y="7600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GameText.cs</a:t>
            </a:r>
          </a:p>
        </p:txBody>
      </p:sp>
      <p:sp>
        <p:nvSpPr>
          <p:cNvPr id="19" name="File Core/LocalizedText.cs">
            <a:extLst>
              <a:ext uri="{FF2B5EF4-FFF2-40B4-BE49-F238E27FC236}">
                <a16:creationId xmlns:a16="http://schemas.microsoft.com/office/drawing/2014/main" id="{DAD4FDC6-A1A9-4741-87C2-E79F66938E1B}"/>
              </a:ext>
            </a:extLst>
          </p:cNvPr>
          <p:cNvSpPr>
            <a:spLocks noGrp="1"/>
          </p:cNvSpPr>
          <p:nvPr/>
        </p:nvSpPr>
        <p:spPr>
          <a:xfrm>
            <a:off x="2705100" y="7981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LocalizedText.cs</a:t>
            </a:r>
          </a:p>
        </p:txBody>
      </p:sp>
      <p:sp>
        <p:nvSpPr>
          <p:cNvPr id="20" name="File Core/MapController.cs">
            <a:extLst>
              <a:ext uri="{FF2B5EF4-FFF2-40B4-BE49-F238E27FC236}">
                <a16:creationId xmlns:a16="http://schemas.microsoft.com/office/drawing/2014/main" id="{2B7EC34D-0C97-4F67-8322-021F12FD5028}"/>
              </a:ext>
            </a:extLst>
          </p:cNvPr>
          <p:cNvSpPr>
            <a:spLocks noGrp="1"/>
          </p:cNvSpPr>
          <p:nvPr/>
        </p:nvSpPr>
        <p:spPr>
          <a:xfrm>
            <a:off x="2705100" y="8362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MapController.cs</a:t>
            </a:r>
          </a:p>
        </p:txBody>
      </p:sp>
      <p:sp>
        <p:nvSpPr>
          <p:cNvPr id="21" name="File Core/StoryIntroUI.cs">
            <a:extLst>
              <a:ext uri="{FF2B5EF4-FFF2-40B4-BE49-F238E27FC236}">
                <a16:creationId xmlns:a16="http://schemas.microsoft.com/office/drawing/2014/main" id="{92E53E72-C676-4FA8-BA14-192608D353FC}"/>
              </a:ext>
            </a:extLst>
          </p:cNvPr>
          <p:cNvSpPr>
            <a:spLocks noGrp="1"/>
          </p:cNvSpPr>
          <p:nvPr/>
        </p:nvSpPr>
        <p:spPr>
          <a:xfrm>
            <a:off x="2705100" y="8743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StoryIntroUI.cs</a:t>
            </a:r>
          </a:p>
        </p:txBody>
      </p:sp>
      <p:sp>
        <p:nvSpPr>
          <p:cNvPr id="22" name="Folder Camera">
            <a:extLst>
              <a:ext uri="{FF2B5EF4-FFF2-40B4-BE49-F238E27FC236}">
                <a16:creationId xmlns:a16="http://schemas.microsoft.com/office/drawing/2014/main" id="{5BB20180-09D9-45D1-927A-FA31A82D97A3}"/>
              </a:ext>
            </a:extLst>
          </p:cNvPr>
          <p:cNvSpPr>
            <a:spLocks noGrp="1"/>
          </p:cNvSpPr>
          <p:nvPr/>
        </p:nvSpPr>
        <p:spPr>
          <a:xfrm>
            <a:off x="2514600" y="956310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Camera/</a:t>
            </a:r>
          </a:p>
        </p:txBody>
      </p:sp>
      <p:sp>
        <p:nvSpPr>
          <p:cNvPr id="23" name="File Camera/CameraBoundsFromMapUnlock.cs">
            <a:extLst>
              <a:ext uri="{FF2B5EF4-FFF2-40B4-BE49-F238E27FC236}">
                <a16:creationId xmlns:a16="http://schemas.microsoft.com/office/drawing/2014/main" id="{EA00A183-ACB5-40B2-AF17-0B88C5AB7CF7}"/>
              </a:ext>
            </a:extLst>
          </p:cNvPr>
          <p:cNvSpPr>
            <a:spLocks noGrp="1"/>
          </p:cNvSpPr>
          <p:nvPr/>
        </p:nvSpPr>
        <p:spPr>
          <a:xfrm>
            <a:off x="2705100" y="10134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CameraBoundsFromMapUnlock.cs</a:t>
            </a:r>
          </a:p>
        </p:txBody>
      </p:sp>
      <p:sp>
        <p:nvSpPr>
          <p:cNvPr id="24" name="File Camera/CinemachineFollowPlayer.cs">
            <a:extLst>
              <a:ext uri="{FF2B5EF4-FFF2-40B4-BE49-F238E27FC236}">
                <a16:creationId xmlns:a16="http://schemas.microsoft.com/office/drawing/2014/main" id="{2C31DDE5-4F2B-468B-B8F8-0023C094755B}"/>
              </a:ext>
            </a:extLst>
          </p:cNvPr>
          <p:cNvSpPr>
            <a:spLocks noGrp="1"/>
          </p:cNvSpPr>
          <p:nvPr/>
        </p:nvSpPr>
        <p:spPr>
          <a:xfrm>
            <a:off x="2705100" y="10515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CinemachineFollowPlayer.cs</a:t>
            </a:r>
          </a:p>
        </p:txBody>
      </p:sp>
      <p:sp>
        <p:nvSpPr>
          <p:cNvPr id="25" name="Folder Rendering">
            <a:extLst>
              <a:ext uri="{FF2B5EF4-FFF2-40B4-BE49-F238E27FC236}">
                <a16:creationId xmlns:a16="http://schemas.microsoft.com/office/drawing/2014/main" id="{84F2B53E-C7FE-4575-9CD3-70C9096A1E60}"/>
              </a:ext>
            </a:extLst>
          </p:cNvPr>
          <p:cNvSpPr>
            <a:spLocks noGrp="1"/>
          </p:cNvSpPr>
          <p:nvPr/>
        </p:nvSpPr>
        <p:spPr>
          <a:xfrm>
            <a:off x="2514600" y="113347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Rendering/</a:t>
            </a:r>
          </a:p>
        </p:txBody>
      </p:sp>
      <p:sp>
        <p:nvSpPr>
          <p:cNvPr id="26" name="File Rendering/SortingLayerNames.cs">
            <a:extLst>
              <a:ext uri="{FF2B5EF4-FFF2-40B4-BE49-F238E27FC236}">
                <a16:creationId xmlns:a16="http://schemas.microsoft.com/office/drawing/2014/main" id="{5E15D567-4FCA-4DDE-9E7D-74AD2F40FEB0}"/>
              </a:ext>
            </a:extLst>
          </p:cNvPr>
          <p:cNvSpPr>
            <a:spLocks noGrp="1"/>
          </p:cNvSpPr>
          <p:nvPr/>
        </p:nvSpPr>
        <p:spPr>
          <a:xfrm>
            <a:off x="2705100" y="11906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SortingLayerNames.cs</a:t>
            </a:r>
          </a:p>
        </p:txBody>
      </p:sp>
      <p:sp>
        <p:nvSpPr>
          <p:cNvPr id="27" name="File Rendering/WorldMarker.cs">
            <a:extLst>
              <a:ext uri="{FF2B5EF4-FFF2-40B4-BE49-F238E27FC236}">
                <a16:creationId xmlns:a16="http://schemas.microsoft.com/office/drawing/2014/main" id="{D658DC68-34D1-40F7-99AC-2A854438993A}"/>
              </a:ext>
            </a:extLst>
          </p:cNvPr>
          <p:cNvSpPr>
            <a:spLocks noGrp="1"/>
          </p:cNvSpPr>
          <p:nvPr/>
        </p:nvSpPr>
        <p:spPr>
          <a:xfrm>
            <a:off x="2705100" y="12287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WorldMarker.cs</a:t>
            </a:r>
          </a:p>
        </p:txBody>
      </p:sp>
      <p:sp>
        <p:nvSpPr>
          <p:cNvPr id="28" name="Folder Map">
            <a:extLst>
              <a:ext uri="{FF2B5EF4-FFF2-40B4-BE49-F238E27FC236}">
                <a16:creationId xmlns:a16="http://schemas.microsoft.com/office/drawing/2014/main" id="{666332E1-B7A4-4FED-B11F-7D3CED4BF50F}"/>
              </a:ext>
            </a:extLst>
          </p:cNvPr>
          <p:cNvSpPr>
            <a:spLocks noGrp="1"/>
          </p:cNvSpPr>
          <p:nvPr/>
        </p:nvSpPr>
        <p:spPr>
          <a:xfrm>
            <a:off x="8496300" y="39814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Map/</a:t>
            </a:r>
          </a:p>
        </p:txBody>
      </p:sp>
      <p:sp>
        <p:nvSpPr>
          <p:cNvPr id="29" name="File Map/BuildingRegionVisibility.cs">
            <a:extLst>
              <a:ext uri="{FF2B5EF4-FFF2-40B4-BE49-F238E27FC236}">
                <a16:creationId xmlns:a16="http://schemas.microsoft.com/office/drawing/2014/main" id="{D5F506D0-4B5F-4886-935F-43C8A884FA21}"/>
              </a:ext>
            </a:extLst>
          </p:cNvPr>
          <p:cNvSpPr>
            <a:spLocks noGrp="1"/>
          </p:cNvSpPr>
          <p:nvPr/>
        </p:nvSpPr>
        <p:spPr>
          <a:xfrm>
            <a:off x="8686800" y="4552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BuildingRegionVisibility.cs</a:t>
            </a:r>
          </a:p>
        </p:txBody>
      </p:sp>
      <p:sp>
        <p:nvSpPr>
          <p:cNvPr id="30" name="File Map/EnvironmentalResourceSpawner.cs">
            <a:extLst>
              <a:ext uri="{FF2B5EF4-FFF2-40B4-BE49-F238E27FC236}">
                <a16:creationId xmlns:a16="http://schemas.microsoft.com/office/drawing/2014/main" id="{E68F8BB4-16B7-4719-9325-B1984F93EFCD}"/>
              </a:ext>
            </a:extLst>
          </p:cNvPr>
          <p:cNvSpPr>
            <a:spLocks noGrp="1"/>
          </p:cNvSpPr>
          <p:nvPr/>
        </p:nvSpPr>
        <p:spPr>
          <a:xfrm>
            <a:off x="8686800" y="4933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EnvironmentalResourceSpawner.cs</a:t>
            </a:r>
          </a:p>
        </p:txBody>
      </p:sp>
      <p:sp>
        <p:nvSpPr>
          <p:cNvPr id="31" name="File Map/ExplorationMapUI.cs">
            <a:extLst>
              <a:ext uri="{FF2B5EF4-FFF2-40B4-BE49-F238E27FC236}">
                <a16:creationId xmlns:a16="http://schemas.microsoft.com/office/drawing/2014/main" id="{2DD698DE-E1BD-4236-B4B9-7CC8D189A424}"/>
              </a:ext>
            </a:extLst>
          </p:cNvPr>
          <p:cNvSpPr>
            <a:spLocks noGrp="1"/>
          </p:cNvSpPr>
          <p:nvPr/>
        </p:nvSpPr>
        <p:spPr>
          <a:xfrm>
            <a:off x="8686800" y="5314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ExplorationMapUI.cs</a:t>
            </a:r>
          </a:p>
        </p:txBody>
      </p:sp>
      <p:sp>
        <p:nvSpPr>
          <p:cNvPr id="32" name="File Map/ExplorationSupply.cs">
            <a:extLst>
              <a:ext uri="{FF2B5EF4-FFF2-40B4-BE49-F238E27FC236}">
                <a16:creationId xmlns:a16="http://schemas.microsoft.com/office/drawing/2014/main" id="{ED637667-7A03-4086-BC81-20EF64D05D3C}"/>
              </a:ext>
            </a:extLst>
          </p:cNvPr>
          <p:cNvSpPr>
            <a:spLocks noGrp="1"/>
          </p:cNvSpPr>
          <p:nvPr/>
        </p:nvSpPr>
        <p:spPr>
          <a:xfrm>
            <a:off x="8686800" y="5695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ExplorationSupply.cs</a:t>
            </a:r>
          </a:p>
        </p:txBody>
      </p:sp>
      <p:sp>
        <p:nvSpPr>
          <p:cNvPr id="33" name="File Map/GroundDetailLayer.cs">
            <a:extLst>
              <a:ext uri="{FF2B5EF4-FFF2-40B4-BE49-F238E27FC236}">
                <a16:creationId xmlns:a16="http://schemas.microsoft.com/office/drawing/2014/main" id="{0C83256C-7A34-4A9A-A15E-7DBAD2B4AF62}"/>
              </a:ext>
            </a:extLst>
          </p:cNvPr>
          <p:cNvSpPr>
            <a:spLocks noGrp="1"/>
          </p:cNvSpPr>
          <p:nvPr/>
        </p:nvSpPr>
        <p:spPr>
          <a:xfrm>
            <a:off x="8686800" y="6076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GroundDetailLayer.cs</a:t>
            </a:r>
          </a:p>
        </p:txBody>
      </p:sp>
      <p:sp>
        <p:nvSpPr>
          <p:cNvPr id="34" name="File Map/MapRevealMask.cs">
            <a:extLst>
              <a:ext uri="{FF2B5EF4-FFF2-40B4-BE49-F238E27FC236}">
                <a16:creationId xmlns:a16="http://schemas.microsoft.com/office/drawing/2014/main" id="{AB7360B1-97FE-4871-82B2-9A6A13394289}"/>
              </a:ext>
            </a:extLst>
          </p:cNvPr>
          <p:cNvSpPr>
            <a:spLocks noGrp="1"/>
          </p:cNvSpPr>
          <p:nvPr/>
        </p:nvSpPr>
        <p:spPr>
          <a:xfrm>
            <a:off x="8686800" y="6457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MapRevealMask.cs</a:t>
            </a:r>
          </a:p>
        </p:txBody>
      </p:sp>
      <p:sp>
        <p:nvSpPr>
          <p:cNvPr id="35" name="File Map/MapTerrainGraphic.cs">
            <a:extLst>
              <a:ext uri="{FF2B5EF4-FFF2-40B4-BE49-F238E27FC236}">
                <a16:creationId xmlns:a16="http://schemas.microsoft.com/office/drawing/2014/main" id="{C68051C1-70E5-4D24-9F48-6F83BA77BF35}"/>
              </a:ext>
            </a:extLst>
          </p:cNvPr>
          <p:cNvSpPr>
            <a:spLocks noGrp="1"/>
          </p:cNvSpPr>
          <p:nvPr/>
        </p:nvSpPr>
        <p:spPr>
          <a:xfrm>
            <a:off x="8686800" y="6838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MapTerrainGraphic.cs</a:t>
            </a:r>
          </a:p>
        </p:txBody>
      </p:sp>
      <p:sp>
        <p:nvSpPr>
          <p:cNvPr id="36" name="File Map/MapZone.cs">
            <a:extLst>
              <a:ext uri="{FF2B5EF4-FFF2-40B4-BE49-F238E27FC236}">
                <a16:creationId xmlns:a16="http://schemas.microsoft.com/office/drawing/2014/main" id="{B9D197EE-8AC8-4EFF-B4CE-4DA67BB7C2E2}"/>
              </a:ext>
            </a:extLst>
          </p:cNvPr>
          <p:cNvSpPr>
            <a:spLocks noGrp="1"/>
          </p:cNvSpPr>
          <p:nvPr/>
        </p:nvSpPr>
        <p:spPr>
          <a:xfrm>
            <a:off x="8686800" y="7219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MapZone.cs</a:t>
            </a:r>
          </a:p>
        </p:txBody>
      </p:sp>
      <p:sp>
        <p:nvSpPr>
          <p:cNvPr id="37" name="File Map/ReachableGround.cs">
            <a:extLst>
              <a:ext uri="{FF2B5EF4-FFF2-40B4-BE49-F238E27FC236}">
                <a16:creationId xmlns:a16="http://schemas.microsoft.com/office/drawing/2014/main" id="{E92BB046-8F9B-4074-B61D-BA7DC184BAC7}"/>
              </a:ext>
            </a:extLst>
          </p:cNvPr>
          <p:cNvSpPr>
            <a:spLocks noGrp="1"/>
          </p:cNvSpPr>
          <p:nvPr/>
        </p:nvSpPr>
        <p:spPr>
          <a:xfrm>
            <a:off x="8686800" y="7600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ReachableGround.cs</a:t>
            </a:r>
          </a:p>
        </p:txBody>
      </p:sp>
      <p:sp>
        <p:nvSpPr>
          <p:cNvPr id="38" name="File Map/TowerNavigationFootprint.cs">
            <a:extLst>
              <a:ext uri="{FF2B5EF4-FFF2-40B4-BE49-F238E27FC236}">
                <a16:creationId xmlns:a16="http://schemas.microsoft.com/office/drawing/2014/main" id="{BACA478B-E0FC-4DAF-8C28-394B05AD3D2B}"/>
              </a:ext>
            </a:extLst>
          </p:cNvPr>
          <p:cNvSpPr>
            <a:spLocks noGrp="1"/>
          </p:cNvSpPr>
          <p:nvPr/>
        </p:nvSpPr>
        <p:spPr>
          <a:xfrm>
            <a:off x="8686800" y="7981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TowerNavigationFootprint.cs</a:t>
            </a:r>
          </a:p>
        </p:txBody>
      </p:sp>
      <p:sp>
        <p:nvSpPr>
          <p:cNvPr id="39" name="File Map/TowerUpgradePanelUI.cs">
            <a:extLst>
              <a:ext uri="{FF2B5EF4-FFF2-40B4-BE49-F238E27FC236}">
                <a16:creationId xmlns:a16="http://schemas.microsoft.com/office/drawing/2014/main" id="{51BFDE6D-E038-4F08-97EB-694A6C16BCB4}"/>
              </a:ext>
            </a:extLst>
          </p:cNvPr>
          <p:cNvSpPr>
            <a:spLocks noGrp="1"/>
          </p:cNvSpPr>
          <p:nvPr/>
        </p:nvSpPr>
        <p:spPr>
          <a:xfrm>
            <a:off x="8686800" y="8362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TowerUpgradePanelUI.cs</a:t>
            </a:r>
          </a:p>
        </p:txBody>
      </p:sp>
      <p:sp>
        <p:nvSpPr>
          <p:cNvPr id="40" name="Folder Map/Waves">
            <a:extLst>
              <a:ext uri="{FF2B5EF4-FFF2-40B4-BE49-F238E27FC236}">
                <a16:creationId xmlns:a16="http://schemas.microsoft.com/office/drawing/2014/main" id="{A2AC1F2F-5E28-472C-876D-EC726D704FDF}"/>
              </a:ext>
            </a:extLst>
          </p:cNvPr>
          <p:cNvSpPr>
            <a:spLocks noGrp="1"/>
          </p:cNvSpPr>
          <p:nvPr/>
        </p:nvSpPr>
        <p:spPr>
          <a:xfrm>
            <a:off x="8496300" y="918210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Map/Waves/</a:t>
            </a:r>
          </a:p>
        </p:txBody>
      </p:sp>
      <p:sp>
        <p:nvSpPr>
          <p:cNvPr id="41" name="File Map/Waves/LevelWavesConfig.cs">
            <a:extLst>
              <a:ext uri="{FF2B5EF4-FFF2-40B4-BE49-F238E27FC236}">
                <a16:creationId xmlns:a16="http://schemas.microsoft.com/office/drawing/2014/main" id="{486D3621-8B3D-4A66-B66C-7688579A4C7C}"/>
              </a:ext>
            </a:extLst>
          </p:cNvPr>
          <p:cNvSpPr>
            <a:spLocks noGrp="1"/>
          </p:cNvSpPr>
          <p:nvPr/>
        </p:nvSpPr>
        <p:spPr>
          <a:xfrm>
            <a:off x="8686800" y="9753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LevelWavesConfig.cs</a:t>
            </a:r>
          </a:p>
        </p:txBody>
      </p:sp>
      <p:sp>
        <p:nvSpPr>
          <p:cNvPr id="42" name="Folder Combat">
            <a:extLst>
              <a:ext uri="{FF2B5EF4-FFF2-40B4-BE49-F238E27FC236}">
                <a16:creationId xmlns:a16="http://schemas.microsoft.com/office/drawing/2014/main" id="{2AB708A5-D587-449B-9803-CBEC58FFB04E}"/>
              </a:ext>
            </a:extLst>
          </p:cNvPr>
          <p:cNvSpPr>
            <a:spLocks noGrp="1"/>
          </p:cNvSpPr>
          <p:nvPr/>
        </p:nvSpPr>
        <p:spPr>
          <a:xfrm>
            <a:off x="8496300" y="105727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Combat/</a:t>
            </a:r>
          </a:p>
        </p:txBody>
      </p:sp>
      <p:sp>
        <p:nvSpPr>
          <p:cNvPr id="43" name="File Combat/FinalSiegeBoss.cs">
            <a:extLst>
              <a:ext uri="{FF2B5EF4-FFF2-40B4-BE49-F238E27FC236}">
                <a16:creationId xmlns:a16="http://schemas.microsoft.com/office/drawing/2014/main" id="{A6B17747-B88E-4F86-858B-54A23E4EF872}"/>
              </a:ext>
            </a:extLst>
          </p:cNvPr>
          <p:cNvSpPr>
            <a:spLocks noGrp="1"/>
          </p:cNvSpPr>
          <p:nvPr/>
        </p:nvSpPr>
        <p:spPr>
          <a:xfrm>
            <a:off x="8686800" y="11144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FinalSiegeBoss.cs</a:t>
            </a:r>
          </a:p>
        </p:txBody>
      </p:sp>
      <p:sp>
        <p:nvSpPr>
          <p:cNvPr id="44" name="File Combat/HealthSystem.cs">
            <a:extLst>
              <a:ext uri="{FF2B5EF4-FFF2-40B4-BE49-F238E27FC236}">
                <a16:creationId xmlns:a16="http://schemas.microsoft.com/office/drawing/2014/main" id="{AE315BB3-F80C-4858-AC78-C83727221461}"/>
              </a:ext>
            </a:extLst>
          </p:cNvPr>
          <p:cNvSpPr>
            <a:spLocks noGrp="1"/>
          </p:cNvSpPr>
          <p:nvPr/>
        </p:nvSpPr>
        <p:spPr>
          <a:xfrm>
            <a:off x="8686800" y="11525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HealthSystem.cs</a:t>
            </a:r>
          </a:p>
        </p:txBody>
      </p:sp>
      <p:sp>
        <p:nvSpPr>
          <p:cNvPr id="45" name="File Combat/TowerAttackBehavior.cs">
            <a:extLst>
              <a:ext uri="{FF2B5EF4-FFF2-40B4-BE49-F238E27FC236}">
                <a16:creationId xmlns:a16="http://schemas.microsoft.com/office/drawing/2014/main" id="{ED31585B-3F80-4F39-8583-3EB0AFEE49C3}"/>
              </a:ext>
            </a:extLst>
          </p:cNvPr>
          <p:cNvSpPr>
            <a:spLocks noGrp="1"/>
          </p:cNvSpPr>
          <p:nvPr/>
        </p:nvSpPr>
        <p:spPr>
          <a:xfrm>
            <a:off x="8686800" y="11906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TowerAttackBehavior.cs</a:t>
            </a:r>
          </a:p>
        </p:txBody>
      </p:sp>
      <p:sp>
        <p:nvSpPr>
          <p:cNvPr id="46" name="File Combat/TowerParticleEffects.cs">
            <a:extLst>
              <a:ext uri="{FF2B5EF4-FFF2-40B4-BE49-F238E27FC236}">
                <a16:creationId xmlns:a16="http://schemas.microsoft.com/office/drawing/2014/main" id="{82869C03-6D7C-4A9B-A0DC-EBE29CBB1C91}"/>
              </a:ext>
            </a:extLst>
          </p:cNvPr>
          <p:cNvSpPr>
            <a:spLocks noGrp="1"/>
          </p:cNvSpPr>
          <p:nvPr/>
        </p:nvSpPr>
        <p:spPr>
          <a:xfrm>
            <a:off x="8686800" y="12287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TowerParticleEffects.cs</a:t>
            </a:r>
          </a:p>
        </p:txBody>
      </p:sp>
      <p:sp>
        <p:nvSpPr>
          <p:cNvPr id="47" name="Folder Player">
            <a:extLst>
              <a:ext uri="{FF2B5EF4-FFF2-40B4-BE49-F238E27FC236}">
                <a16:creationId xmlns:a16="http://schemas.microsoft.com/office/drawing/2014/main" id="{A491EDFF-7E9E-4CE9-8EB2-6366EC6CC38B}"/>
              </a:ext>
            </a:extLst>
          </p:cNvPr>
          <p:cNvSpPr>
            <a:spLocks noGrp="1"/>
          </p:cNvSpPr>
          <p:nvPr/>
        </p:nvSpPr>
        <p:spPr>
          <a:xfrm>
            <a:off x="14478000" y="39814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Player/</a:t>
            </a:r>
          </a:p>
        </p:txBody>
      </p:sp>
      <p:sp>
        <p:nvSpPr>
          <p:cNvPr id="48" name="File Player/HealthControl.cs">
            <a:extLst>
              <a:ext uri="{FF2B5EF4-FFF2-40B4-BE49-F238E27FC236}">
                <a16:creationId xmlns:a16="http://schemas.microsoft.com/office/drawing/2014/main" id="{21FA5FD1-D543-4E2D-B867-0E34F71C482B}"/>
              </a:ext>
            </a:extLst>
          </p:cNvPr>
          <p:cNvSpPr>
            <a:spLocks noGrp="1"/>
          </p:cNvSpPr>
          <p:nvPr/>
        </p:nvSpPr>
        <p:spPr>
          <a:xfrm>
            <a:off x="14668500" y="4552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HealthControl.cs</a:t>
            </a:r>
          </a:p>
        </p:txBody>
      </p:sp>
      <p:sp>
        <p:nvSpPr>
          <p:cNvPr id="49" name="File Player/InventoryPanelUI.cs">
            <a:extLst>
              <a:ext uri="{FF2B5EF4-FFF2-40B4-BE49-F238E27FC236}">
                <a16:creationId xmlns:a16="http://schemas.microsoft.com/office/drawing/2014/main" id="{91F5DC57-A82B-47DC-9914-B35DACFD5A7F}"/>
              </a:ext>
            </a:extLst>
          </p:cNvPr>
          <p:cNvSpPr>
            <a:spLocks noGrp="1"/>
          </p:cNvSpPr>
          <p:nvPr/>
        </p:nvSpPr>
        <p:spPr>
          <a:xfrm>
            <a:off x="14668500" y="4933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InventoryPanelUI.cs</a:t>
            </a:r>
          </a:p>
        </p:txBody>
      </p:sp>
      <p:sp>
        <p:nvSpPr>
          <p:cNvPr id="50" name="File Player/PlayerController.cs">
            <a:extLst>
              <a:ext uri="{FF2B5EF4-FFF2-40B4-BE49-F238E27FC236}">
                <a16:creationId xmlns:a16="http://schemas.microsoft.com/office/drawing/2014/main" id="{FD7C3CCC-92A5-4CF1-80E4-4FB2EF4BC889}"/>
              </a:ext>
            </a:extLst>
          </p:cNvPr>
          <p:cNvSpPr>
            <a:spLocks noGrp="1"/>
          </p:cNvSpPr>
          <p:nvPr/>
        </p:nvSpPr>
        <p:spPr>
          <a:xfrm>
            <a:off x="14668500" y="5314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PlayerController.cs</a:t>
            </a:r>
          </a:p>
        </p:txBody>
      </p:sp>
      <p:sp>
        <p:nvSpPr>
          <p:cNvPr id="51" name="File Player/PlayerInventory.cs">
            <a:extLst>
              <a:ext uri="{FF2B5EF4-FFF2-40B4-BE49-F238E27FC236}">
                <a16:creationId xmlns:a16="http://schemas.microsoft.com/office/drawing/2014/main" id="{FF63374F-255D-4C77-A2B0-CF97B11B6A57}"/>
              </a:ext>
            </a:extLst>
          </p:cNvPr>
          <p:cNvSpPr>
            <a:spLocks noGrp="1"/>
          </p:cNvSpPr>
          <p:nvPr/>
        </p:nvSpPr>
        <p:spPr>
          <a:xfrm>
            <a:off x="14668500" y="5695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PlayerInventory.cs</a:t>
            </a:r>
          </a:p>
        </p:txBody>
      </p:sp>
      <p:sp>
        <p:nvSpPr>
          <p:cNvPr id="52" name="File Player/PlayerMapBounds.cs">
            <a:extLst>
              <a:ext uri="{FF2B5EF4-FFF2-40B4-BE49-F238E27FC236}">
                <a16:creationId xmlns:a16="http://schemas.microsoft.com/office/drawing/2014/main" id="{FFD95F1F-2EE4-4718-B3E2-32D9292A9B21}"/>
              </a:ext>
            </a:extLst>
          </p:cNvPr>
          <p:cNvSpPr>
            <a:spLocks noGrp="1"/>
          </p:cNvSpPr>
          <p:nvPr/>
        </p:nvSpPr>
        <p:spPr>
          <a:xfrm>
            <a:off x="14668500" y="6076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PlayerMapBounds.cs</a:t>
            </a:r>
          </a:p>
        </p:txBody>
      </p:sp>
      <p:sp>
        <p:nvSpPr>
          <p:cNvPr id="53" name="File Player/SurvivorReadability.cs">
            <a:extLst>
              <a:ext uri="{FF2B5EF4-FFF2-40B4-BE49-F238E27FC236}">
                <a16:creationId xmlns:a16="http://schemas.microsoft.com/office/drawing/2014/main" id="{AA85F627-DB3D-416E-95D6-504BAC3ED549}"/>
              </a:ext>
            </a:extLst>
          </p:cNvPr>
          <p:cNvSpPr>
            <a:spLocks noGrp="1"/>
          </p:cNvSpPr>
          <p:nvPr/>
        </p:nvSpPr>
        <p:spPr>
          <a:xfrm>
            <a:off x="14668500" y="6457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SurvivorReadability.cs</a:t>
            </a:r>
          </a:p>
        </p:txBody>
      </p:sp>
      <p:sp>
        <p:nvSpPr>
          <p:cNvPr id="54" name="File Player/TowerRepairCargo.cs">
            <a:extLst>
              <a:ext uri="{FF2B5EF4-FFF2-40B4-BE49-F238E27FC236}">
                <a16:creationId xmlns:a16="http://schemas.microsoft.com/office/drawing/2014/main" id="{9BDF303E-16E7-4364-8D23-71C9D42FF16F}"/>
              </a:ext>
            </a:extLst>
          </p:cNvPr>
          <p:cNvSpPr>
            <a:spLocks noGrp="1"/>
          </p:cNvSpPr>
          <p:nvPr/>
        </p:nvSpPr>
        <p:spPr>
          <a:xfrm>
            <a:off x="14668500" y="68389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TowerRepairCargo.cs</a:t>
            </a:r>
          </a:p>
        </p:txBody>
      </p:sp>
      <p:sp>
        <p:nvSpPr>
          <p:cNvPr id="55" name="Folder Loot">
            <a:extLst>
              <a:ext uri="{FF2B5EF4-FFF2-40B4-BE49-F238E27FC236}">
                <a16:creationId xmlns:a16="http://schemas.microsoft.com/office/drawing/2014/main" id="{D63D413C-F14E-4FE8-8A0A-49DF3502EB6E}"/>
              </a:ext>
            </a:extLst>
          </p:cNvPr>
          <p:cNvSpPr>
            <a:spLocks noGrp="1"/>
          </p:cNvSpPr>
          <p:nvPr/>
        </p:nvSpPr>
        <p:spPr>
          <a:xfrm>
            <a:off x="14478000" y="765810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Loot/</a:t>
            </a:r>
          </a:p>
        </p:txBody>
      </p:sp>
      <p:sp>
        <p:nvSpPr>
          <p:cNvPr id="56" name="File Loot/LootManager.cs">
            <a:extLst>
              <a:ext uri="{FF2B5EF4-FFF2-40B4-BE49-F238E27FC236}">
                <a16:creationId xmlns:a16="http://schemas.microsoft.com/office/drawing/2014/main" id="{5004B4B3-9D4C-47B2-8788-EBF09BC5975E}"/>
              </a:ext>
            </a:extLst>
          </p:cNvPr>
          <p:cNvSpPr>
            <a:spLocks noGrp="1"/>
          </p:cNvSpPr>
          <p:nvPr/>
        </p:nvSpPr>
        <p:spPr>
          <a:xfrm>
            <a:off x="14668500" y="8229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LootManager.cs</a:t>
            </a:r>
          </a:p>
        </p:txBody>
      </p:sp>
      <p:sp>
        <p:nvSpPr>
          <p:cNvPr id="57" name="File Loot/RegionSupplyCache.cs">
            <a:extLst>
              <a:ext uri="{FF2B5EF4-FFF2-40B4-BE49-F238E27FC236}">
                <a16:creationId xmlns:a16="http://schemas.microsoft.com/office/drawing/2014/main" id="{4719BD80-C157-4A79-8753-2475B0781ECE}"/>
              </a:ext>
            </a:extLst>
          </p:cNvPr>
          <p:cNvSpPr>
            <a:spLocks noGrp="1"/>
          </p:cNvSpPr>
          <p:nvPr/>
        </p:nvSpPr>
        <p:spPr>
          <a:xfrm>
            <a:off x="14668500" y="8610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RegionSupplyCache.cs</a:t>
            </a:r>
          </a:p>
        </p:txBody>
      </p:sp>
      <p:sp>
        <p:nvSpPr>
          <p:cNvPr id="58" name="File Loot/ResourcePickup.cs">
            <a:extLst>
              <a:ext uri="{FF2B5EF4-FFF2-40B4-BE49-F238E27FC236}">
                <a16:creationId xmlns:a16="http://schemas.microsoft.com/office/drawing/2014/main" id="{6C7BD478-7717-4F5B-9D2F-02B1B3D5BFB2}"/>
              </a:ext>
            </a:extLst>
          </p:cNvPr>
          <p:cNvSpPr>
            <a:spLocks noGrp="1"/>
          </p:cNvSpPr>
          <p:nvPr/>
        </p:nvSpPr>
        <p:spPr>
          <a:xfrm>
            <a:off x="14668500" y="8991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ResourcePickup.cs</a:t>
            </a:r>
          </a:p>
        </p:txBody>
      </p:sp>
      <p:sp>
        <p:nvSpPr>
          <p:cNvPr id="59" name="Folder Loot/Enemies">
            <a:extLst>
              <a:ext uri="{FF2B5EF4-FFF2-40B4-BE49-F238E27FC236}">
                <a16:creationId xmlns:a16="http://schemas.microsoft.com/office/drawing/2014/main" id="{751BD7CB-9D03-4865-9ABF-6351DA9C252E}"/>
              </a:ext>
            </a:extLst>
          </p:cNvPr>
          <p:cNvSpPr>
            <a:spLocks noGrp="1"/>
          </p:cNvSpPr>
          <p:nvPr/>
        </p:nvSpPr>
        <p:spPr>
          <a:xfrm>
            <a:off x="14478000" y="98107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Loot/Enemies/</a:t>
            </a:r>
          </a:p>
        </p:txBody>
      </p:sp>
      <p:sp>
        <p:nvSpPr>
          <p:cNvPr id="60" name="File Loot/Enemies/DisguisedParasite.cs">
            <a:extLst>
              <a:ext uri="{FF2B5EF4-FFF2-40B4-BE49-F238E27FC236}">
                <a16:creationId xmlns:a16="http://schemas.microsoft.com/office/drawing/2014/main" id="{839BAEF0-B1F7-4D43-97A0-4C8E9913CCF6}"/>
              </a:ext>
            </a:extLst>
          </p:cNvPr>
          <p:cNvSpPr>
            <a:spLocks noGrp="1"/>
          </p:cNvSpPr>
          <p:nvPr/>
        </p:nvSpPr>
        <p:spPr>
          <a:xfrm>
            <a:off x="14668500" y="10382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DisguisedParasite.cs</a:t>
            </a:r>
          </a:p>
        </p:txBody>
      </p:sp>
      <p:sp>
        <p:nvSpPr>
          <p:cNvPr id="61" name="File Loot/Enemies/Enemy.cs">
            <a:extLst>
              <a:ext uri="{FF2B5EF4-FFF2-40B4-BE49-F238E27FC236}">
                <a16:creationId xmlns:a16="http://schemas.microsoft.com/office/drawing/2014/main" id="{7F48C1F3-26E4-4424-B7DB-122510EBE4BC}"/>
              </a:ext>
            </a:extLst>
          </p:cNvPr>
          <p:cNvSpPr>
            <a:spLocks noGrp="1"/>
          </p:cNvSpPr>
          <p:nvPr/>
        </p:nvSpPr>
        <p:spPr>
          <a:xfrm>
            <a:off x="14668500" y="10763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Enemy.cs</a:t>
            </a:r>
          </a:p>
        </p:txBody>
      </p:sp>
      <p:sp>
        <p:nvSpPr>
          <p:cNvPr id="62" name="File Loot/Enemies/EnemyAttackBehavior.cs">
            <a:extLst>
              <a:ext uri="{FF2B5EF4-FFF2-40B4-BE49-F238E27FC236}">
                <a16:creationId xmlns:a16="http://schemas.microsoft.com/office/drawing/2014/main" id="{82A26A5B-1A32-47DC-B1A0-E3E9F396C45E}"/>
              </a:ext>
            </a:extLst>
          </p:cNvPr>
          <p:cNvSpPr>
            <a:spLocks noGrp="1"/>
          </p:cNvSpPr>
          <p:nvPr/>
        </p:nvSpPr>
        <p:spPr>
          <a:xfrm>
            <a:off x="14668500" y="11144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EnemyAttackBehavior.cs</a:t>
            </a:r>
          </a:p>
        </p:txBody>
      </p:sp>
      <p:sp>
        <p:nvSpPr>
          <p:cNvPr id="63" name="File Loot/Enemies/EnemySpawner.cs">
            <a:extLst>
              <a:ext uri="{FF2B5EF4-FFF2-40B4-BE49-F238E27FC236}">
                <a16:creationId xmlns:a16="http://schemas.microsoft.com/office/drawing/2014/main" id="{9C8EAE3F-60A9-43DA-9CA1-0B37BF5F0D03}"/>
              </a:ext>
            </a:extLst>
          </p:cNvPr>
          <p:cNvSpPr>
            <a:spLocks noGrp="1"/>
          </p:cNvSpPr>
          <p:nvPr/>
        </p:nvSpPr>
        <p:spPr>
          <a:xfrm>
            <a:off x="14668500" y="11525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EnemySpawner.cs</a:t>
            </a:r>
          </a:p>
        </p:txBody>
      </p:sp>
      <p:sp>
        <p:nvSpPr>
          <p:cNvPr id="64" name="File Loot/Enemies/ParasiteVignetteGraphic.cs">
            <a:extLst>
              <a:ext uri="{FF2B5EF4-FFF2-40B4-BE49-F238E27FC236}">
                <a16:creationId xmlns:a16="http://schemas.microsoft.com/office/drawing/2014/main" id="{9CC06AD3-7503-4D6E-8F36-DB95AA06639B}"/>
              </a:ext>
            </a:extLst>
          </p:cNvPr>
          <p:cNvSpPr>
            <a:spLocks noGrp="1"/>
          </p:cNvSpPr>
          <p:nvPr/>
        </p:nvSpPr>
        <p:spPr>
          <a:xfrm>
            <a:off x="14668500" y="11906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ParasiteVignetteGraphic.cs</a:t>
            </a:r>
          </a:p>
        </p:txBody>
      </p:sp>
      <p:sp>
        <p:nvSpPr>
          <p:cNvPr id="65" name="File Loot/Enemies/ParasiteWarningUI.cs">
            <a:extLst>
              <a:ext uri="{FF2B5EF4-FFF2-40B4-BE49-F238E27FC236}">
                <a16:creationId xmlns:a16="http://schemas.microsoft.com/office/drawing/2014/main" id="{D70812F5-BA3D-4B55-BF4A-1A60A627AC8B}"/>
              </a:ext>
            </a:extLst>
          </p:cNvPr>
          <p:cNvSpPr>
            <a:spLocks noGrp="1"/>
          </p:cNvSpPr>
          <p:nvPr/>
        </p:nvSpPr>
        <p:spPr>
          <a:xfrm>
            <a:off x="14668500" y="12287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ParasiteWarningUI.cs</a:t>
            </a:r>
          </a:p>
        </p:txBody>
      </p:sp>
      <p:sp>
        <p:nvSpPr>
          <p:cNvPr id="66" name="File Loot/Enemies/Tower.cs">
            <a:extLst>
              <a:ext uri="{FF2B5EF4-FFF2-40B4-BE49-F238E27FC236}">
                <a16:creationId xmlns:a16="http://schemas.microsoft.com/office/drawing/2014/main" id="{E0DAA112-D498-42C6-8496-1636FF784366}"/>
              </a:ext>
            </a:extLst>
          </p:cNvPr>
          <p:cNvSpPr>
            <a:spLocks noGrp="1"/>
          </p:cNvSpPr>
          <p:nvPr/>
        </p:nvSpPr>
        <p:spPr>
          <a:xfrm>
            <a:off x="14668500" y="1266825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3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3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Tower.cs</a:t>
            </a:r>
          </a:p>
        </p:txBody>
      </p:sp>
      <p:sp>
        <p:nvSpPr>
          <p:cNvPr id="67" name="Visual evidence heading">
            <a:extLst>
              <a:ext uri="{FF2B5EF4-FFF2-40B4-BE49-F238E27FC236}">
                <a16:creationId xmlns:a16="http://schemas.microsoft.com/office/drawing/2014/main" id="{96F0EFD6-A753-4F53-9189-AB3185BC712F}"/>
              </a:ext>
            </a:extLst>
          </p:cNvPr>
          <p:cNvSpPr>
            <a:spLocks noGrp="1"/>
          </p:cNvSpPr>
          <p:nvPr/>
        </p:nvSpPr>
        <p:spPr>
          <a:xfrm>
            <a:off x="21336000" y="30099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68" name="Code evidence image placeholder">
            <a:extLst>
              <a:ext uri="{FF2B5EF4-FFF2-40B4-BE49-F238E27FC236}">
                <a16:creationId xmlns:a16="http://schemas.microsoft.com/office/drawing/2014/main" id="{BC04D6C4-BE9B-4D14-BE48-01835BE4B866}"/>
              </a:ext>
            </a:extLst>
          </p:cNvPr>
          <p:cNvSpPr>
            <a:spLocks noGrp="1"/>
          </p:cNvSpPr>
          <p:nvPr/>
        </p:nvSpPr>
        <p:spPr>
          <a:xfrm>
            <a:off x="21336000" y="3962400"/>
            <a:ext cx="4762500" cy="85725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69" name="Code evidence image placeholder label">
            <a:extLst>
              <a:ext uri="{FF2B5EF4-FFF2-40B4-BE49-F238E27FC236}">
                <a16:creationId xmlns:a16="http://schemas.microsoft.com/office/drawing/2014/main" id="{CE5C0FB5-8329-41DE-BF66-932A01F9535E}"/>
              </a:ext>
            </a:extLst>
          </p:cNvPr>
          <p:cNvSpPr>
            <a:spLocks noGrp="1"/>
          </p:cNvSpPr>
          <p:nvPr/>
        </p:nvSpPr>
        <p:spPr>
          <a:xfrm>
            <a:off x="21564600" y="8020050"/>
            <a:ext cx="43053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IMAGE TO ADD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1220787"/>
            <a:ext cx="23151042" cy="97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Visual Development  Process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  <p:sp>
        <p:nvSpPr>
          <p:cNvPr id="44" name="Art authorship">
            <a:extLst>
              <a:ext uri="{FF2B5EF4-FFF2-40B4-BE49-F238E27FC236}">
                <a16:creationId xmlns:a16="http://schemas.microsoft.com/office/drawing/2014/main" id="{8B5C8791-E938-4195-A4A5-13303C50D668}"/>
              </a:ext>
            </a:extLst>
          </p:cNvPr>
          <p:cNvSpPr>
            <a:spLocks noGrp="1"/>
          </p:cNvSpPr>
          <p:nvPr/>
        </p:nvSpPr>
        <p:spPr>
          <a:xfrm>
            <a:off x="2514600" y="2552700"/>
            <a:ext cx="235839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I direct the artwork through prompts, sketches and references, then select and refine AI-generated results.</a:t>
            </a:r>
          </a:p>
        </p:txBody>
      </p:sp>
      <p:sp>
        <p:nvSpPr>
          <p:cNvPr id="45" name="Art stage 0">
            <a:extLst>
              <a:ext uri="{FF2B5EF4-FFF2-40B4-BE49-F238E27FC236}">
                <a16:creationId xmlns:a16="http://schemas.microsoft.com/office/drawing/2014/main" id="{3A360DB2-7D28-4877-A3BB-FB86722F605D}"/>
              </a:ext>
            </a:extLst>
          </p:cNvPr>
          <p:cNvSpPr>
            <a:spLocks noGrp="1"/>
          </p:cNvSpPr>
          <p:nvPr/>
        </p:nvSpPr>
        <p:spPr>
          <a:xfrm>
            <a:off x="2514600" y="3981450"/>
            <a:ext cx="6953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01  PROMPT &amp; SKETCH</a:t>
            </a:r>
          </a:p>
        </p:txBody>
      </p:sp>
      <p:sp>
        <p:nvSpPr>
          <p:cNvPr id="46" name="Art stage 1">
            <a:extLst>
              <a:ext uri="{FF2B5EF4-FFF2-40B4-BE49-F238E27FC236}">
                <a16:creationId xmlns:a16="http://schemas.microsoft.com/office/drawing/2014/main" id="{2F2279A6-C815-44BD-BD9F-567BA9D9751C}"/>
              </a:ext>
            </a:extLst>
          </p:cNvPr>
          <p:cNvSpPr>
            <a:spLocks noGrp="1"/>
          </p:cNvSpPr>
          <p:nvPr/>
        </p:nvSpPr>
        <p:spPr>
          <a:xfrm>
            <a:off x="10477500" y="3981450"/>
            <a:ext cx="6953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02  REFERENCE &amp; GENERATE</a:t>
            </a:r>
          </a:p>
        </p:txBody>
      </p:sp>
      <p:sp>
        <p:nvSpPr>
          <p:cNvPr id="47" name="Art stage 2">
            <a:extLst>
              <a:ext uri="{FF2B5EF4-FFF2-40B4-BE49-F238E27FC236}">
                <a16:creationId xmlns:a16="http://schemas.microsoft.com/office/drawing/2014/main" id="{0A35595F-9DAC-46FD-91B3-9253E83B6D10}"/>
              </a:ext>
            </a:extLst>
          </p:cNvPr>
          <p:cNvSpPr>
            <a:spLocks noGrp="1"/>
          </p:cNvSpPr>
          <p:nvPr/>
        </p:nvSpPr>
        <p:spPr>
          <a:xfrm>
            <a:off x="18516600" y="3981450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03  REVIEW &amp; INTEGRATE</a:t>
            </a:r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 r:embed="rId11"/>
          <a:srcRect l="0" t="2474" r="0" b="2474"/>
          <a:stretch>
            <a:fillRect l="0" t="0" r="0" b="0"/>
          </a:stretch>
        </p:blipFill>
        <p:spPr>
          <a:xfrm rot="16200000">
            <a:off x="3933825" y="3495675"/>
            <a:ext cx="4114800" cy="6953250"/>
          </a:xfrm>
          <a:prstGeom prst="rect">
            <a:avLst/>
          </a:prstGeom>
        </p:spPr>
      </p:pic>
      <p:sp>
        <p:nvSpPr>
          <p:cNvPr id="49" name="Tower sketch caption">
            <a:extLst>
              <a:ext uri="{FF2B5EF4-FFF2-40B4-BE49-F238E27FC236}">
                <a16:creationId xmlns:a16="http://schemas.microsoft.com/office/drawing/2014/main" id="{B399A168-E1FC-4EB0-9D3A-07D4B2AAE971}"/>
              </a:ext>
            </a:extLst>
          </p:cNvPr>
          <p:cNvSpPr>
            <a:spLocks noGrp="1"/>
          </p:cNvSpPr>
          <p:nvPr/>
        </p:nvSpPr>
        <p:spPr>
          <a:xfrm>
            <a:off x="2514600" y="9277350"/>
            <a:ext cx="6953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EARLY TOWER AND RESOURCE CONCEPT</a:t>
            </a:r>
          </a:p>
        </p:txBody>
      </p:sp>
      <p:sp>
        <p:nvSpPr>
          <p:cNvPr id="50" name="Original art prompt">
            <a:extLst>
              <a:ext uri="{FF2B5EF4-FFF2-40B4-BE49-F238E27FC236}">
                <a16:creationId xmlns:a16="http://schemas.microsoft.com/office/drawing/2014/main" id="{9917145A-2D99-48EB-AC68-D9574EE19B98}"/>
              </a:ext>
            </a:extLst>
          </p:cNvPr>
          <p:cNvSpPr>
            <a:spLocks noGrp="1"/>
          </p:cNvSpPr>
          <p:nvPr/>
        </p:nvSpPr>
        <p:spPr>
          <a:xfrm>
            <a:off x="2514600" y="10115550"/>
            <a:ext cx="6953250" cy="7620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51" name="Original art prompt label">
            <a:extLst>
              <a:ext uri="{FF2B5EF4-FFF2-40B4-BE49-F238E27FC236}">
                <a16:creationId xmlns:a16="http://schemas.microsoft.com/office/drawing/2014/main" id="{A5DC2D71-D225-496F-9F85-979C58C7B0A7}"/>
              </a:ext>
            </a:extLst>
          </p:cNvPr>
          <p:cNvSpPr>
            <a:spLocks noGrp="1"/>
          </p:cNvSpPr>
          <p:nvPr/>
        </p:nvSpPr>
        <p:spPr>
          <a:xfrm>
            <a:off x="2743200" y="10267950"/>
            <a:ext cx="6496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ORIGINAL PROMPT</a:t>
            </a:r>
          </a:p>
        </p:txBody>
      </p:sp>
      <p:sp>
        <p:nvSpPr>
          <p:cNvPr id="52" name="Art direction explanation">
            <a:extLst>
              <a:ext uri="{FF2B5EF4-FFF2-40B4-BE49-F238E27FC236}">
                <a16:creationId xmlns:a16="http://schemas.microsoft.com/office/drawing/2014/main" id="{C57E5D90-EFA1-4F5B-8311-1FC467736C64}"/>
              </a:ext>
            </a:extLst>
          </p:cNvPr>
          <p:cNvSpPr>
            <a:spLocks noGrp="1"/>
          </p:cNvSpPr>
          <p:nvPr/>
        </p:nvSpPr>
        <p:spPr>
          <a:xfrm>
            <a:off x="2514600" y="11334750"/>
            <a:ext cx="695325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My sketch explores the tower silhouette as it grows, alongside wood, stone, gel and teeth.</a:t>
            </a:r>
          </a:p>
        </p:txBody>
      </p:sp>
      <p:sp>
        <p:nvSpPr>
          <p:cNvPr id="53" name="External style references">
            <a:extLst>
              <a:ext uri="{FF2B5EF4-FFF2-40B4-BE49-F238E27FC236}">
                <a16:creationId xmlns:a16="http://schemas.microsoft.com/office/drawing/2014/main" id="{366B224C-514D-4308-8D10-B2216CB02F77}"/>
              </a:ext>
            </a:extLst>
          </p:cNvPr>
          <p:cNvSpPr>
            <a:spLocks noGrp="1"/>
          </p:cNvSpPr>
          <p:nvPr/>
        </p:nvSpPr>
        <p:spPr>
          <a:xfrm>
            <a:off x="10477500" y="4914900"/>
            <a:ext cx="6953250" cy="287655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54" name="External style references label">
            <a:extLst>
              <a:ext uri="{FF2B5EF4-FFF2-40B4-BE49-F238E27FC236}">
                <a16:creationId xmlns:a16="http://schemas.microsoft.com/office/drawing/2014/main" id="{4E3F5361-C264-4BEE-BE1D-020969978DF9}"/>
              </a:ext>
            </a:extLst>
          </p:cNvPr>
          <p:cNvSpPr>
            <a:spLocks noGrp="1"/>
          </p:cNvSpPr>
          <p:nvPr/>
        </p:nvSpPr>
        <p:spPr>
          <a:xfrm>
            <a:off x="10706100" y="6124575"/>
            <a:ext cx="6496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STYLE REFERENCES</a:t>
            </a:r>
          </a:p>
        </p:txBody>
      </p:sp>
      <p:sp>
        <p:nvSpPr>
          <p:cNvPr id="55" name="Prior asset reference heading">
            <a:extLst>
              <a:ext uri="{FF2B5EF4-FFF2-40B4-BE49-F238E27FC236}">
                <a16:creationId xmlns:a16="http://schemas.microsoft.com/office/drawing/2014/main" id="{9F2A123F-82BF-44BE-9087-CF7F338E6ED5}"/>
              </a:ext>
            </a:extLst>
          </p:cNvPr>
          <p:cNvSpPr>
            <a:spLocks noGrp="1"/>
          </p:cNvSpPr>
          <p:nvPr/>
        </p:nvSpPr>
        <p:spPr>
          <a:xfrm>
            <a:off x="10477500" y="824865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PREVIOUSLY APPROVED ART</a:t>
            </a:r>
          </a:p>
        </p:txBody>
      </p:sp>
      <p:pic>
        <p:nvPicPr>
          <p:cNvPr id="56" name="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0477500" y="8934450"/>
            <a:ext cx="2705100" cy="2705100"/>
          </a:xfrm>
          <a:prstGeom prst="rect">
            <a:avLst/>
          </a:prstGeom>
        </p:spPr>
      </p:pic>
      <p:sp>
        <p:nvSpPr>
          <p:cNvPr id="57" name="Style reference explanation">
            <a:extLst>
              <a:ext uri="{FF2B5EF4-FFF2-40B4-BE49-F238E27FC236}">
                <a16:creationId xmlns:a16="http://schemas.microsoft.com/office/drawing/2014/main" id="{DF24DB29-4B19-48C7-AA8B-A35640F2631E}"/>
              </a:ext>
            </a:extLst>
          </p:cNvPr>
          <p:cNvSpPr>
            <a:spLocks noGrp="1"/>
          </p:cNvSpPr>
          <p:nvPr/>
        </p:nvSpPr>
        <p:spPr>
          <a:xfrm>
            <a:off x="13639800" y="8934450"/>
            <a:ext cx="379095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 use earlier approved assets to guide the palette, lighting and material style.</a:t>
            </a:r>
          </a:p>
        </p:txBody>
      </p:sp>
      <p:pic>
        <p:nvPicPr>
          <p:cNvPr id="58" name="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8516600" y="5673656"/>
            <a:ext cx="1752600" cy="2387738"/>
          </a:xfrm>
          <a:prstGeom prst="rect">
            <a:avLst/>
          </a:prstGeom>
        </p:spPr>
      </p:pic>
      <p:sp>
        <p:nvSpPr>
          <p:cNvPr id="59" name="Tower level label 0">
            <a:extLst>
              <a:ext uri="{FF2B5EF4-FFF2-40B4-BE49-F238E27FC236}">
                <a16:creationId xmlns:a16="http://schemas.microsoft.com/office/drawing/2014/main" id="{4AA72D35-AC6E-4F07-95C8-945E39BC1934}"/>
              </a:ext>
            </a:extLst>
          </p:cNvPr>
          <p:cNvSpPr>
            <a:spLocks noGrp="1"/>
          </p:cNvSpPr>
          <p:nvPr/>
        </p:nvSpPr>
        <p:spPr>
          <a:xfrm>
            <a:off x="18516600" y="90487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LV.0</a:t>
            </a:r>
          </a:p>
        </p:txBody>
      </p:sp>
      <p:pic>
        <p:nvPicPr>
          <p:cNvPr id="60" name="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20402550" y="5653813"/>
            <a:ext cx="1752600" cy="2427424"/>
          </a:xfrm>
          <a:prstGeom prst="rect">
            <a:avLst/>
          </a:prstGeom>
        </p:spPr>
      </p:pic>
      <p:sp>
        <p:nvSpPr>
          <p:cNvPr id="61" name="Tower level label 1">
            <a:extLst>
              <a:ext uri="{FF2B5EF4-FFF2-40B4-BE49-F238E27FC236}">
                <a16:creationId xmlns:a16="http://schemas.microsoft.com/office/drawing/2014/main" id="{60484647-399B-4DC2-8096-F2327488BD53}"/>
              </a:ext>
            </a:extLst>
          </p:cNvPr>
          <p:cNvSpPr>
            <a:spLocks noGrp="1"/>
          </p:cNvSpPr>
          <p:nvPr/>
        </p:nvSpPr>
        <p:spPr>
          <a:xfrm>
            <a:off x="20402550" y="90487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LV.1</a:t>
            </a:r>
          </a:p>
        </p:txBody>
      </p:sp>
      <p:pic>
        <p:nvPicPr>
          <p:cNvPr id="62" name="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22288500" y="5624546"/>
            <a:ext cx="1752600" cy="2485957"/>
          </a:xfrm>
          <a:prstGeom prst="rect">
            <a:avLst/>
          </a:prstGeom>
        </p:spPr>
      </p:pic>
      <p:sp>
        <p:nvSpPr>
          <p:cNvPr id="63" name="Tower level label 2">
            <a:extLst>
              <a:ext uri="{FF2B5EF4-FFF2-40B4-BE49-F238E27FC236}">
                <a16:creationId xmlns:a16="http://schemas.microsoft.com/office/drawing/2014/main" id="{D3638BB7-2DDD-4630-A4E2-90F0A7B3A96D}"/>
              </a:ext>
            </a:extLst>
          </p:cNvPr>
          <p:cNvSpPr>
            <a:spLocks noGrp="1"/>
          </p:cNvSpPr>
          <p:nvPr/>
        </p:nvSpPr>
        <p:spPr>
          <a:xfrm>
            <a:off x="22288500" y="90487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LV.2</a:t>
            </a:r>
          </a:p>
        </p:txBody>
      </p:sp>
      <p:pic>
        <p:nvPicPr>
          <p:cNvPr id="64" name="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24174450" y="5717022"/>
            <a:ext cx="1752600" cy="2301007"/>
          </a:xfrm>
          <a:prstGeom prst="rect">
            <a:avLst/>
          </a:prstGeom>
        </p:spPr>
      </p:pic>
      <p:sp>
        <p:nvSpPr>
          <p:cNvPr id="65" name="Tower level label 3">
            <a:extLst>
              <a:ext uri="{FF2B5EF4-FFF2-40B4-BE49-F238E27FC236}">
                <a16:creationId xmlns:a16="http://schemas.microsoft.com/office/drawing/2014/main" id="{9DA217DB-222D-4960-A0EE-31F017630386}"/>
              </a:ext>
            </a:extLst>
          </p:cNvPr>
          <p:cNvSpPr>
            <a:spLocks noGrp="1"/>
          </p:cNvSpPr>
          <p:nvPr/>
        </p:nvSpPr>
        <p:spPr>
          <a:xfrm>
            <a:off x="24174450" y="90487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LV.3</a:t>
            </a:r>
          </a:p>
        </p:txBody>
      </p:sp>
      <p:pic>
        <p:nvPicPr>
          <p:cNvPr id="66" name="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8802350" y="9873069"/>
            <a:ext cx="1219200" cy="980261"/>
          </a:xfrm>
          <a:prstGeom prst="rect">
            <a:avLst/>
          </a:prstGeom>
        </p:spPr>
      </p:pic>
      <p:pic>
        <p:nvPicPr>
          <p:cNvPr id="67" name="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20690798" y="9753600"/>
            <a:ext cx="1214203" cy="1219200"/>
          </a:xfrm>
          <a:prstGeom prst="rect">
            <a:avLst/>
          </a:prstGeom>
        </p:spPr>
      </p:pic>
      <p:pic>
        <p:nvPicPr>
          <p:cNvPr id="68" name="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22574250" y="9894061"/>
            <a:ext cx="1219200" cy="938278"/>
          </a:xfrm>
          <a:prstGeom prst="rect">
            <a:avLst/>
          </a:prstGeom>
        </p:spPr>
      </p:pic>
      <p:pic>
        <p:nvPicPr>
          <p:cNvPr id="69" name="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24460200" y="9782523"/>
            <a:ext cx="1219200" cy="1161355"/>
          </a:xfrm>
          <a:prstGeom prst="rect">
            <a:avLst/>
          </a:prstGeom>
        </p:spPr>
      </p:pic>
      <p:sp>
        <p:nvSpPr>
          <p:cNvPr id="70" name="Curation explanation">
            <a:extLst>
              <a:ext uri="{FF2B5EF4-FFF2-40B4-BE49-F238E27FC236}">
                <a16:creationId xmlns:a16="http://schemas.microsoft.com/office/drawing/2014/main" id="{DBAB35C5-41E1-4A51-A203-05CB51E226B1}"/>
              </a:ext>
            </a:extLst>
          </p:cNvPr>
          <p:cNvSpPr>
            <a:spLocks noGrp="1"/>
          </p:cNvSpPr>
          <p:nvPr/>
        </p:nvSpPr>
        <p:spPr>
          <a:xfrm>
            <a:off x="18516600" y="11430000"/>
            <a:ext cx="762000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 compare each result with the existing game, reject mismatched styles and prepare the chosen sprites for Unity.</a:t>
            </a:r>
          </a:p>
        </p:txBody>
      </p:sp>
      <p:sp>
        <p:nvSpPr>
          <p:cNvPr id="71" name="Solo credit">
            <a:extLst>
              <a:ext uri="{FF2B5EF4-FFF2-40B4-BE49-F238E27FC236}">
                <a16:creationId xmlns:a16="http://schemas.microsoft.com/office/drawing/2014/main" id="{D7030972-F397-45AF-AFDF-70C77E6F0F54}"/>
              </a:ext>
            </a:extLst>
          </p:cNvPr>
          <p:cNvSpPr>
            <a:spLocks noGrp="1"/>
          </p:cNvSpPr>
          <p:nvPr/>
        </p:nvSpPr>
        <p:spPr>
          <a:xfrm>
            <a:off x="2514600" y="13411200"/>
            <a:ext cx="1752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Solo project. Game design, development and art direction.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1220787"/>
            <a:ext cx="23151042" cy="97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FEEDBACK AND PLAYTEST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  <p:sp>
        <p:nvSpPr>
          <p:cNvPr id="8" name="Playtest photo heading">
            <a:extLst>
              <a:ext uri="{FF2B5EF4-FFF2-40B4-BE49-F238E27FC236}">
                <a16:creationId xmlns:a16="http://schemas.microsoft.com/office/drawing/2014/main" id="{53217661-C743-4627-BFBB-ED948143ABC3}"/>
              </a:ext>
            </a:extLst>
          </p:cNvPr>
          <p:cNvSpPr>
            <a:spLocks noGrp="1"/>
          </p:cNvSpPr>
          <p:nvPr/>
        </p:nvSpPr>
        <p:spPr>
          <a:xfrm>
            <a:off x="2514600" y="3143250"/>
            <a:ext cx="1143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PLAYER PLAYTEST</a:t>
            </a:r>
          </a:p>
        </p:txBody>
      </p:sp>
      <p:sp>
        <p:nvSpPr>
          <p:cNvPr id="9" name="Playtest photograph 1">
            <a:extLst>
              <a:ext uri="{FF2B5EF4-FFF2-40B4-BE49-F238E27FC236}">
                <a16:creationId xmlns:a16="http://schemas.microsoft.com/office/drawing/2014/main" id="{4147DA2C-2EDA-473B-BDE1-477F5465E77E}"/>
              </a:ext>
            </a:extLst>
          </p:cNvPr>
          <p:cNvSpPr>
            <a:spLocks noGrp="1"/>
          </p:cNvSpPr>
          <p:nvPr/>
        </p:nvSpPr>
        <p:spPr>
          <a:xfrm>
            <a:off x="2514600" y="4152900"/>
            <a:ext cx="10763250" cy="40767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10" name="Playtest photograph 1 label">
            <a:extLst>
              <a:ext uri="{FF2B5EF4-FFF2-40B4-BE49-F238E27FC236}">
                <a16:creationId xmlns:a16="http://schemas.microsoft.com/office/drawing/2014/main" id="{A789DA5C-10D6-4ACF-A6B6-E1C45E366760}"/>
              </a:ext>
            </a:extLst>
          </p:cNvPr>
          <p:cNvSpPr>
            <a:spLocks noGrp="1"/>
          </p:cNvSpPr>
          <p:nvPr/>
        </p:nvSpPr>
        <p:spPr>
          <a:xfrm>
            <a:off x="2743200" y="5962650"/>
            <a:ext cx="10306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PLAYTEST PHOTOGRAPH 01</a:t>
            </a:r>
          </a:p>
        </p:txBody>
      </p:sp>
      <p:sp>
        <p:nvSpPr>
          <p:cNvPr id="11" name="Playtest photograph 2">
            <a:extLst>
              <a:ext uri="{FF2B5EF4-FFF2-40B4-BE49-F238E27FC236}">
                <a16:creationId xmlns:a16="http://schemas.microsoft.com/office/drawing/2014/main" id="{89AB0343-3055-4FFE-8379-CDD3A979EB85}"/>
              </a:ext>
            </a:extLst>
          </p:cNvPr>
          <p:cNvSpPr>
            <a:spLocks noGrp="1"/>
          </p:cNvSpPr>
          <p:nvPr/>
        </p:nvSpPr>
        <p:spPr>
          <a:xfrm>
            <a:off x="2514600" y="8705850"/>
            <a:ext cx="10763250" cy="40767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12" name="Playtest photograph 2 label">
            <a:extLst>
              <a:ext uri="{FF2B5EF4-FFF2-40B4-BE49-F238E27FC236}">
                <a16:creationId xmlns:a16="http://schemas.microsoft.com/office/drawing/2014/main" id="{4FC6E3F5-680E-4D39-8477-CC96703557EE}"/>
              </a:ext>
            </a:extLst>
          </p:cNvPr>
          <p:cNvSpPr>
            <a:spLocks noGrp="1"/>
          </p:cNvSpPr>
          <p:nvPr/>
        </p:nvSpPr>
        <p:spPr>
          <a:xfrm>
            <a:off x="2743200" y="10515600"/>
            <a:ext cx="10306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PLAYTEST PHOTOGRAPH 02</a:t>
            </a:r>
          </a:p>
        </p:txBody>
      </p:sp>
      <p:sp>
        <p:nvSpPr>
          <p:cNvPr id="13" name="Feedback heading">
            <a:extLst>
              <a:ext uri="{FF2B5EF4-FFF2-40B4-BE49-F238E27FC236}">
                <a16:creationId xmlns:a16="http://schemas.microsoft.com/office/drawing/2014/main" id="{404DE66B-30CA-477E-9391-4DB48A297662}"/>
              </a:ext>
            </a:extLst>
          </p:cNvPr>
          <p:cNvSpPr>
            <a:spLocks noGrp="1"/>
          </p:cNvSpPr>
          <p:nvPr/>
        </p:nvSpPr>
        <p:spPr>
          <a:xfrm>
            <a:off x="14554200" y="3143250"/>
            <a:ext cx="1143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PLAYER FEEDBACK</a:t>
            </a:r>
          </a:p>
        </p:txBody>
      </p:sp>
      <p:sp>
        <p:nvSpPr>
          <p:cNvPr id="14" name="Feedback record 1">
            <a:extLst>
              <a:ext uri="{FF2B5EF4-FFF2-40B4-BE49-F238E27FC236}">
                <a16:creationId xmlns:a16="http://schemas.microsoft.com/office/drawing/2014/main" id="{FB7343FE-2159-4497-94D5-C2D0531FD08C}"/>
              </a:ext>
            </a:extLst>
          </p:cNvPr>
          <p:cNvSpPr>
            <a:spLocks noGrp="1"/>
          </p:cNvSpPr>
          <p:nvPr/>
        </p:nvSpPr>
        <p:spPr>
          <a:xfrm>
            <a:off x="14554200" y="4152900"/>
            <a:ext cx="11525250" cy="40767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15" name="Feedback record 1 label">
            <a:extLst>
              <a:ext uri="{FF2B5EF4-FFF2-40B4-BE49-F238E27FC236}">
                <a16:creationId xmlns:a16="http://schemas.microsoft.com/office/drawing/2014/main" id="{AB989AE9-ED5D-4105-AC87-F9770E4B0053}"/>
              </a:ext>
            </a:extLst>
          </p:cNvPr>
          <p:cNvSpPr>
            <a:spLocks noGrp="1"/>
          </p:cNvSpPr>
          <p:nvPr/>
        </p:nvSpPr>
        <p:spPr>
          <a:xfrm>
            <a:off x="14782800" y="5962650"/>
            <a:ext cx="11068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PLAYER COMMENT / OBSERVATION</a:t>
            </a:r>
          </a:p>
        </p:txBody>
      </p:sp>
      <p:sp>
        <p:nvSpPr>
          <p:cNvPr id="16" name="Feedback record 2">
            <a:extLst>
              <a:ext uri="{FF2B5EF4-FFF2-40B4-BE49-F238E27FC236}">
                <a16:creationId xmlns:a16="http://schemas.microsoft.com/office/drawing/2014/main" id="{3044C982-8BFC-4CF5-AD13-4611214A4049}"/>
              </a:ext>
            </a:extLst>
          </p:cNvPr>
          <p:cNvSpPr>
            <a:spLocks noGrp="1"/>
          </p:cNvSpPr>
          <p:nvPr/>
        </p:nvSpPr>
        <p:spPr>
          <a:xfrm>
            <a:off x="14554200" y="8705850"/>
            <a:ext cx="11525250" cy="40767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17" name="Feedback record 2 label">
            <a:extLst>
              <a:ext uri="{FF2B5EF4-FFF2-40B4-BE49-F238E27FC236}">
                <a16:creationId xmlns:a16="http://schemas.microsoft.com/office/drawing/2014/main" id="{30770FB5-B47D-406E-8504-745EDF039145}"/>
              </a:ext>
            </a:extLst>
          </p:cNvPr>
          <p:cNvSpPr>
            <a:spLocks noGrp="1"/>
          </p:cNvSpPr>
          <p:nvPr/>
        </p:nvSpPr>
        <p:spPr>
          <a:xfrm>
            <a:off x="14782800" y="10515600"/>
            <a:ext cx="11068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PLAYER COMMENT / OBSERVATION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8431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87500" y="0"/>
            <a:ext cx="7672917" cy="14287500"/>
            <a:chOff x="0" y="0"/>
            <a:chExt cx="7366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6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66000">
                  <a:moveTo>
                    <a:pt x="0" y="0"/>
                  </a:moveTo>
                  <a:lnTo>
                    <a:pt x="7366000" y="0"/>
                  </a:lnTo>
                  <a:lnTo>
                    <a:pt x="736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71D">
                <a:alpha val="4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169583" y="664580"/>
            <a:ext cx="6508750" cy="8367805"/>
            <a:chOff x="0" y="0"/>
            <a:chExt cx="6248400" cy="80330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48400" cy="8033131"/>
            </a:xfrm>
            <a:custGeom>
              <a:avLst/>
              <a:gdLst/>
              <a:ahLst/>
              <a:cxnLst/>
              <a:rect r="r" b="b" t="t" l="l"/>
              <a:pathLst>
                <a:path h="8033131" w="6248400">
                  <a:moveTo>
                    <a:pt x="0" y="0"/>
                  </a:moveTo>
                  <a:lnTo>
                    <a:pt x="6248400" y="0"/>
                  </a:lnTo>
                  <a:lnTo>
                    <a:pt x="6248400" y="8033131"/>
                  </a:lnTo>
                  <a:lnTo>
                    <a:pt x="0" y="8033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47396" y="9052454"/>
            <a:ext cx="6085417" cy="86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3645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The Safe City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47396" y="10551054"/>
            <a:ext cx="601927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PERSONAL PORTFOLIO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47396" y="11155892"/>
            <a:ext cx="6085417" cy="172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2–4 players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5 rounds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Competitive city planning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80625" y="668867"/>
            <a:ext cx="1137708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BOARD GAME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80625" y="1432454"/>
            <a:ext cx="1574270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Planning a safer city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80625" y="2719388"/>
            <a:ext cx="15544271" cy="158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229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A competitive board game where players assign city employees and draft safety dice to complete transport projects while managing funding and emergencies.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80625" y="4656667"/>
            <a:ext cx="15848542" cy="6707188"/>
            <a:chOff x="0" y="0"/>
            <a:chExt cx="15214600" cy="6438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146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5214600">
                  <a:moveTo>
                    <a:pt x="0" y="0"/>
                  </a:moveTo>
                  <a:lnTo>
                    <a:pt x="15214600" y="0"/>
                  </a:lnTo>
                  <a:lnTo>
                    <a:pt x="15214600" y="6438900"/>
                  </a:lnTo>
                  <a:lnTo>
                    <a:pt x="0" y="643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98" t="0" r="-4298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080625" y="11592454"/>
            <a:ext cx="15848542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A city shaped by every planning decision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80625" y="12495742"/>
            <a:ext cx="469635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MY ROLE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80625" y="13034433"/>
            <a:ext cx="5556250" cy="67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Game design &amp; iteration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71875" y="12495742"/>
            <a:ext cx="39687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TEAM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71875" y="13034433"/>
            <a:ext cx="5820833" cy="67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Solo project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621875" y="12495742"/>
            <a:ext cx="350572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DEVELOPMENT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2621875" y="13559896"/>
            <a:ext cx="3439583" cy="13229"/>
            <a:chOff x="0" y="0"/>
            <a:chExt cx="33020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02000" cy="12700"/>
            </a:xfrm>
            <a:custGeom>
              <a:avLst/>
              <a:gdLst/>
              <a:ahLst/>
              <a:cxnLst/>
              <a:rect r="r" b="b" t="t" l="l"/>
              <a:pathLst>
                <a:path h="127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2621875" y="12981517"/>
            <a:ext cx="582083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Feb. 2026 - Present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97706" y="3320521"/>
            <a:ext cx="9424392" cy="6799792"/>
            <a:chOff x="0" y="0"/>
            <a:chExt cx="9047416" cy="652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47353" cy="6527800"/>
            </a:xfrm>
            <a:custGeom>
              <a:avLst/>
              <a:gdLst/>
              <a:ahLst/>
              <a:cxnLst/>
              <a:rect r="r" b="b" t="t" l="l"/>
              <a:pathLst>
                <a:path h="6527800" w="9047353">
                  <a:moveTo>
                    <a:pt x="0" y="0"/>
                  </a:moveTo>
                  <a:lnTo>
                    <a:pt x="9047353" y="0"/>
                  </a:lnTo>
                  <a:lnTo>
                    <a:pt x="9047353" y="6527800"/>
                  </a:lnTo>
                  <a:lnTo>
                    <a:pt x="0" y="652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6" t="0" r="-153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87083" y="11138958"/>
            <a:ext cx="4220104" cy="2381250"/>
            <a:chOff x="0" y="0"/>
            <a:chExt cx="40513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513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051300">
                  <a:moveTo>
                    <a:pt x="0" y="0"/>
                  </a:moveTo>
                  <a:lnTo>
                    <a:pt x="4051300" y="0"/>
                  </a:lnTo>
                  <a:lnTo>
                    <a:pt x="40513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88" r="0" b="-1638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123333" y="3241146"/>
            <a:ext cx="3413125" cy="4550833"/>
            <a:chOff x="0" y="0"/>
            <a:chExt cx="3276600" cy="436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76600" cy="4368800"/>
            </a:xfrm>
            <a:custGeom>
              <a:avLst/>
              <a:gdLst/>
              <a:ahLst/>
              <a:cxnLst/>
              <a:rect r="r" b="b" t="t" l="l"/>
              <a:pathLst>
                <a:path h="43688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4368800"/>
                  </a:lnTo>
                  <a:lnTo>
                    <a:pt x="0" y="436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621250" y="3241146"/>
            <a:ext cx="3413125" cy="4550833"/>
            <a:chOff x="0" y="0"/>
            <a:chExt cx="3276600" cy="436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76600" cy="4368800"/>
            </a:xfrm>
            <a:custGeom>
              <a:avLst/>
              <a:gdLst/>
              <a:ahLst/>
              <a:cxnLst/>
              <a:rect r="r" b="b" t="t" l="l"/>
              <a:pathLst>
                <a:path h="43688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4368800"/>
                  </a:lnTo>
                  <a:lnTo>
                    <a:pt x="0" y="436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119167" y="3241146"/>
            <a:ext cx="3413125" cy="4550833"/>
            <a:chOff x="0" y="0"/>
            <a:chExt cx="3276600" cy="436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76600" cy="4368800"/>
            </a:xfrm>
            <a:custGeom>
              <a:avLst/>
              <a:gdLst/>
              <a:ahLst/>
              <a:cxnLst/>
              <a:rect r="r" b="b" t="t" l="l"/>
              <a:pathLst>
                <a:path h="43688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4368800"/>
                  </a:lnTo>
                  <a:lnTo>
                    <a:pt x="0" y="436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32292" y="11271250"/>
            <a:ext cx="13255625" cy="13229"/>
            <a:chOff x="0" y="0"/>
            <a:chExt cx="12725400" cy="12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25400" cy="12700"/>
            </a:xfrm>
            <a:custGeom>
              <a:avLst/>
              <a:gdLst/>
              <a:ahLst/>
              <a:cxnLst/>
              <a:rect r="r" b="b" t="t" l="l"/>
              <a:pathLst>
                <a:path h="12700" w="12725400">
                  <a:moveTo>
                    <a:pt x="0" y="0"/>
                  </a:moveTo>
                  <a:lnTo>
                    <a:pt x="12725400" y="0"/>
                  </a:lnTo>
                  <a:lnTo>
                    <a:pt x="12725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221613" y="11156421"/>
            <a:ext cx="4449819" cy="2363787"/>
            <a:chOff x="0" y="0"/>
            <a:chExt cx="1451015" cy="7707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51015" cy="770793"/>
            </a:xfrm>
            <a:custGeom>
              <a:avLst/>
              <a:gdLst/>
              <a:ahLst/>
              <a:cxnLst/>
              <a:rect r="r" b="b" t="t" l="l"/>
              <a:pathLst>
                <a:path h="770793" w="1451015">
                  <a:moveTo>
                    <a:pt x="0" y="0"/>
                  </a:moveTo>
                  <a:lnTo>
                    <a:pt x="1451015" y="0"/>
                  </a:lnTo>
                  <a:lnTo>
                    <a:pt x="1451015" y="770793"/>
                  </a:lnTo>
                  <a:lnTo>
                    <a:pt x="0" y="770793"/>
                  </a:lnTo>
                  <a:close/>
                </a:path>
              </a:pathLst>
            </a:custGeom>
            <a:blipFill>
              <a:blip r:embed="rId8"/>
              <a:stretch>
                <a:fillRect l="0" t="-16593" r="0" b="-1659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Game components &amp; setup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87083" y="2692929"/>
            <a:ext cx="84666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THE TABLE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87083" y="10322454"/>
            <a:ext cx="9445625" cy="5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Main board artwork in progress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87083" y="13629746"/>
            <a:ext cx="4431771" cy="47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Early paper prototype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32292" y="8143346"/>
            <a:ext cx="4048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40 CARDS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32292" y="8731250"/>
            <a:ext cx="416718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333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Planning tasks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32292" y="9492721"/>
            <a:ext cx="4153958" cy="147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9 traveler designs</a:t>
            </a:r>
          </a:p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Projects that earn Safety Points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330208" y="8143346"/>
            <a:ext cx="4048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16 CARDS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330208" y="8731250"/>
            <a:ext cx="416718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333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Traffic events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330208" y="9492721"/>
            <a:ext cx="4153958" cy="147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8 event designs</a:t>
            </a:r>
          </a:p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One city-wide effect each round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828125" y="8143346"/>
            <a:ext cx="4048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24 CARDS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828125" y="8731250"/>
            <a:ext cx="416718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333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Government cards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828125" y="9492721"/>
            <a:ext cx="4153958" cy="147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8 policy designs</a:t>
            </a:r>
          </a:p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Ongoing abilities and interaction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32292" y="11582929"/>
            <a:ext cx="132556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SHARED SUPPLY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32292" y="12151783"/>
            <a:ext cx="13255625" cy="15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708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5 Pedestrian dice + 5 Vehicle dice + 6 Emergency dice</a:t>
            </a:r>
          </a:p>
          <a:p>
            <a:pPr algn="l">
              <a:lnSpc>
                <a:spcPts val="3249"/>
              </a:lnSpc>
            </a:pPr>
            <a:r>
              <a:rPr lang="en-US" sz="2708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12 employee pawns, Coins and infrastructure tokens</a:t>
            </a:r>
          </a:p>
          <a:p>
            <a:pPr algn="l">
              <a:lnSpc>
                <a:spcPts val="3249"/>
              </a:lnSpc>
            </a:pPr>
            <a:r>
              <a:rPr lang="en-US" sz="2708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First Player marker and Round marker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39661" y="13629746"/>
            <a:ext cx="4431771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Player Board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7083" y="4471458"/>
            <a:ext cx="16113125" cy="13229"/>
            <a:chOff x="0" y="0"/>
            <a:chExt cx="15468600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68600" cy="12700"/>
            </a:xfrm>
            <a:custGeom>
              <a:avLst/>
              <a:gdLst/>
              <a:ahLst/>
              <a:cxnLst/>
              <a:rect r="r" b="b" t="t" l="l"/>
              <a:pathLst>
                <a:path h="12700" w="15468600">
                  <a:moveTo>
                    <a:pt x="0" y="0"/>
                  </a:moveTo>
                  <a:lnTo>
                    <a:pt x="15468600" y="0"/>
                  </a:lnTo>
                  <a:lnTo>
                    <a:pt x="15468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34792" y="7342188"/>
            <a:ext cx="476250" cy="304271"/>
            <a:chOff x="0" y="0"/>
            <a:chExt cx="457200" cy="292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200" cy="292100"/>
            </a:xfrm>
            <a:custGeom>
              <a:avLst/>
              <a:gdLst/>
              <a:ahLst/>
              <a:cxnLst/>
              <a:rect r="r" b="b" t="t" l="l"/>
              <a:pathLst>
                <a:path h="292100" w="457200">
                  <a:moveTo>
                    <a:pt x="0" y="73025"/>
                  </a:moveTo>
                  <a:lnTo>
                    <a:pt x="311150" y="73025"/>
                  </a:lnTo>
                  <a:lnTo>
                    <a:pt x="311150" y="0"/>
                  </a:lnTo>
                  <a:lnTo>
                    <a:pt x="457200" y="146050"/>
                  </a:lnTo>
                  <a:lnTo>
                    <a:pt x="311150" y="292100"/>
                  </a:lnTo>
                  <a:lnTo>
                    <a:pt x="31115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04271" y="7342188"/>
            <a:ext cx="476250" cy="304271"/>
            <a:chOff x="0" y="0"/>
            <a:chExt cx="457200" cy="292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200" cy="292100"/>
            </a:xfrm>
            <a:custGeom>
              <a:avLst/>
              <a:gdLst/>
              <a:ahLst/>
              <a:cxnLst/>
              <a:rect r="r" b="b" t="t" l="l"/>
              <a:pathLst>
                <a:path h="292100" w="457200">
                  <a:moveTo>
                    <a:pt x="0" y="73025"/>
                  </a:moveTo>
                  <a:lnTo>
                    <a:pt x="311150" y="73025"/>
                  </a:lnTo>
                  <a:lnTo>
                    <a:pt x="311150" y="0"/>
                  </a:lnTo>
                  <a:lnTo>
                    <a:pt x="457200" y="146050"/>
                  </a:lnTo>
                  <a:lnTo>
                    <a:pt x="311150" y="292100"/>
                  </a:lnTo>
                  <a:lnTo>
                    <a:pt x="31115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87083" y="6729241"/>
            <a:ext cx="1177396" cy="1569866"/>
            <a:chOff x="0" y="0"/>
            <a:chExt cx="1130300" cy="1507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0300" cy="1507109"/>
            </a:xfrm>
            <a:custGeom>
              <a:avLst/>
              <a:gdLst/>
              <a:ahLst/>
              <a:cxnLst/>
              <a:rect r="r" b="b" t="t" l="l"/>
              <a:pathLst>
                <a:path h="1507109" w="1130300">
                  <a:moveTo>
                    <a:pt x="0" y="0"/>
                  </a:moveTo>
                  <a:lnTo>
                    <a:pt x="1130300" y="0"/>
                  </a:lnTo>
                  <a:lnTo>
                    <a:pt x="1130300" y="1507109"/>
                  </a:lnTo>
                  <a:lnTo>
                    <a:pt x="0" y="1507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7266" y="7067682"/>
            <a:ext cx="681302" cy="840052"/>
            <a:chOff x="0" y="0"/>
            <a:chExt cx="654050" cy="806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4050" cy="806450"/>
            </a:xfrm>
            <a:custGeom>
              <a:avLst/>
              <a:gdLst/>
              <a:ahLst/>
              <a:cxnLst/>
              <a:rect r="r" b="b" t="t" l="l"/>
              <a:pathLst>
                <a:path h="806450" w="654050">
                  <a:moveTo>
                    <a:pt x="0" y="0"/>
                  </a:moveTo>
                  <a:lnTo>
                    <a:pt x="654050" y="0"/>
                  </a:lnTo>
                  <a:lnTo>
                    <a:pt x="654050" y="806450"/>
                  </a:lnTo>
                  <a:lnTo>
                    <a:pt x="0" y="806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8199" t="0" r="-108199" b="0"/>
              </a:stretch>
            </a:blip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325938" y="7315729"/>
            <a:ext cx="343958" cy="343958"/>
            <a:chOff x="0" y="0"/>
            <a:chExt cx="330200" cy="330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cubicBezTo>
                    <a:pt x="256286" y="0"/>
                    <a:pt x="330200" y="73914"/>
                    <a:pt x="330200" y="165100"/>
                  </a:cubicBezTo>
                  <a:cubicBezTo>
                    <a:pt x="330200" y="256286"/>
                    <a:pt x="256286" y="330200"/>
                    <a:pt x="165100" y="330200"/>
                  </a:cubicBezTo>
                  <a:cubicBezTo>
                    <a:pt x="73914" y="330200"/>
                    <a:pt x="0" y="256286"/>
                    <a:pt x="0" y="165100"/>
                  </a:cubicBez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977474" y="7067682"/>
            <a:ext cx="681302" cy="840052"/>
            <a:chOff x="0" y="0"/>
            <a:chExt cx="654050" cy="8064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4050" cy="806450"/>
            </a:xfrm>
            <a:custGeom>
              <a:avLst/>
              <a:gdLst/>
              <a:ahLst/>
              <a:cxnLst/>
              <a:rect r="r" b="b" t="t" l="l"/>
              <a:pathLst>
                <a:path h="806450" w="654050">
                  <a:moveTo>
                    <a:pt x="0" y="0"/>
                  </a:moveTo>
                  <a:lnTo>
                    <a:pt x="654050" y="0"/>
                  </a:lnTo>
                  <a:lnTo>
                    <a:pt x="654050" y="806450"/>
                  </a:lnTo>
                  <a:lnTo>
                    <a:pt x="0" y="806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8199" t="0" r="-108199" b="0"/>
              </a:stretch>
            </a:blip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146146" y="7315729"/>
            <a:ext cx="343958" cy="343958"/>
            <a:chOff x="0" y="0"/>
            <a:chExt cx="330200" cy="330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cubicBezTo>
                    <a:pt x="256286" y="0"/>
                    <a:pt x="330200" y="73914"/>
                    <a:pt x="330200" y="165100"/>
                  </a:cubicBezTo>
                  <a:cubicBezTo>
                    <a:pt x="330200" y="256286"/>
                    <a:pt x="256286" y="330200"/>
                    <a:pt x="165100" y="330200"/>
                  </a:cubicBezTo>
                  <a:cubicBezTo>
                    <a:pt x="73914" y="330200"/>
                    <a:pt x="0" y="256286"/>
                    <a:pt x="0" y="165100"/>
                  </a:cubicBez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797682" y="7067682"/>
            <a:ext cx="681302" cy="840052"/>
            <a:chOff x="0" y="0"/>
            <a:chExt cx="654050" cy="806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4050" cy="806450"/>
            </a:xfrm>
            <a:custGeom>
              <a:avLst/>
              <a:gdLst/>
              <a:ahLst/>
              <a:cxnLst/>
              <a:rect r="r" b="b" t="t" l="l"/>
              <a:pathLst>
                <a:path h="806450" w="654050">
                  <a:moveTo>
                    <a:pt x="0" y="0"/>
                  </a:moveTo>
                  <a:lnTo>
                    <a:pt x="654050" y="0"/>
                  </a:lnTo>
                  <a:lnTo>
                    <a:pt x="654050" y="806450"/>
                  </a:lnTo>
                  <a:lnTo>
                    <a:pt x="0" y="806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8199" t="0" r="-108199" b="0"/>
              </a:stretch>
            </a:blip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966354" y="7315729"/>
            <a:ext cx="343958" cy="343958"/>
            <a:chOff x="0" y="0"/>
            <a:chExt cx="330200" cy="330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cubicBezTo>
                    <a:pt x="256286" y="0"/>
                    <a:pt x="330200" y="73914"/>
                    <a:pt x="330200" y="165100"/>
                  </a:cubicBezTo>
                  <a:cubicBezTo>
                    <a:pt x="330200" y="256286"/>
                    <a:pt x="256286" y="330200"/>
                    <a:pt x="165100" y="330200"/>
                  </a:cubicBezTo>
                  <a:cubicBezTo>
                    <a:pt x="73914" y="330200"/>
                    <a:pt x="0" y="256286"/>
                    <a:pt x="0" y="165100"/>
                  </a:cubicBez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58854" y="7355417"/>
            <a:ext cx="568854" cy="291042"/>
            <a:chOff x="0" y="0"/>
            <a:chExt cx="546100" cy="279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6100" cy="279400"/>
            </a:xfrm>
            <a:custGeom>
              <a:avLst/>
              <a:gdLst/>
              <a:ahLst/>
              <a:cxnLst/>
              <a:rect r="r" b="b" t="t" l="l"/>
              <a:pathLst>
                <a:path h="279400" w="546100">
                  <a:moveTo>
                    <a:pt x="0" y="69850"/>
                  </a:moveTo>
                  <a:lnTo>
                    <a:pt x="406400" y="69850"/>
                  </a:lnTo>
                  <a:lnTo>
                    <a:pt x="406400" y="0"/>
                  </a:lnTo>
                  <a:lnTo>
                    <a:pt x="546100" y="139700"/>
                  </a:lnTo>
                  <a:lnTo>
                    <a:pt x="406400" y="279400"/>
                  </a:lnTo>
                  <a:lnTo>
                    <a:pt x="406400" y="20955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345724" y="6680729"/>
            <a:ext cx="1202822" cy="1680104"/>
            <a:chOff x="0" y="0"/>
            <a:chExt cx="1154709" cy="1612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4684" cy="1612900"/>
            </a:xfrm>
            <a:custGeom>
              <a:avLst/>
              <a:gdLst/>
              <a:ahLst/>
              <a:cxnLst/>
              <a:rect r="r" b="b" t="t" l="l"/>
              <a:pathLst>
                <a:path h="1612900" w="1154684">
                  <a:moveTo>
                    <a:pt x="0" y="0"/>
                  </a:moveTo>
                  <a:lnTo>
                    <a:pt x="1154684" y="0"/>
                  </a:lnTo>
                  <a:lnTo>
                    <a:pt x="1154684" y="1612900"/>
                  </a:lnTo>
                  <a:lnTo>
                    <a:pt x="0" y="161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81" t="0" r="-2381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26875" y="7183438"/>
            <a:ext cx="529167" cy="529167"/>
            <a:chOff x="0" y="0"/>
            <a:chExt cx="508000" cy="508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3EAD7"/>
            </a:solidFill>
            <a:ln w="28575" cap="sq">
              <a:solidFill>
                <a:srgbClr val="D8AF7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5081250" y="7077604"/>
            <a:ext cx="912812" cy="912812"/>
            <a:chOff x="0" y="0"/>
            <a:chExt cx="876300" cy="8763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438150"/>
                  </a:moveTo>
                  <a:cubicBezTo>
                    <a:pt x="0" y="196215"/>
                    <a:pt x="196215" y="0"/>
                    <a:pt x="438150" y="0"/>
                  </a:cubicBezTo>
                  <a:cubicBezTo>
                    <a:pt x="680085" y="0"/>
                    <a:pt x="876300" y="196215"/>
                    <a:pt x="876300" y="438150"/>
                  </a:cubicBezTo>
                  <a:cubicBezTo>
                    <a:pt x="876300" y="680085"/>
                    <a:pt x="680085" y="876300"/>
                    <a:pt x="438150" y="876300"/>
                  </a:cubicBezTo>
                  <a:cubicBezTo>
                    <a:pt x="196215" y="876300"/>
                    <a:pt x="0" y="680085"/>
                    <a:pt x="0" y="438150"/>
                  </a:cubicBez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404167" y="6815230"/>
            <a:ext cx="820208" cy="1093616"/>
            <a:chOff x="0" y="0"/>
            <a:chExt cx="787400" cy="10498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87400" cy="1049909"/>
            </a:xfrm>
            <a:custGeom>
              <a:avLst/>
              <a:gdLst/>
              <a:ahLst/>
              <a:cxnLst/>
              <a:rect r="r" b="b" t="t" l="l"/>
              <a:pathLst>
                <a:path h="1049909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049909"/>
                  </a:lnTo>
                  <a:lnTo>
                    <a:pt x="0" y="1049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" t="0" r="-2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343438" y="6815230"/>
            <a:ext cx="820208" cy="1093616"/>
            <a:chOff x="0" y="0"/>
            <a:chExt cx="787400" cy="10498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87400" cy="1049909"/>
            </a:xfrm>
            <a:custGeom>
              <a:avLst/>
              <a:gdLst/>
              <a:ahLst/>
              <a:cxnLst/>
              <a:rect r="r" b="b" t="t" l="l"/>
              <a:pathLst>
                <a:path h="1049909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049909"/>
                  </a:lnTo>
                  <a:lnTo>
                    <a:pt x="0" y="1049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" t="0" r="-2" b="0"/>
              </a:stretch>
            </a:blipFill>
          </p:spPr>
        </p:sp>
      </p:grpSp>
      <p:sp>
        <p:nvSpPr>
          <p:cNvPr name="AutoShape 38" id="38"/>
          <p:cNvSpPr/>
          <p:nvPr/>
        </p:nvSpPr>
        <p:spPr>
          <a:xfrm rot="10794180">
            <a:off x="2606133" y="10874375"/>
            <a:ext cx="15570756" cy="0"/>
          </a:xfrm>
          <a:prstGeom prst="line">
            <a:avLst/>
          </a:prstGeom>
          <a:ln cap="rnd" w="28575">
            <a:solidFill>
              <a:srgbClr val="D8AF7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9" id="39"/>
          <p:cNvGrpSpPr/>
          <p:nvPr/>
        </p:nvGrpSpPr>
        <p:grpSpPr>
          <a:xfrm rot="0">
            <a:off x="7500938" y="10609792"/>
            <a:ext cx="5741458" cy="608542"/>
            <a:chOff x="0" y="0"/>
            <a:chExt cx="5511800" cy="584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11800" cy="584200"/>
            </a:xfrm>
            <a:custGeom>
              <a:avLst/>
              <a:gdLst/>
              <a:ahLst/>
              <a:cxnLst/>
              <a:rect r="r" b="b" t="t" l="l"/>
              <a:pathLst>
                <a:path h="584200" w="5511800">
                  <a:moveTo>
                    <a:pt x="0" y="0"/>
                  </a:moveTo>
                  <a:lnTo>
                    <a:pt x="5511800" y="0"/>
                  </a:lnTo>
                  <a:lnTo>
                    <a:pt x="5511800" y="584200"/>
                  </a:lnTo>
                  <a:lnTo>
                    <a:pt x="0" y="584200"/>
                  </a:lnTo>
                  <a:close/>
                </a:path>
              </a:pathLst>
            </a:custGeom>
            <a:solidFill>
              <a:srgbClr val="0A202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0227396" y="2768534"/>
            <a:ext cx="4749271" cy="6633766"/>
            <a:chOff x="0" y="0"/>
            <a:chExt cx="4559300" cy="63684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59300" cy="6368415"/>
            </a:xfrm>
            <a:custGeom>
              <a:avLst/>
              <a:gdLst/>
              <a:ahLst/>
              <a:cxnLst/>
              <a:rect r="r" b="b" t="t" l="l"/>
              <a:pathLst>
                <a:path h="6368415" w="4559300">
                  <a:moveTo>
                    <a:pt x="0" y="0"/>
                  </a:moveTo>
                  <a:lnTo>
                    <a:pt x="4559300" y="0"/>
                  </a:lnTo>
                  <a:lnTo>
                    <a:pt x="4559300" y="6368415"/>
                  </a:lnTo>
                  <a:lnTo>
                    <a:pt x="0" y="6368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379" t="0" r="-2379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487083" y="11945938"/>
            <a:ext cx="16113125" cy="13229"/>
            <a:chOff x="0" y="0"/>
            <a:chExt cx="15468600" cy="12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468600" cy="12700"/>
            </a:xfrm>
            <a:custGeom>
              <a:avLst/>
              <a:gdLst/>
              <a:ahLst/>
              <a:cxnLst/>
              <a:rect r="r" b="b" t="t" l="l"/>
              <a:pathLst>
                <a:path h="12700" w="15468600">
                  <a:moveTo>
                    <a:pt x="0" y="0"/>
                  </a:moveTo>
                  <a:lnTo>
                    <a:pt x="15468600" y="0"/>
                  </a:lnTo>
                  <a:lnTo>
                    <a:pt x="15468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159093" y="7008155"/>
            <a:ext cx="1051710" cy="1051710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How to play &amp; how to win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87083" y="2666471"/>
            <a:ext cx="1561041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STARTING RESOURCES / PER PLAYER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87083" y="3244850"/>
            <a:ext cx="96572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98333" y="3539596"/>
            <a:ext cx="3704167" cy="64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employees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858125" y="3244850"/>
            <a:ext cx="96572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969375" y="3539596"/>
            <a:ext cx="3704167" cy="64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Coins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229167" y="3244850"/>
            <a:ext cx="96572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340417" y="3539596"/>
            <a:ext cx="3704167" cy="64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task cards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487083" y="4955117"/>
            <a:ext cx="449791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487083" y="5546725"/>
            <a:ext cx="4960938" cy="75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645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Morning Meeting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056562" y="4955117"/>
            <a:ext cx="449791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56562" y="5546725"/>
            <a:ext cx="4960938" cy="75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645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Rush Hour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626042" y="4955117"/>
            <a:ext cx="449791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626042" y="5546725"/>
            <a:ext cx="4960938" cy="75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645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End of Day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606146" y="8536517"/>
            <a:ext cx="1322917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Event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114271" y="8536517"/>
            <a:ext cx="2738438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3 employees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487083" y="9383183"/>
            <a:ext cx="4841875" cy="116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Activate projects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Place &amp; resolve employees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083021" y="8536517"/>
            <a:ext cx="2341562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Roll &amp; draft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914063" y="8536517"/>
            <a:ext cx="1852083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056563" y="9383183"/>
            <a:ext cx="4709583" cy="116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Draft one eligible die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Place it on a project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626042" y="6952721"/>
            <a:ext cx="1283229" cy="1222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250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SP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081250" y="7190846"/>
            <a:ext cx="912812" cy="82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4062" b="true">
                <a:solidFill>
                  <a:srgbClr val="0A2027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626042" y="8536517"/>
            <a:ext cx="1322917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081250" y="8536517"/>
            <a:ext cx="1309688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Coins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536458" y="8536517"/>
            <a:ext cx="1852083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626042" y="9383183"/>
            <a:ext cx="4934479" cy="116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Resolve hazards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Score &amp; replenish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686146" y="10719329"/>
            <a:ext cx="5371042" cy="47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95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REPEAT FOR 5 ROUNDS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487083" y="11314642"/>
            <a:ext cx="16113125" cy="47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Unfinished tasks keep their safety dice.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9685000" y="9757304"/>
            <a:ext cx="621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TASK EXAMPLE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9685000" y="10339388"/>
            <a:ext cx="637645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Elementary Student</a:t>
            </a:r>
          </a:p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1 Crosswalk + 1 Sidewalk</a:t>
            </a:r>
          </a:p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Complete the project to earn 3 SP.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487083" y="12257617"/>
            <a:ext cx="899583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WINNING CONDITION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487083" y="12826471"/>
            <a:ext cx="16113125" cy="68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Most Safety Points after Round 5 wins.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487083" y="13537142"/>
            <a:ext cx="23124583" cy="51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Task SP + policy bonuses + 1 SP per 3 Coins − unresolved emergency penalties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7083" y="2989792"/>
            <a:ext cx="7514167" cy="4101042"/>
            <a:chOff x="0" y="0"/>
            <a:chExt cx="7213600" cy="393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13600" cy="3937000"/>
            </a:xfrm>
            <a:custGeom>
              <a:avLst/>
              <a:gdLst/>
              <a:ahLst/>
              <a:cxnLst/>
              <a:rect r="r" b="b" t="t" l="l"/>
              <a:pathLst>
                <a:path h="3937000" w="7213600">
                  <a:moveTo>
                    <a:pt x="0" y="0"/>
                  </a:moveTo>
                  <a:lnTo>
                    <a:pt x="7213600" y="0"/>
                  </a:lnTo>
                  <a:lnTo>
                    <a:pt x="7213600" y="3937000"/>
                  </a:lnTo>
                  <a:lnTo>
                    <a:pt x="0" y="393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024" t="0" r="-2002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01562" y="2899397"/>
            <a:ext cx="3360208" cy="4480282"/>
            <a:chOff x="0" y="0"/>
            <a:chExt cx="3225800" cy="4301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25800" cy="4301109"/>
            </a:xfrm>
            <a:custGeom>
              <a:avLst/>
              <a:gdLst/>
              <a:ahLst/>
              <a:cxnLst/>
              <a:rect r="r" b="b" t="t" l="l"/>
              <a:pathLst>
                <a:path h="4301109" w="3225800">
                  <a:moveTo>
                    <a:pt x="0" y="0"/>
                  </a:moveTo>
                  <a:lnTo>
                    <a:pt x="3225800" y="0"/>
                  </a:lnTo>
                  <a:lnTo>
                    <a:pt x="3225800" y="4301109"/>
                  </a:lnTo>
                  <a:lnTo>
                    <a:pt x="0" y="4301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531667" y="2899397"/>
            <a:ext cx="3360208" cy="4480282"/>
            <a:chOff x="0" y="0"/>
            <a:chExt cx="3225800" cy="4301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25800" cy="4301109"/>
            </a:xfrm>
            <a:custGeom>
              <a:avLst/>
              <a:gdLst/>
              <a:ahLst/>
              <a:cxnLst/>
              <a:rect r="r" b="b" t="t" l="l"/>
              <a:pathLst>
                <a:path h="4301109" w="3225800">
                  <a:moveTo>
                    <a:pt x="0" y="0"/>
                  </a:moveTo>
                  <a:lnTo>
                    <a:pt x="3225800" y="0"/>
                  </a:lnTo>
                  <a:lnTo>
                    <a:pt x="3225800" y="4301109"/>
                  </a:lnTo>
                  <a:lnTo>
                    <a:pt x="0" y="4301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Core mechanics &amp; player strategies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87083" y="7891992"/>
            <a:ext cx="748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01  WORKER PLACEMENT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87083" y="8572500"/>
            <a:ext cx="73025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749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Competition for action spaces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87083" y="9942512"/>
            <a:ext cx="7209896" cy="1500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20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Place 3 employees in departments, one pawn per action space.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87083" y="11887200"/>
            <a:ext cx="7223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STRATEGY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7083" y="12469283"/>
            <a:ext cx="7302500" cy="15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Secure scarce actions early. Balance immediate funding against reusable infrastructure.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30417" y="7891992"/>
            <a:ext cx="748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02  DICE DRAFTING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30417" y="8572500"/>
            <a:ext cx="73025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749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Shared dice, lasting commitments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30417" y="9942512"/>
            <a:ext cx="7209896" cy="1500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20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Draft matching dice. Unfinished tasks keep them between rounds.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30417" y="11887200"/>
            <a:ext cx="7223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STRATEGY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30417" y="12469283"/>
            <a:ext cx="7302500" cy="15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Choose tasks with overlapping requirements. Keep Coins available to adjust a die or mitigate danger.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573750" y="7891992"/>
            <a:ext cx="748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03  GOVERNMENT POLICIES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573750" y="8572500"/>
            <a:ext cx="73025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749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Direct player interaction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573750" y="9942512"/>
            <a:ext cx="7209896" cy="1500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20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Policies alter resources or placement, including opponents’ pawns.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573750" y="11887200"/>
            <a:ext cx="7223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STRATEGY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573750" y="12469283"/>
            <a:ext cx="7302500" cy="15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Time policy effects around contested actions and avoid relying on a single department.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7083" y="3490291"/>
            <a:ext cx="2910417" cy="3880551"/>
            <a:chOff x="0" y="0"/>
            <a:chExt cx="2794000" cy="37253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0" cy="3725291"/>
            </a:xfrm>
            <a:custGeom>
              <a:avLst/>
              <a:gdLst/>
              <a:ahLst/>
              <a:cxnLst/>
              <a:rect r="r" b="b" t="t" l="l"/>
              <a:pathLst>
                <a:path h="3725291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3725291"/>
                  </a:lnTo>
                  <a:lnTo>
                    <a:pt x="0" y="372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006042" y="3490291"/>
            <a:ext cx="2910417" cy="3880551"/>
            <a:chOff x="0" y="0"/>
            <a:chExt cx="2794000" cy="37253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0" cy="3725291"/>
            </a:xfrm>
            <a:custGeom>
              <a:avLst/>
              <a:gdLst/>
              <a:ahLst/>
              <a:cxnLst/>
              <a:rect r="r" b="b" t="t" l="l"/>
              <a:pathLst>
                <a:path h="3725291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3725291"/>
                  </a:lnTo>
                  <a:lnTo>
                    <a:pt x="0" y="372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25000" y="3490291"/>
            <a:ext cx="2910417" cy="3880551"/>
            <a:chOff x="0" y="0"/>
            <a:chExt cx="2794000" cy="37253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0" cy="3725291"/>
            </a:xfrm>
            <a:custGeom>
              <a:avLst/>
              <a:gdLst/>
              <a:ahLst/>
              <a:cxnLst/>
              <a:rect r="r" b="b" t="t" l="l"/>
              <a:pathLst>
                <a:path h="3725291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3725291"/>
                  </a:lnTo>
                  <a:lnTo>
                    <a:pt x="0" y="372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487083" y="8368242"/>
            <a:ext cx="12766146" cy="124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20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AI-generated illustrations. I select the palette and check each card against the approved visual style.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487083" y="10093854"/>
            <a:ext cx="7408333" cy="3439583"/>
            <a:chOff x="0" y="0"/>
            <a:chExt cx="7112000" cy="330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576" r="0" b="-1057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5400000">
            <a:off x="10803167" y="9217254"/>
            <a:ext cx="4127500" cy="4504866"/>
            <a:chOff x="0" y="0"/>
            <a:chExt cx="3962400" cy="43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62400" cy="4324672"/>
            </a:xfrm>
            <a:custGeom>
              <a:avLst/>
              <a:gdLst/>
              <a:ahLst/>
              <a:cxnLst/>
              <a:rect r="r" b="b" t="t" l="l"/>
              <a:pathLst>
                <a:path h="4324672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4324672"/>
                  </a:lnTo>
                  <a:lnTo>
                    <a:pt x="0" y="432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145" r="0" b="-1114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Visual design &amp; development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87083" y="2759075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AI-ASSISTED ARTWORK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7083" y="7663392"/>
            <a:ext cx="3307292" cy="5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Planning task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6042" y="7663392"/>
            <a:ext cx="3307292" cy="5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Traffic event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25000" y="7663392"/>
            <a:ext cx="3968750" cy="5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Government policy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87083" y="13695892"/>
            <a:ext cx="7871354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Early phase and action-guide sketches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62708" y="13695892"/>
            <a:ext cx="4696354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Early prototype playtest</a:t>
            </a:r>
          </a:p>
        </p:txBody>
      </p:sp>
      <p:sp>
        <p:nvSpPr>
          <p:cNvPr id="25" name="Original card sketch heading">
            <a:extLst>
              <a:ext uri="{FF2B5EF4-FFF2-40B4-BE49-F238E27FC236}">
                <a16:creationId xmlns:a16="http://schemas.microsoft.com/office/drawing/2014/main" id="{E9FF52D2-CD3B-4449-8996-B8FBF7E84E0C}"/>
              </a:ext>
            </a:extLst>
          </p:cNvPr>
          <p:cNvSpPr>
            <a:spLocks noGrp="1"/>
          </p:cNvSpPr>
          <p:nvPr/>
        </p:nvSpPr>
        <p:spPr>
          <a:xfrm>
            <a:off x="16592550" y="2933700"/>
            <a:ext cx="9448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CARD LAYOUT SKETCH</a:t>
            </a:r>
          </a:p>
        </p:txBody>
      </p:sp>
      <p:pic>
        <p:nvPicPr>
          <p:cNvPr id="26" name=""/>
          <p:cNvPicPr>
            <a:picLocks noChangeAspect="1"/>
          </p:cNvPicPr>
          <p:nvPr/>
        </p:nvPicPr>
        <p:blipFill>
          <a:blip r:embed="rId8"/>
          <a:srcRect l="28500" t="0" r="5000" b="0"/>
          <a:stretch>
            <a:fillRect l="0" t="0" r="0" b="0"/>
          </a:stretch>
        </p:blipFill>
        <p:spPr>
          <a:xfrm rot="16200000">
            <a:off x="19554825" y="561975"/>
            <a:ext cx="3524250" cy="9448800"/>
          </a:xfrm>
          <a:prstGeom prst="rect">
            <a:avLst/>
          </a:prstGeom>
        </p:spPr>
      </p:pic>
      <p:sp>
        <p:nvSpPr>
          <p:cNvPr id="27" name="Original card sketch caption">
            <a:extLst>
              <a:ext uri="{FF2B5EF4-FFF2-40B4-BE49-F238E27FC236}">
                <a16:creationId xmlns:a16="http://schemas.microsoft.com/office/drawing/2014/main" id="{0A8E57E4-F8DB-401E-8F78-0B099AD3E098}"/>
              </a:ext>
            </a:extLst>
          </p:cNvPr>
          <p:cNvSpPr>
            <a:spLocks noGrp="1"/>
          </p:cNvSpPr>
          <p:nvPr/>
        </p:nvSpPr>
        <p:spPr>
          <a:xfrm>
            <a:off x="16592550" y="7181850"/>
            <a:ext cx="9448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My sketch defines the information on each card.</a:t>
            </a:r>
          </a:p>
        </p:txBody>
      </p:sp>
      <p:sp>
        <p:nvSpPr>
          <p:cNvPr id="28" name="Card wireframe heading 0">
            <a:extLst>
              <a:ext uri="{FF2B5EF4-FFF2-40B4-BE49-F238E27FC236}">
                <a16:creationId xmlns:a16="http://schemas.microsoft.com/office/drawing/2014/main" id="{12390643-103D-4584-B03C-9D4E0080322C}"/>
              </a:ext>
            </a:extLst>
          </p:cNvPr>
          <p:cNvSpPr>
            <a:spLocks noGrp="1"/>
          </p:cNvSpPr>
          <p:nvPr/>
        </p:nvSpPr>
        <p:spPr>
          <a:xfrm>
            <a:off x="16592550" y="7677150"/>
            <a:ext cx="2895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CITY PLAN</a:t>
            </a:r>
          </a:p>
        </p:txBody>
      </p:sp>
      <p:sp>
        <p:nvSpPr>
          <p:cNvPr id="29" name="Editable card wireframe 0">
            <a:extLst>
              <a:ext uri="{FF2B5EF4-FFF2-40B4-BE49-F238E27FC236}">
                <a16:creationId xmlns:a16="http://schemas.microsoft.com/office/drawing/2014/main" id="{C3B70D23-4674-4D0B-B8D5-C181CC2DC080}"/>
              </a:ext>
            </a:extLst>
          </p:cNvPr>
          <p:cNvSpPr>
            <a:spLocks noGrp="1"/>
          </p:cNvSpPr>
          <p:nvPr/>
        </p:nvSpPr>
        <p:spPr>
          <a:xfrm>
            <a:off x="16592550" y="8172450"/>
            <a:ext cx="2895600" cy="2266950"/>
          </a:xfrm>
          <a:prstGeom prst="rect">
            <a:avLst/>
          </a:prstGeom>
          <a:solidFill>
            <a:srgbClr val="122C32"/>
          </a:solidFill>
          <a:ln w="10478">
            <a:solidFill>
              <a:srgbClr val="BAC5C4"/>
            </a:solidFill>
          </a:ln>
        </p:spPr>
      </p:sp>
      <p:sp>
        <p:nvSpPr>
          <p:cNvPr id="30" name="Card title field 0">
            <a:extLst>
              <a:ext uri="{FF2B5EF4-FFF2-40B4-BE49-F238E27FC236}">
                <a16:creationId xmlns:a16="http://schemas.microsoft.com/office/drawing/2014/main" id="{1CF1B0A9-B0A7-46C2-896B-562E13DB7594}"/>
              </a:ext>
            </a:extLst>
          </p:cNvPr>
          <p:cNvSpPr>
            <a:spLocks noGrp="1"/>
          </p:cNvSpPr>
          <p:nvPr/>
        </p:nvSpPr>
        <p:spPr>
          <a:xfrm>
            <a:off x="16744950" y="83248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E8CE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31" name="Artwork field outline 0">
            <a:extLst>
              <a:ext uri="{FF2B5EF4-FFF2-40B4-BE49-F238E27FC236}">
                <a16:creationId xmlns:a16="http://schemas.microsoft.com/office/drawing/2014/main" id="{7079A6AA-C39D-4D40-BFC0-9A1FDDE095DE}"/>
              </a:ext>
            </a:extLst>
          </p:cNvPr>
          <p:cNvSpPr>
            <a:spLocks noGrp="1"/>
          </p:cNvSpPr>
          <p:nvPr/>
        </p:nvSpPr>
        <p:spPr>
          <a:xfrm>
            <a:off x="16744950" y="8763000"/>
            <a:ext cx="2590800" cy="781050"/>
          </a:xfrm>
          <a:prstGeom prst="rect">
            <a:avLst/>
          </a:prstGeom>
          <a:noFill/>
          <a:ln w="10478">
            <a:solidFill>
              <a:srgbClr val="657A75"/>
            </a:solidFill>
          </a:ln>
        </p:spPr>
      </p:sp>
      <p:sp>
        <p:nvSpPr>
          <p:cNvPr id="32" name="Card art field 0">
            <a:extLst>
              <a:ext uri="{FF2B5EF4-FFF2-40B4-BE49-F238E27FC236}">
                <a16:creationId xmlns:a16="http://schemas.microsoft.com/office/drawing/2014/main" id="{8FC746AC-FA7F-450B-A08D-012854A96FF0}"/>
              </a:ext>
            </a:extLst>
          </p:cNvPr>
          <p:cNvSpPr>
            <a:spLocks noGrp="1"/>
          </p:cNvSpPr>
          <p:nvPr/>
        </p:nvSpPr>
        <p:spPr>
          <a:xfrm>
            <a:off x="16744950" y="9010650"/>
            <a:ext cx="2590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ARTWORK</a:t>
            </a:r>
          </a:p>
        </p:txBody>
      </p:sp>
      <p:sp>
        <p:nvSpPr>
          <p:cNvPr id="33" name="Card data field 0">
            <a:extLst>
              <a:ext uri="{FF2B5EF4-FFF2-40B4-BE49-F238E27FC236}">
                <a16:creationId xmlns:a16="http://schemas.microsoft.com/office/drawing/2014/main" id="{037DE873-7BDB-4B69-820B-E8D8468302E8}"/>
              </a:ext>
            </a:extLst>
          </p:cNvPr>
          <p:cNvSpPr>
            <a:spLocks noGrp="1"/>
          </p:cNvSpPr>
          <p:nvPr/>
        </p:nvSpPr>
        <p:spPr>
          <a:xfrm>
            <a:off x="16725900" y="9848850"/>
            <a:ext cx="2628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POINTS + REQUIREMENTS</a:t>
            </a:r>
          </a:p>
        </p:txBody>
      </p:sp>
      <p:sp>
        <p:nvSpPr>
          <p:cNvPr id="34" name="Card wireframe heading 1">
            <a:extLst>
              <a:ext uri="{FF2B5EF4-FFF2-40B4-BE49-F238E27FC236}">
                <a16:creationId xmlns:a16="http://schemas.microsoft.com/office/drawing/2014/main" id="{1E8ADD1D-735C-4D10-B0D1-AF17678DBC4A}"/>
              </a:ext>
            </a:extLst>
          </p:cNvPr>
          <p:cNvSpPr>
            <a:spLocks noGrp="1"/>
          </p:cNvSpPr>
          <p:nvPr/>
        </p:nvSpPr>
        <p:spPr>
          <a:xfrm>
            <a:off x="19869150" y="7677150"/>
            <a:ext cx="2895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35" name="Editable card wireframe 1">
            <a:extLst>
              <a:ext uri="{FF2B5EF4-FFF2-40B4-BE49-F238E27FC236}">
                <a16:creationId xmlns:a16="http://schemas.microsoft.com/office/drawing/2014/main" id="{9E48CF9F-DFCE-4E75-AB1D-0B711275BF83}"/>
              </a:ext>
            </a:extLst>
          </p:cNvPr>
          <p:cNvSpPr>
            <a:spLocks noGrp="1"/>
          </p:cNvSpPr>
          <p:nvPr/>
        </p:nvSpPr>
        <p:spPr>
          <a:xfrm>
            <a:off x="19869150" y="8172450"/>
            <a:ext cx="2895600" cy="2266950"/>
          </a:xfrm>
          <a:prstGeom prst="rect">
            <a:avLst/>
          </a:prstGeom>
          <a:solidFill>
            <a:srgbClr val="122C32"/>
          </a:solidFill>
          <a:ln w="10478">
            <a:solidFill>
              <a:srgbClr val="BAC5C4"/>
            </a:solidFill>
          </a:ln>
        </p:spPr>
      </p:sp>
      <p:sp>
        <p:nvSpPr>
          <p:cNvPr id="36" name="Card title field 1">
            <a:extLst>
              <a:ext uri="{FF2B5EF4-FFF2-40B4-BE49-F238E27FC236}">
                <a16:creationId xmlns:a16="http://schemas.microsoft.com/office/drawing/2014/main" id="{A86165A0-3A27-49D6-B220-CA42895B3AFD}"/>
              </a:ext>
            </a:extLst>
          </p:cNvPr>
          <p:cNvSpPr>
            <a:spLocks noGrp="1"/>
          </p:cNvSpPr>
          <p:nvPr/>
        </p:nvSpPr>
        <p:spPr>
          <a:xfrm>
            <a:off x="20021550" y="83248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E8CE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37" name="Artwork field outline 1">
            <a:extLst>
              <a:ext uri="{FF2B5EF4-FFF2-40B4-BE49-F238E27FC236}">
                <a16:creationId xmlns:a16="http://schemas.microsoft.com/office/drawing/2014/main" id="{7C380ACE-4506-4AB3-B22E-D5FF20A5AE21}"/>
              </a:ext>
            </a:extLst>
          </p:cNvPr>
          <p:cNvSpPr>
            <a:spLocks noGrp="1"/>
          </p:cNvSpPr>
          <p:nvPr/>
        </p:nvSpPr>
        <p:spPr>
          <a:xfrm>
            <a:off x="20021550" y="8763000"/>
            <a:ext cx="2590800" cy="781050"/>
          </a:xfrm>
          <a:prstGeom prst="rect">
            <a:avLst/>
          </a:prstGeom>
          <a:noFill/>
          <a:ln w="10478">
            <a:solidFill>
              <a:srgbClr val="657A75"/>
            </a:solidFill>
          </a:ln>
        </p:spPr>
      </p:sp>
      <p:sp>
        <p:nvSpPr>
          <p:cNvPr id="38" name="Card art field 1">
            <a:extLst>
              <a:ext uri="{FF2B5EF4-FFF2-40B4-BE49-F238E27FC236}">
                <a16:creationId xmlns:a16="http://schemas.microsoft.com/office/drawing/2014/main" id="{4D206C20-09CB-48FD-B4F7-9890B2DB01D0}"/>
              </a:ext>
            </a:extLst>
          </p:cNvPr>
          <p:cNvSpPr>
            <a:spLocks noGrp="1"/>
          </p:cNvSpPr>
          <p:nvPr/>
        </p:nvSpPr>
        <p:spPr>
          <a:xfrm>
            <a:off x="20021550" y="9010650"/>
            <a:ext cx="2590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ARTWORK</a:t>
            </a:r>
          </a:p>
        </p:txBody>
      </p:sp>
      <p:sp>
        <p:nvSpPr>
          <p:cNvPr id="39" name="Card data field 1">
            <a:extLst>
              <a:ext uri="{FF2B5EF4-FFF2-40B4-BE49-F238E27FC236}">
                <a16:creationId xmlns:a16="http://schemas.microsoft.com/office/drawing/2014/main" id="{E0414436-E18B-4587-9CA6-B915666204D2}"/>
              </a:ext>
            </a:extLst>
          </p:cNvPr>
          <p:cNvSpPr>
            <a:spLocks noGrp="1"/>
          </p:cNvSpPr>
          <p:nvPr/>
        </p:nvSpPr>
        <p:spPr>
          <a:xfrm>
            <a:off x="20002500" y="9848850"/>
            <a:ext cx="2628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40" name="Card wireframe heading 2">
            <a:extLst>
              <a:ext uri="{FF2B5EF4-FFF2-40B4-BE49-F238E27FC236}">
                <a16:creationId xmlns:a16="http://schemas.microsoft.com/office/drawing/2014/main" id="{A601300E-029B-4158-BB66-EED18350616F}"/>
              </a:ext>
            </a:extLst>
          </p:cNvPr>
          <p:cNvSpPr>
            <a:spLocks noGrp="1"/>
          </p:cNvSpPr>
          <p:nvPr/>
        </p:nvSpPr>
        <p:spPr>
          <a:xfrm>
            <a:off x="23145750" y="7677150"/>
            <a:ext cx="2895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TRAFFIC</a:t>
            </a:r>
          </a:p>
        </p:txBody>
      </p:sp>
      <p:sp>
        <p:nvSpPr>
          <p:cNvPr id="41" name="Editable card wireframe 2">
            <a:extLst>
              <a:ext uri="{FF2B5EF4-FFF2-40B4-BE49-F238E27FC236}">
                <a16:creationId xmlns:a16="http://schemas.microsoft.com/office/drawing/2014/main" id="{736DA186-5D30-4C74-AED3-5FFB9D626213}"/>
              </a:ext>
            </a:extLst>
          </p:cNvPr>
          <p:cNvSpPr>
            <a:spLocks noGrp="1"/>
          </p:cNvSpPr>
          <p:nvPr/>
        </p:nvSpPr>
        <p:spPr>
          <a:xfrm>
            <a:off x="23145750" y="8172450"/>
            <a:ext cx="2895600" cy="2266950"/>
          </a:xfrm>
          <a:prstGeom prst="rect">
            <a:avLst/>
          </a:prstGeom>
          <a:solidFill>
            <a:srgbClr val="122C32"/>
          </a:solidFill>
          <a:ln w="10478">
            <a:solidFill>
              <a:srgbClr val="BAC5C4"/>
            </a:solidFill>
          </a:ln>
        </p:spPr>
      </p:sp>
      <p:sp>
        <p:nvSpPr>
          <p:cNvPr id="42" name="Card title field 2">
            <a:extLst>
              <a:ext uri="{FF2B5EF4-FFF2-40B4-BE49-F238E27FC236}">
                <a16:creationId xmlns:a16="http://schemas.microsoft.com/office/drawing/2014/main" id="{BAB5502A-B650-4959-ACD9-C938C44F23CD}"/>
              </a:ext>
            </a:extLst>
          </p:cNvPr>
          <p:cNvSpPr>
            <a:spLocks noGrp="1"/>
          </p:cNvSpPr>
          <p:nvPr/>
        </p:nvSpPr>
        <p:spPr>
          <a:xfrm>
            <a:off x="23298150" y="83248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E8CE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43" name="Artwork field outline 2">
            <a:extLst>
              <a:ext uri="{FF2B5EF4-FFF2-40B4-BE49-F238E27FC236}">
                <a16:creationId xmlns:a16="http://schemas.microsoft.com/office/drawing/2014/main" id="{17895D43-21CF-47AD-B29A-33330058915A}"/>
              </a:ext>
            </a:extLst>
          </p:cNvPr>
          <p:cNvSpPr>
            <a:spLocks noGrp="1"/>
          </p:cNvSpPr>
          <p:nvPr/>
        </p:nvSpPr>
        <p:spPr>
          <a:xfrm>
            <a:off x="23298150" y="8763000"/>
            <a:ext cx="2590800" cy="781050"/>
          </a:xfrm>
          <a:prstGeom prst="rect">
            <a:avLst/>
          </a:prstGeom>
          <a:noFill/>
          <a:ln w="10478">
            <a:solidFill>
              <a:srgbClr val="657A75"/>
            </a:solidFill>
          </a:ln>
        </p:spPr>
      </p:sp>
      <p:sp>
        <p:nvSpPr>
          <p:cNvPr id="44" name="Card art field 2">
            <a:extLst>
              <a:ext uri="{FF2B5EF4-FFF2-40B4-BE49-F238E27FC236}">
                <a16:creationId xmlns:a16="http://schemas.microsoft.com/office/drawing/2014/main" id="{9DF8815C-36C0-46BD-BC19-C19C3DB1B6C1}"/>
              </a:ext>
            </a:extLst>
          </p:cNvPr>
          <p:cNvSpPr>
            <a:spLocks noGrp="1"/>
          </p:cNvSpPr>
          <p:nvPr/>
        </p:nvSpPr>
        <p:spPr>
          <a:xfrm>
            <a:off x="23298150" y="9010650"/>
            <a:ext cx="2590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ARTWORK</a:t>
            </a:r>
          </a:p>
        </p:txBody>
      </p:sp>
      <p:sp>
        <p:nvSpPr>
          <p:cNvPr id="45" name="Card data field 2">
            <a:extLst>
              <a:ext uri="{FF2B5EF4-FFF2-40B4-BE49-F238E27FC236}">
                <a16:creationId xmlns:a16="http://schemas.microsoft.com/office/drawing/2014/main" id="{5001EE1E-B6B5-43DE-842E-417250D35CC9}"/>
              </a:ext>
            </a:extLst>
          </p:cNvPr>
          <p:cNvSpPr>
            <a:spLocks noGrp="1"/>
          </p:cNvSpPr>
          <p:nvPr/>
        </p:nvSpPr>
        <p:spPr>
          <a:xfrm>
            <a:off x="23279100" y="9848850"/>
            <a:ext cx="2628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EFFECT</a:t>
            </a:r>
          </a:p>
        </p:txBody>
      </p:sp>
      <p:sp>
        <p:nvSpPr>
          <p:cNvPr id="46" name="Vision workflow heading">
            <a:extLst>
              <a:ext uri="{FF2B5EF4-FFF2-40B4-BE49-F238E27FC236}">
                <a16:creationId xmlns:a16="http://schemas.microsoft.com/office/drawing/2014/main" id="{FAD86446-1F22-414E-8AE1-13149C5BB6B8}"/>
              </a:ext>
            </a:extLst>
          </p:cNvPr>
          <p:cNvSpPr>
            <a:spLocks noGrp="1"/>
          </p:cNvSpPr>
          <p:nvPr/>
        </p:nvSpPr>
        <p:spPr>
          <a:xfrm>
            <a:off x="16592550" y="10934700"/>
            <a:ext cx="9448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MY ART PROCESS</a:t>
            </a:r>
          </a:p>
        </p:txBody>
      </p:sp>
      <p:sp>
        <p:nvSpPr>
          <p:cNvPr id="47" name="Vision art direction process">
            <a:extLst>
              <a:ext uri="{FF2B5EF4-FFF2-40B4-BE49-F238E27FC236}">
                <a16:creationId xmlns:a16="http://schemas.microsoft.com/office/drawing/2014/main" id="{F7A630C1-B1D3-4ACF-9050-FB10521B5D66}"/>
              </a:ext>
            </a:extLst>
          </p:cNvPr>
          <p:cNvSpPr>
            <a:spLocks noGrp="1"/>
          </p:cNvSpPr>
          <p:nvPr/>
        </p:nvSpPr>
        <p:spPr>
          <a:xfrm>
            <a:off x="16592550" y="11563350"/>
            <a:ext cx="94488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 define the layout in sketches and prompts, then use style references to generate illustrations with AI. I select results against the approved card style.</a:t>
            </a:r>
          </a:p>
        </p:txBody>
      </p:sp>
      <p:sp>
        <p:nvSpPr>
          <p:cNvPr id="48" name="Vision original prompt">
            <a:extLst>
              <a:ext uri="{FF2B5EF4-FFF2-40B4-BE49-F238E27FC236}">
                <a16:creationId xmlns:a16="http://schemas.microsoft.com/office/drawing/2014/main" id="{927E72EE-0A31-4D08-8784-AC6ACD3CC35A}"/>
              </a:ext>
            </a:extLst>
          </p:cNvPr>
          <p:cNvSpPr>
            <a:spLocks noGrp="1"/>
          </p:cNvSpPr>
          <p:nvPr/>
        </p:nvSpPr>
        <p:spPr>
          <a:xfrm>
            <a:off x="16592550" y="13354050"/>
            <a:ext cx="4495800" cy="5715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49" name="Vision original prompt label">
            <a:extLst>
              <a:ext uri="{FF2B5EF4-FFF2-40B4-BE49-F238E27FC236}">
                <a16:creationId xmlns:a16="http://schemas.microsoft.com/office/drawing/2014/main" id="{DA2E1CAF-B7D1-4529-9678-754071505AFE}"/>
              </a:ext>
            </a:extLst>
          </p:cNvPr>
          <p:cNvSpPr>
            <a:spLocks noGrp="1"/>
          </p:cNvSpPr>
          <p:nvPr/>
        </p:nvSpPr>
        <p:spPr>
          <a:xfrm>
            <a:off x="16821150" y="13411200"/>
            <a:ext cx="4038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ORIGINAL PROMPT</a:t>
            </a:r>
          </a:p>
        </p:txBody>
      </p:sp>
      <p:sp>
        <p:nvSpPr>
          <p:cNvPr id="50" name="Vision reference examples">
            <a:extLst>
              <a:ext uri="{FF2B5EF4-FFF2-40B4-BE49-F238E27FC236}">
                <a16:creationId xmlns:a16="http://schemas.microsoft.com/office/drawing/2014/main" id="{C06D21F2-17B9-4060-BFD0-29572EBC1E6B}"/>
              </a:ext>
            </a:extLst>
          </p:cNvPr>
          <p:cNvSpPr>
            <a:spLocks noGrp="1"/>
          </p:cNvSpPr>
          <p:nvPr/>
        </p:nvSpPr>
        <p:spPr>
          <a:xfrm>
            <a:off x="21507450" y="13354050"/>
            <a:ext cx="4533900" cy="5715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51" name="Vision reference examples label">
            <a:extLst>
              <a:ext uri="{FF2B5EF4-FFF2-40B4-BE49-F238E27FC236}">
                <a16:creationId xmlns:a16="http://schemas.microsoft.com/office/drawing/2014/main" id="{635445C1-6AB9-4DB0-AA83-D3528618AA4F}"/>
              </a:ext>
            </a:extLst>
          </p:cNvPr>
          <p:cNvSpPr>
            <a:spLocks noGrp="1"/>
          </p:cNvSpPr>
          <p:nvPr/>
        </p:nvSpPr>
        <p:spPr>
          <a:xfrm>
            <a:off x="21736050" y="13411200"/>
            <a:ext cx="40767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STYLE REFERENCES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341667" y="483658"/>
            <a:ext cx="1746250" cy="48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291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06 / 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Final outcome &amp; player testing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87083" y="2878137"/>
            <a:ext cx="1441979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FINAL OUTCOME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477161" y="3601641"/>
            <a:ext cx="14439635" cy="8129323"/>
            <a:chOff x="0" y="0"/>
            <a:chExt cx="13862050" cy="7804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62050" cy="7804150"/>
            </a:xfrm>
            <a:custGeom>
              <a:avLst/>
              <a:gdLst/>
              <a:ahLst/>
              <a:cxnLst/>
              <a:rect r="r" b="b" t="t" l="l"/>
              <a:pathLst>
                <a:path h="7804150" w="13862050">
                  <a:moveTo>
                    <a:pt x="0" y="0"/>
                  </a:moveTo>
                  <a:lnTo>
                    <a:pt x="13862050" y="0"/>
                  </a:lnTo>
                  <a:lnTo>
                    <a:pt x="13862050" y="7804150"/>
                  </a:lnTo>
                  <a:lnTo>
                    <a:pt x="0" y="7804150"/>
                  </a:lnTo>
                  <a:close/>
                </a:path>
              </a:pathLst>
            </a:custGeom>
            <a:solidFill>
              <a:srgbClr val="07171D">
                <a:alpha val="48627"/>
              </a:srgbClr>
            </a:solid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804583" y="7445110"/>
            <a:ext cx="13784792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FINAL GAME / TABLETOP PHOTOGRAPH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74167" y="2878137"/>
            <a:ext cx="84137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TESTING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7664245" y="3601641"/>
            <a:ext cx="8433594" cy="3803385"/>
            <a:chOff x="0" y="0"/>
            <a:chExt cx="8096250" cy="3651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96250" cy="3651250"/>
            </a:xfrm>
            <a:custGeom>
              <a:avLst/>
              <a:gdLst/>
              <a:ahLst/>
              <a:cxnLst/>
              <a:rect r="r" b="b" t="t" l="l"/>
              <a:pathLst>
                <a:path h="3651250" w="8096250">
                  <a:moveTo>
                    <a:pt x="0" y="0"/>
                  </a:moveTo>
                  <a:lnTo>
                    <a:pt x="8096250" y="0"/>
                  </a:lnTo>
                  <a:lnTo>
                    <a:pt x="8096250" y="3651250"/>
                  </a:lnTo>
                  <a:lnTo>
                    <a:pt x="0" y="3651250"/>
                  </a:lnTo>
                  <a:close/>
                </a:path>
              </a:pathLst>
            </a:custGeom>
            <a:solidFill>
              <a:srgbClr val="07171D">
                <a:alpha val="48627"/>
              </a:srgbClr>
            </a:solid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7991667" y="5282142"/>
            <a:ext cx="7778750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PLAYTEST PHOTOGRAPH 01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664245" y="7914349"/>
            <a:ext cx="8433594" cy="3816615"/>
            <a:chOff x="0" y="0"/>
            <a:chExt cx="8096250" cy="36639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96250" cy="3663950"/>
            </a:xfrm>
            <a:custGeom>
              <a:avLst/>
              <a:gdLst/>
              <a:ahLst/>
              <a:cxnLst/>
              <a:rect r="r" b="b" t="t" l="l"/>
              <a:pathLst>
                <a:path h="3663950" w="8096250">
                  <a:moveTo>
                    <a:pt x="0" y="0"/>
                  </a:moveTo>
                  <a:lnTo>
                    <a:pt x="8096250" y="0"/>
                  </a:lnTo>
                  <a:lnTo>
                    <a:pt x="8096250" y="3663950"/>
                  </a:lnTo>
                  <a:lnTo>
                    <a:pt x="0" y="3663950"/>
                  </a:lnTo>
                  <a:close/>
                </a:path>
              </a:pathLst>
            </a:custGeom>
            <a:solidFill>
              <a:srgbClr val="07171D">
                <a:alpha val="48627"/>
              </a:srgbClr>
            </a:solid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7991667" y="9601465"/>
            <a:ext cx="7778750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PLAYTEST PHOTOGRAPH 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7083" y="12363450"/>
            <a:ext cx="1441979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OUTCOME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487083" y="13626042"/>
            <a:ext cx="14419792" cy="13229"/>
            <a:chOff x="0" y="0"/>
            <a:chExt cx="13843000" cy="12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843000" cy="12700"/>
            </a:xfrm>
            <a:custGeom>
              <a:avLst/>
              <a:gdLst/>
              <a:ahLst/>
              <a:cxnLst/>
              <a:rect r="r" b="b" t="t" l="l"/>
              <a:pathLst>
                <a:path h="12700" w="13843000">
                  <a:moveTo>
                    <a:pt x="0" y="0"/>
                  </a:moveTo>
                  <a:lnTo>
                    <a:pt x="13843000" y="0"/>
                  </a:lnTo>
                  <a:lnTo>
                    <a:pt x="13843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674167" y="12363450"/>
            <a:ext cx="84137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FEEDBACK &amp; NEXT STEPS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674167" y="13626042"/>
            <a:ext cx="8413750" cy="13229"/>
            <a:chOff x="0" y="0"/>
            <a:chExt cx="80772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77200" cy="12700"/>
            </a:xfrm>
            <a:custGeom>
              <a:avLst/>
              <a:gdLst/>
              <a:ahLst/>
              <a:cxnLst/>
              <a:rect r="r" b="b" t="t" l="l"/>
              <a:pathLst>
                <a:path h="127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6681566" cy="14287500"/>
            <a:chOff x="0" y="0"/>
            <a:chExt cx="256143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1430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614303">
                  <a:moveTo>
                    <a:pt x="0" y="0"/>
                  </a:moveTo>
                  <a:lnTo>
                    <a:pt x="25614303" y="0"/>
                  </a:lnTo>
                  <a:lnTo>
                    <a:pt x="2561430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51" r="0" b="-255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95833" y="0"/>
            <a:ext cx="17991667" cy="14287500"/>
            <a:chOff x="0" y="0"/>
            <a:chExt cx="17272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7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272000">
                  <a:moveTo>
                    <a:pt x="0" y="0"/>
                  </a:moveTo>
                  <a:lnTo>
                    <a:pt x="17272000" y="0"/>
                  </a:lnTo>
                  <a:lnTo>
                    <a:pt x="17272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116">
                    <a:alpha val="0"/>
                  </a:srgbClr>
                </a:gs>
                <a:gs pos="18000">
                  <a:srgbClr val="071116">
                    <a:alpha val="86000"/>
                  </a:srgbClr>
                </a:gs>
                <a:gs pos="100000">
                  <a:srgbClr val="071116">
                    <a:alpha val="8600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87500" y="0"/>
            <a:ext cx="7871354" cy="4497917"/>
            <a:chOff x="0" y="0"/>
            <a:chExt cx="7556500" cy="431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565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7556500">
                  <a:moveTo>
                    <a:pt x="0" y="0"/>
                  </a:moveTo>
                  <a:lnTo>
                    <a:pt x="7556500" y="0"/>
                  </a:lnTo>
                  <a:lnTo>
                    <a:pt x="7556500" y="4318000"/>
                  </a:lnTo>
                  <a:lnTo>
                    <a:pt x="0" y="4318000"/>
                  </a:lnTo>
                  <a:close/>
                </a:path>
              </a:pathLst>
            </a:custGeom>
            <a:gradFill rotWithShape="true">
              <a:gsLst>
                <a:gs pos="0">
                  <a:srgbClr val="061014">
                    <a:alpha val="85000"/>
                  </a:srgbClr>
                </a:gs>
                <a:gs pos="100000">
                  <a:srgbClr val="061014">
                    <a:alpha val="0"/>
                  </a:srgbClr>
                </a:gs>
              </a:gsLst>
              <a:lin ang="540000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34167" y="797454"/>
            <a:ext cx="6879167" cy="166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49"/>
              </a:lnSpc>
            </a:pPr>
            <a:r>
              <a:rPr lang="en-US" sz="8958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LETTING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34167" y="2116667"/>
            <a:ext cx="6614583" cy="165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99"/>
              </a:lnSpc>
            </a:pPr>
            <a:r>
              <a:rPr lang="en-US" sz="11249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29792" y="3836458"/>
            <a:ext cx="3836458" cy="1058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A story of growing up</a:t>
            </a:r>
          </a:p>
          <a:p>
            <a:pPr algn="l">
              <a:lnSpc>
                <a:spcPts val="2749"/>
              </a:lnSpc>
            </a:pPr>
            <a:r>
              <a:rPr lang="en-US" sz="2291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and learning to let go.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7083" y="13315950"/>
            <a:ext cx="582083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683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Unity / C#     Windows</a:t>
            </a:r>
          </a:p>
          <a:p>
            <a:pPr algn="l">
              <a:lnSpc>
                <a:spcPts val="35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186458" y="801158"/>
            <a:ext cx="4497917" cy="58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GGJ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46927" y="810683"/>
            <a:ext cx="5953125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979" b="true">
                <a:solidFill>
                  <a:srgbClr val="DDB57B"/>
                </a:solidFill>
                <a:latin typeface="Arial Bold"/>
                <a:ea typeface="Arial Bold"/>
                <a:cs typeface="Arial Bold"/>
                <a:sym typeface="Arial Bold"/>
              </a:rPr>
              <a:t>THEME: GROW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86458" y="1705769"/>
            <a:ext cx="1389062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670" u="sng">
                <a:solidFill>
                  <a:srgbClr val="467886"/>
                </a:solidFill>
                <a:latin typeface="Arial"/>
                <a:ea typeface="Arial"/>
                <a:cs typeface="Arial"/>
                <a:sym typeface="Arial"/>
                <a:hlinkClick r:id="rId3" tooltip="https://globalgamejam.org/games/2026/letting-go-0"/>
              </a:rPr>
              <a:t>globalgamejam.org/games/2026/letting-go-0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6299583" y="612788"/>
            <a:ext cx="1375833" cy="1381112"/>
            <a:chOff x="0" y="0"/>
            <a:chExt cx="1320800" cy="13258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0800" cy="1325880"/>
            </a:xfrm>
            <a:custGeom>
              <a:avLst/>
              <a:gdLst/>
              <a:ahLst/>
              <a:cxnLst/>
              <a:rect r="r" b="b" t="t" l="l"/>
              <a:pathLst>
                <a:path h="1325880" w="1320800">
                  <a:moveTo>
                    <a:pt x="0" y="0"/>
                  </a:moveTo>
                  <a:lnTo>
                    <a:pt x="1320800" y="0"/>
                  </a:lnTo>
                  <a:lnTo>
                    <a:pt x="1320800" y="1325880"/>
                  </a:lnTo>
                  <a:lnTo>
                    <a:pt x="0" y="1325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186458" y="2451100"/>
            <a:ext cx="15742708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908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Letting Go is a 2D side-scrolling narrative game where pressing and releasing a button lets you hold hands, steady your breathing, and support others through life’s defining firsts, growing from a child who needs their parents’ hand into an adult who must let someone else take their first step alone.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186458" y="4619043"/>
            <a:ext cx="10451042" cy="5102344"/>
            <a:chOff x="0" y="0"/>
            <a:chExt cx="10033000" cy="4898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33000" cy="4898263"/>
            </a:xfrm>
            <a:custGeom>
              <a:avLst/>
              <a:gdLst/>
              <a:ahLst/>
              <a:cxnLst/>
              <a:rect r="r" b="b" t="t" l="l"/>
              <a:pathLst>
                <a:path h="4898263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4898263"/>
                  </a:lnTo>
                  <a:lnTo>
                    <a:pt x="0" y="4898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186458" y="9902825"/>
            <a:ext cx="1058333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687">
                <a:solidFill>
                  <a:srgbClr val="DDB57B"/>
                </a:solidFill>
                <a:latin typeface="Georgia"/>
                <a:ea typeface="Georgia"/>
                <a:cs typeface="Georgia"/>
                <a:sym typeface="Georgia"/>
              </a:rPr>
              <a:t>Holding a hand before taking the first step alone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298958" y="4575175"/>
            <a:ext cx="4630208" cy="41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true">
                <a:solidFill>
                  <a:srgbClr val="DDB57B"/>
                </a:solidFill>
                <a:latin typeface="Arial Bold"/>
                <a:ea typeface="Arial Bold"/>
                <a:cs typeface="Arial Bold"/>
                <a:sym typeface="Arial Bold"/>
              </a:rPr>
              <a:t>MY ROLE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298958" y="5149850"/>
            <a:ext cx="4802188" cy="106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Game Designer</a:t>
            </a:r>
          </a:p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&amp; Programmer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298958" y="6684433"/>
            <a:ext cx="4828646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Core interaction design</a:t>
            </a:r>
          </a:p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Unity gameplay systems</a:t>
            </a:r>
          </a:p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Chapter flow and playtest iteration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298958" y="8526992"/>
            <a:ext cx="4894792" cy="38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770" b="true">
                <a:solidFill>
                  <a:srgbClr val="DDB57B"/>
                </a:solidFill>
                <a:latin typeface="Arial Bold"/>
                <a:ea typeface="Arial Bold"/>
                <a:cs typeface="Arial Bold"/>
                <a:sym typeface="Arial Bold"/>
              </a:rPr>
              <a:t>TEAM COLLABORATION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298958" y="9025996"/>
            <a:ext cx="4894792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BCC4C3"/>
                </a:solidFill>
                <a:latin typeface="Arial"/>
                <a:ea typeface="Arial"/>
                <a:cs typeface="Arial"/>
                <a:sym typeface="Arial"/>
              </a:rPr>
              <a:t>Four-person team</a:t>
            </a:r>
          </a:p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BCC4C3"/>
                </a:solidFill>
                <a:latin typeface="Arial"/>
                <a:ea typeface="Arial"/>
                <a:cs typeface="Arial"/>
                <a:sym typeface="Arial"/>
              </a:rPr>
              <a:t>Teammates: visual art,</a:t>
            </a:r>
          </a:p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BCC4C3"/>
                </a:solidFill>
                <a:latin typeface="Arial"/>
                <a:ea typeface="Arial"/>
                <a:cs typeface="Arial"/>
                <a:sym typeface="Arial"/>
              </a:rPr>
              <a:t>music and sound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485702" y="10795000"/>
            <a:ext cx="4481526" cy="2540000"/>
            <a:chOff x="0" y="0"/>
            <a:chExt cx="4302265" cy="2438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02252" cy="2438400"/>
            </a:xfrm>
            <a:custGeom>
              <a:avLst/>
              <a:gdLst/>
              <a:ahLst/>
              <a:cxnLst/>
              <a:rect r="r" b="b" t="t" l="l"/>
              <a:pathLst>
                <a:path h="2438400" w="4302252">
                  <a:moveTo>
                    <a:pt x="0" y="0"/>
                  </a:moveTo>
                  <a:lnTo>
                    <a:pt x="4302252" y="0"/>
                  </a:lnTo>
                  <a:lnTo>
                    <a:pt x="4302252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186458" y="13457767"/>
            <a:ext cx="508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583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First journey alone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5533701" y="10795000"/>
            <a:ext cx="5074695" cy="2540000"/>
            <a:chOff x="0" y="0"/>
            <a:chExt cx="4871707" cy="2438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717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871720">
                  <a:moveTo>
                    <a:pt x="0" y="0"/>
                  </a:moveTo>
                  <a:lnTo>
                    <a:pt x="4871720" y="0"/>
                  </a:lnTo>
                  <a:lnTo>
                    <a:pt x="487172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5531042" y="13457767"/>
            <a:ext cx="508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583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Facing a new chapter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1160462" y="10795000"/>
            <a:ext cx="4510326" cy="2540000"/>
            <a:chOff x="0" y="0"/>
            <a:chExt cx="4329913" cy="243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29938" cy="2438400"/>
            </a:xfrm>
            <a:custGeom>
              <a:avLst/>
              <a:gdLst/>
              <a:ahLst/>
              <a:cxnLst/>
              <a:rect r="r" b="b" t="t" l="l"/>
              <a:pathLst>
                <a:path h="2438400" w="4329938">
                  <a:moveTo>
                    <a:pt x="0" y="0"/>
                  </a:moveTo>
                  <a:lnTo>
                    <a:pt x="4329938" y="0"/>
                  </a:lnTo>
                  <a:lnTo>
                    <a:pt x="4329938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20875625" y="13457767"/>
            <a:ext cx="508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583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Learning to let 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DAHTYp_Glpk</dc:identifier>
  <dcterms:modified xsi:type="dcterms:W3CDTF">2011-08-01T06:04:30Z</dcterms:modified>
  <cp:revision>1</cp:revision>
  <dc:title>Peter_Protfolio</dc:title>
</cp:coreProperties>
</file>
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8575000" cy="14287500"/>
  <p:notesSz cx="6858000" cy="9144000"/>
  <p:embeddedFontLst>
    <p:embeddedFont>
      <p:font typeface="Arial Bold" charset="1" panose="020B0704020202020204"/>
      <p:regular r:id="rId19"/>
    </p:embeddedFont>
    <p:embeddedFont>
      <p:font typeface="Georgia" charset="1" panose="02040502050405020303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https://github.com/JXia0/ToxicBarrier" TargetMode="External" Type="http://schemas.openxmlformats.org/officeDocument/2006/relationships/hyperlink"/><Relationship Type="http://schemas.openxmlformats.org/officeDocument/2006/relationships/image" Target="../media/revision0926_s1_image.png" Id="rId8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Type="http://schemas.openxmlformats.org/officeDocument/2006/relationships/image" Target="../media/portfolio_s3_image.png" Id="rId3"/><Relationship Type="http://schemas.openxmlformats.org/officeDocument/2006/relationships/image" Target="../media/portfolio_s3_image2.png" Id="rId4"/><Relationship Type="http://schemas.openxmlformats.org/officeDocument/2006/relationships/image" Target="../media/portfolio_s3_image3.png" Id="rId5"/><Relationship Type="http://schemas.openxmlformats.org/officeDocument/2006/relationships/image" Target="../media/portfolio_s3_image.jpeg" Id="rId6"/><Relationship Type="http://schemas.openxmlformats.org/officeDocument/2006/relationships/image" Target="../media/revision0926_s3_image2.png" Id="rId7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Type="http://schemas.openxmlformats.org/officeDocument/2006/relationships/image" Target="../media/revision0926_s4_image3.png" Id="rId3"/><Relationship Type="http://schemas.openxmlformats.org/officeDocument/2006/relationships/image" Target="../media/revision0926_s4_image4.png" Id="rId4"/><Relationship Type="http://schemas.openxmlformats.org/officeDocument/2006/relationships/image" Target="../media/revision0926_s4_image5.png" Id="rId5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Relationship Type="http://schemas.openxmlformats.org/officeDocument/2006/relationships/image" Target="../media/portfolio_s5_image2.jpeg" Id="rId11"/><Relationship Type="http://schemas.openxmlformats.org/officeDocument/2006/relationships/image" Target="../media/portfolio_s5_image4.png" Id="rId12"/><Relationship Type="http://schemas.openxmlformats.org/officeDocument/2006/relationships/image" Target="../media/portfolio_s5_image5.png" Id="rId13"/><Relationship Type="http://schemas.openxmlformats.org/officeDocument/2006/relationships/image" Target="../media/portfolio_s5_image6.png" Id="rId14"/><Relationship Type="http://schemas.openxmlformats.org/officeDocument/2006/relationships/image" Target="../media/portfolio_s5_image7.png" Id="rId15"/><Relationship Type="http://schemas.openxmlformats.org/officeDocument/2006/relationships/image" Target="../media/portfolio_s5_image8.png" Id="rId16"/><Relationship Type="http://schemas.openxmlformats.org/officeDocument/2006/relationships/image" Target="../media/portfolio_s5_image9.png" Id="rId17"/><Relationship Type="http://schemas.openxmlformats.org/officeDocument/2006/relationships/image" Target="../media/portfolio_s5_image10.png" Id="rId18"/><Relationship Type="http://schemas.openxmlformats.org/officeDocument/2006/relationships/image" Target="../media/portfolio_s5_image11.png" Id="rId19"/><Relationship Type="http://schemas.openxmlformats.org/officeDocument/2006/relationships/image" Target="../media/portfolio_s5_image12.png" Id="rId20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4.png" Type="http://schemas.openxmlformats.org/officeDocument/2006/relationships/image"/><Relationship Id="rId4" Target="../media/image17.jpe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7.jpe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Type="http://schemas.openxmlformats.org/officeDocument/2006/relationships/image" Target="../media/portfolio_s11_image3.jpeg" Id="rId8"/><Relationship Type="http://schemas.openxmlformats.org/officeDocument/2006/relationships/image" Target="../media/revision0926_s11_image.jpeg" Id="rId9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https://globalgamejam.org/games/2026/letting-go-0" TargetMode="External" Type="http://schemas.openxmlformats.org/officeDocument/2006/relationships/hyperlink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/>
          <p:cNvPicPr>
            <a:picLocks noChangeAspect="1"/>
          </p:cNvPicPr>
          <p:nvPr/>
        </p:nvPicPr>
        <p:blipFill>
          <a:blip r:embed="rId8"/>
          <a:srcRect l="0" t="0" r="0" b="0"/>
          <a:stretch>
            <a:fillRect l="0" t="0" r="0" b="0"/>
          </a:stretch>
        </p:blipFill>
        <p:spPr>
          <a:xfrm>
            <a:off x="0" y="0"/>
            <a:ext cx="28575000" cy="142875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25294167" y="820208"/>
            <a:ext cx="873125" cy="873125"/>
            <a:chOff x="0" y="0"/>
            <a:chExt cx="838200" cy="838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5386771" y="912812"/>
            <a:ext cx="687917" cy="687917"/>
            <a:chOff x="0" y="0"/>
            <a:chExt cx="660400" cy="660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294167" y="2156354"/>
            <a:ext cx="873125" cy="873125"/>
            <a:chOff x="0" y="0"/>
            <a:chExt cx="838200" cy="838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86771" y="2248958"/>
            <a:ext cx="687917" cy="687917"/>
            <a:chOff x="0" y="0"/>
            <a:chExt cx="660400" cy="660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294167" y="3492500"/>
            <a:ext cx="873125" cy="873125"/>
            <a:chOff x="0" y="0"/>
            <a:chExt cx="838200" cy="838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4E9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5386771" y="3585104"/>
            <a:ext cx="687917" cy="687917"/>
            <a:chOff x="0" y="0"/>
            <a:chExt cx="660400" cy="66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60400"/>
                  </a:lnTo>
                  <a:lnTo>
                    <a:pt x="0" y="660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095500" y="9674225"/>
            <a:ext cx="10318750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2D SURVIVAL &amp; TOWER DEFENSE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95500" y="10441517"/>
            <a:ext cx="11575521" cy="245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Toxic fog erupted beneath a medieval kingdom.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The dead rose. Its cities fell.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One tower still holds back the poison.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You are its last defender.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95500" y="13034433"/>
            <a:ext cx="10186458" cy="499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u="sng">
                <a:solidFill>
                  <a:srgbClr val="EDB75E"/>
                </a:solidFill>
                <a:latin typeface="Arial"/>
                <a:ea typeface="Arial"/>
                <a:cs typeface="Arial"/>
                <a:sym typeface="Arial"/>
                <a:hlinkClick r:id="rId7" tooltip="https://github.com/JXia0/ToxicBarrier"/>
              </a:rPr>
              <a:t>github.com/JXia0/ToxicBarrier</a:t>
            </a:r>
          </a:p>
        </p:txBody>
      </p:sp>
      <p:sp>
        <p:nvSpPr>
          <p:cNvPr id="23" name="AI cover disclosure">
            <a:extLst>
              <a:ext uri="{FF2B5EF4-FFF2-40B4-BE49-F238E27FC236}">
                <a16:creationId xmlns:a16="http://schemas.microsoft.com/office/drawing/2014/main" id="{C8F49DBC-B2DA-4B48-93DE-677D3E1C542B}"/>
              </a:ext>
            </a:extLst>
          </p:cNvPr>
          <p:cNvSpPr>
            <a:spLocks noGrp="1"/>
          </p:cNvSpPr>
          <p:nvPr/>
        </p:nvSpPr>
        <p:spPr>
          <a:xfrm>
            <a:off x="20383500" y="136017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Picture Generated by AI</a:t>
            </a:r>
          </a:p>
        </p:txBody>
      </p:sp>
      <p:sp>
        <p:nvSpPr>
          <p:cNvPr id="25" name="Cover title line 1">
            <a:extLst>
              <a:ext uri="{FF2B5EF4-FFF2-40B4-BE49-F238E27FC236}">
                <a16:creationId xmlns:a16="http://schemas.microsoft.com/office/drawing/2014/main" id="{966E8572-5923-4E9B-A1DF-0B98C9167EBC}"/>
              </a:ext>
            </a:extLst>
          </p:cNvPr>
          <p:cNvSpPr>
            <a:spLocks noGrp="1"/>
          </p:cNvSpPr>
          <p:nvPr/>
        </p:nvSpPr>
        <p:spPr>
          <a:xfrm>
            <a:off x="2095500" y="1809750"/>
            <a:ext cx="99060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800" b="1">
                <a:solidFill>
                  <a:srgbClr val="F1E8CE"/>
                </a:solidFill>
                <a:latin typeface="Georgia"/>
                <a:ea typeface="Georgia"/>
                <a:cs typeface="Georgia"/>
              </a:defRPr>
            </a:pPr>
            <a:r>
              <a:rPr sz="13800" b="1">
                <a:solidFill>
                  <a:srgbClr val="F1E8CE"/>
                </a:solidFill>
                <a:latin typeface="Georgia"/>
                <a:ea typeface="Georgia"/>
                <a:cs typeface="Georgia"/>
              </a:rPr>
              <a:t>TOXIC</a:t>
            </a:r>
          </a:p>
        </p:txBody>
      </p:sp>
      <p:sp>
        <p:nvSpPr>
          <p:cNvPr id="26" name="Cover title line 2">
            <a:extLst>
              <a:ext uri="{FF2B5EF4-FFF2-40B4-BE49-F238E27FC236}">
                <a16:creationId xmlns:a16="http://schemas.microsoft.com/office/drawing/2014/main" id="{F71864A0-004C-4450-A936-3856E6657E43}"/>
              </a:ext>
            </a:extLst>
          </p:cNvPr>
          <p:cNvSpPr>
            <a:spLocks noGrp="1"/>
          </p:cNvSpPr>
          <p:nvPr/>
        </p:nvSpPr>
        <p:spPr>
          <a:xfrm>
            <a:off x="2095500" y="3829050"/>
            <a:ext cx="118110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450" b="1">
                <a:solidFill>
                  <a:srgbClr val="EDB75E"/>
                </a:solidFill>
                <a:latin typeface="Georgia"/>
                <a:ea typeface="Georgia"/>
                <a:cs typeface="Georgia"/>
              </a:defRPr>
            </a:pPr>
            <a:r>
              <a:rPr sz="12450" b="1">
                <a:solidFill>
                  <a:srgbClr val="EDB75E"/>
                </a:solidFill>
                <a:latin typeface="Georgia"/>
                <a:ea typeface="Georgia"/>
                <a:cs typeface="Georgia"/>
              </a:rPr>
              <a:t>BARRIER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How to play &amp; game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7083" y="2428346"/>
            <a:ext cx="23151042" cy="7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The player gathers and maneuvers. The allied tower attacks automatically.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87083" y="3546157"/>
            <a:ext cx="14287500" cy="7499456"/>
            <a:chOff x="0" y="0"/>
            <a:chExt cx="13716000" cy="7199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7199503"/>
            </a:xfrm>
            <a:custGeom>
              <a:avLst/>
              <a:gdLst/>
              <a:ahLst/>
              <a:cxnLst/>
              <a:rect r="r" b="b" t="t" l="l"/>
              <a:pathLst>
                <a:path h="7199503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199503"/>
                  </a:lnTo>
                  <a:lnTo>
                    <a:pt x="0" y="7199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859375" y="3588808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Gather &amp; upgrade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59375" y="4545012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Collect four resource types and invest them in the tower.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59375" y="6142037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Lure &amp; survive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59375" y="7098242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Bring enemies into tower range. Break pursuit with cover.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59375" y="8695267"/>
            <a:ext cx="8228542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062">
                <a:solidFill>
                  <a:srgbClr val="E8B66B"/>
                </a:solidFill>
                <a:latin typeface="Georgia"/>
                <a:ea typeface="Georgia"/>
                <a:cs typeface="Georgia"/>
                <a:sym typeface="Georgia"/>
              </a:rPr>
              <a:t>Expand &amp; defend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59375" y="9651471"/>
            <a:ext cx="8069792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Upgrade to unlock regions and bring back repair supplies.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859375" y="11592454"/>
            <a:ext cx="8228542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VICTORY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59375" y="12227454"/>
            <a:ext cx="8069792" cy="1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4E9D2"/>
                </a:solidFill>
                <a:latin typeface="Arial"/>
                <a:ea typeface="Arial"/>
                <a:cs typeface="Arial"/>
                <a:sym typeface="Arial"/>
              </a:rPr>
              <a:t>Tower level 3. All regions and remaining enemies cleared.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1592454"/>
            <a:ext cx="14287500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KEYBOARD CONTROLS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87083" y="12303125"/>
            <a:ext cx="476250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WASD / Arrows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13091054"/>
            <a:ext cx="476250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Move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71354" y="12303125"/>
            <a:ext cx="555625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71354" y="13091054"/>
            <a:ext cx="555625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Upgrade / collect supplies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84792" y="12303125"/>
            <a:ext cx="3175000" cy="66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Esc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84792" y="13091054"/>
            <a:ext cx="3175000" cy="534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Pause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7083" y="1220787"/>
            <a:ext cx="2315104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Level design &amp; progression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083" y="2428346"/>
            <a:ext cx="23151042" cy="759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B9C4C5"/>
                </a:solidFill>
                <a:latin typeface="Arial"/>
                <a:ea typeface="Arial"/>
                <a:cs typeface="Arial"/>
                <a:sym typeface="Arial"/>
              </a:rPr>
              <a:t>Three concentric regions keep the tower central while exploration becomes more demanding.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7500" y="3763962"/>
            <a:ext cx="3914035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01  LEARN THE LOOP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0" y="3763962"/>
            <a:ext cx="4135977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02  LEAVE THE REFUGE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78050" y="3763963"/>
            <a:ext cx="4108234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03  SURVIVE THE SIEGE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26500" y="3763963"/>
            <a:ext cx="4108234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LEVEL DESIGN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1150" y="4971305"/>
            <a:ext cx="5810250" cy="2897090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29600" y="4971305"/>
            <a:ext cx="5810250" cy="2897090"/>
          </a:xfrm>
          <a:prstGeom prst="rect">
            <a:avLst/>
          </a:prstGeom>
        </p:spPr>
      </p:pic>
      <p:sp>
        <p:nvSpPr>
          <p:cNvPr id="16" name="Loop explanation">
            <a:extLst>
              <a:ext uri="{FF2B5EF4-FFF2-40B4-BE49-F238E27FC236}">
                <a16:creationId xmlns:a16="http://schemas.microsoft.com/office/drawing/2014/main" id="{CD7F42C1-C05F-451F-9932-6A0934DDABD4}"/>
              </a:ext>
            </a:extLst>
          </p:cNvPr>
          <p:cNvSpPr>
            <a:spLocks noGrp="1"/>
          </p:cNvSpPr>
          <p:nvPr/>
        </p:nvSpPr>
        <p:spPr>
          <a:xfrm>
            <a:off x="1581150" y="8743950"/>
            <a:ext cx="58102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Gather resources near the tower, then spend them on upgrades. Early waves teach movement and safe returns.</a:t>
            </a:r>
          </a:p>
        </p:txBody>
      </p:sp>
      <p:sp>
        <p:nvSpPr>
          <p:cNvPr id="17" name="Exploration explanation">
            <a:extLst>
              <a:ext uri="{FF2B5EF4-FFF2-40B4-BE49-F238E27FC236}">
                <a16:creationId xmlns:a16="http://schemas.microsoft.com/office/drawing/2014/main" id="{B12052D0-E872-41C7-B9DE-9F9A235EB290}"/>
              </a:ext>
            </a:extLst>
          </p:cNvPr>
          <p:cNvSpPr>
            <a:spLocks noGrp="1"/>
          </p:cNvSpPr>
          <p:nvPr/>
        </p:nvSpPr>
        <p:spPr>
          <a:xfrm>
            <a:off x="8229600" y="8743950"/>
            <a:ext cx="5810250" cy="2609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Tower level 2 opens the next ring. Travel beyond safety for supplies, using buildings to break pursuit.</a:t>
            </a:r>
          </a:p>
        </p:txBody>
      </p:sp>
      <p:sp>
        <p:nvSpPr>
          <p:cNvPr id="18" name="Siege explanation">
            <a:extLst>
              <a:ext uri="{FF2B5EF4-FFF2-40B4-BE49-F238E27FC236}">
                <a16:creationId xmlns:a16="http://schemas.microsoft.com/office/drawing/2014/main" id="{4B116E75-6FB1-49B3-9788-B0906121C899}"/>
              </a:ext>
            </a:extLst>
          </p:cNvPr>
          <p:cNvSpPr>
            <a:spLocks noGrp="1"/>
          </p:cNvSpPr>
          <p:nvPr/>
        </p:nvSpPr>
        <p:spPr>
          <a:xfrm>
            <a:off x="14878050" y="8743950"/>
            <a:ext cx="5810250" cy="2952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A fully upgraded tower anchors the final defense. Keep it standing while clearing the remaining waves.</a:t>
            </a:r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Id6"/>
          <a:srcRect l="97" t="0" r="97" b="0"/>
          <a:stretch>
            <a:fillRect l="0" t="0" r="0" b="0"/>
          </a:stretch>
        </p:blipFill>
        <p:spPr>
          <a:xfrm rot="16200000">
            <a:off x="22717125" y="3419475"/>
            <a:ext cx="3048000" cy="5429250"/>
          </a:xfrm>
          <a:prstGeom prst="rect">
            <a:avLst/>
          </a:prstGeom>
        </p:spPr>
      </p:pic>
      <p:sp>
        <p:nvSpPr>
          <p:cNvPr id="20" name="Original sketch label">
            <a:extLst>
              <a:ext uri="{FF2B5EF4-FFF2-40B4-BE49-F238E27FC236}">
                <a16:creationId xmlns:a16="http://schemas.microsoft.com/office/drawing/2014/main" id="{1ECBD8A2-153C-4781-98B2-AD325874CFFD}"/>
              </a:ext>
            </a:extLst>
          </p:cNvPr>
          <p:cNvSpPr>
            <a:spLocks noGrp="1"/>
          </p:cNvSpPr>
          <p:nvPr/>
        </p:nvSpPr>
        <p:spPr>
          <a:xfrm>
            <a:off x="21526500" y="7829550"/>
            <a:ext cx="5429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MY ORIGINAL SKETCH</a:t>
            </a:r>
          </a:p>
        </p:txBody>
      </p:sp>
      <p:sp>
        <p:nvSpPr>
          <p:cNvPr id="21" name="Region 3">
            <a:extLst>
              <a:ext uri="{FF2B5EF4-FFF2-40B4-BE49-F238E27FC236}">
                <a16:creationId xmlns:a16="http://schemas.microsoft.com/office/drawing/2014/main" id="{D438913B-E404-4F96-B80E-4BC422FB897B}"/>
              </a:ext>
            </a:extLst>
          </p:cNvPr>
          <p:cNvSpPr>
            <a:spLocks noGrp="1"/>
          </p:cNvSpPr>
          <p:nvPr/>
        </p:nvSpPr>
        <p:spPr>
          <a:xfrm>
            <a:off x="21526500" y="8591550"/>
            <a:ext cx="2819400" cy="2819400"/>
          </a:xfrm>
          <a:prstGeom prst="ellipse">
            <a:avLst/>
          </a:prstGeom>
          <a:solidFill>
            <a:srgbClr val="49303F"/>
          </a:solidFill>
          <a:ln w="17145">
            <a:solidFill>
              <a:srgbClr val="8392B4"/>
            </a:solidFill>
          </a:ln>
        </p:spPr>
      </p:sp>
      <p:sp>
        <p:nvSpPr>
          <p:cNvPr id="22" name="Region 2">
            <a:extLst>
              <a:ext uri="{FF2B5EF4-FFF2-40B4-BE49-F238E27FC236}">
                <a16:creationId xmlns:a16="http://schemas.microsoft.com/office/drawing/2014/main" id="{71D1F57F-1A9D-44C7-998A-7912DA38B3AA}"/>
              </a:ext>
            </a:extLst>
          </p:cNvPr>
          <p:cNvSpPr>
            <a:spLocks noGrp="1"/>
          </p:cNvSpPr>
          <p:nvPr/>
        </p:nvSpPr>
        <p:spPr>
          <a:xfrm>
            <a:off x="21964650" y="9029700"/>
            <a:ext cx="1943100" cy="1943100"/>
          </a:xfrm>
          <a:prstGeom prst="ellipse">
            <a:avLst/>
          </a:prstGeom>
          <a:solidFill>
            <a:srgbClr val="214548"/>
          </a:solidFill>
          <a:ln w="17145">
            <a:solidFill>
              <a:srgbClr val="8BB4AA"/>
            </a:solidFill>
          </a:ln>
        </p:spPr>
      </p:sp>
      <p:sp>
        <p:nvSpPr>
          <p:cNvPr id="23" name="Region 1">
            <a:extLst>
              <a:ext uri="{FF2B5EF4-FFF2-40B4-BE49-F238E27FC236}">
                <a16:creationId xmlns:a16="http://schemas.microsoft.com/office/drawing/2014/main" id="{05A2C634-CC82-4473-ADAF-E79E1F78B619}"/>
              </a:ext>
            </a:extLst>
          </p:cNvPr>
          <p:cNvSpPr>
            <a:spLocks noGrp="1"/>
          </p:cNvSpPr>
          <p:nvPr/>
        </p:nvSpPr>
        <p:spPr>
          <a:xfrm>
            <a:off x="22440900" y="9505950"/>
            <a:ext cx="990600" cy="990600"/>
          </a:xfrm>
          <a:prstGeom prst="ellipse">
            <a:avLst/>
          </a:prstGeom>
          <a:solidFill>
            <a:srgbClr val="75613E"/>
          </a:solidFill>
          <a:ln w="17145">
            <a:solidFill>
              <a:srgbClr val="EDB75E"/>
            </a:solidFill>
          </a:ln>
        </p:spPr>
      </p:sp>
      <p:sp>
        <p:nvSpPr>
          <p:cNvPr id="24" name="Allied tower">
            <a:extLst>
              <a:ext uri="{FF2B5EF4-FFF2-40B4-BE49-F238E27FC236}">
                <a16:creationId xmlns:a16="http://schemas.microsoft.com/office/drawing/2014/main" id="{F463603A-FE3E-4A6F-AC70-E8FFD7559DE4}"/>
              </a:ext>
            </a:extLst>
          </p:cNvPr>
          <p:cNvSpPr>
            <a:spLocks noGrp="1"/>
          </p:cNvSpPr>
          <p:nvPr/>
        </p:nvSpPr>
        <p:spPr>
          <a:xfrm>
            <a:off x="22860000" y="9925050"/>
            <a:ext cx="152400" cy="152400"/>
          </a:xfrm>
          <a:prstGeom prst="rect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25" name="Region legend">
            <a:extLst>
              <a:ext uri="{FF2B5EF4-FFF2-40B4-BE49-F238E27FC236}">
                <a16:creationId xmlns:a16="http://schemas.microsoft.com/office/drawing/2014/main" id="{1CA07BBE-3C86-4C90-98E6-C5CC3709926A}"/>
              </a:ext>
            </a:extLst>
          </p:cNvPr>
          <p:cNvSpPr>
            <a:spLocks noGrp="1"/>
          </p:cNvSpPr>
          <p:nvPr/>
        </p:nvSpPr>
        <p:spPr>
          <a:xfrm>
            <a:off x="24555450" y="8934450"/>
            <a:ext cx="24193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1  Refuge</a:t>
            </a:r>
          </a:p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2  Outer ring</a:t>
            </a:r>
          </a:p>
          <a:p>
            <a:pPr algn="l">
              <a:defRPr sz="21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3  Final siege</a:t>
            </a:r>
          </a:p>
        </p:txBody>
      </p:sp>
      <p:sp>
        <p:nvSpPr>
          <p:cNvPr id="26" name="Fog gating note">
            <a:extLst>
              <a:ext uri="{FF2B5EF4-FFF2-40B4-BE49-F238E27FC236}">
                <a16:creationId xmlns:a16="http://schemas.microsoft.com/office/drawing/2014/main" id="{17330F09-76CA-4683-B4F9-85331F900B62}"/>
              </a:ext>
            </a:extLst>
          </p:cNvPr>
          <p:cNvSpPr>
            <a:spLocks noGrp="1"/>
          </p:cNvSpPr>
          <p:nvPr/>
        </p:nvSpPr>
        <p:spPr>
          <a:xfrm>
            <a:off x="24555450" y="10534650"/>
            <a:ext cx="24193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Fog limits access</a:t>
            </a:r>
          </a:p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until tower upgrades.</a:t>
            </a:r>
          </a:p>
        </p:txBody>
      </p:sp>
      <p:sp>
        <p:nvSpPr>
          <p:cNvPr id="27" name="Progression step 0">
            <a:extLst>
              <a:ext uri="{FF2B5EF4-FFF2-40B4-BE49-F238E27FC236}">
                <a16:creationId xmlns:a16="http://schemas.microsoft.com/office/drawing/2014/main" id="{BF2168D6-E3E0-428E-B0D2-63A194DEC7A9}"/>
              </a:ext>
            </a:extLst>
          </p:cNvPr>
          <p:cNvSpPr>
            <a:spLocks noGrp="1"/>
          </p:cNvSpPr>
          <p:nvPr/>
        </p:nvSpPr>
        <p:spPr>
          <a:xfrm>
            <a:off x="2152650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28" name="Progression label 0">
            <a:extLst>
              <a:ext uri="{FF2B5EF4-FFF2-40B4-BE49-F238E27FC236}">
                <a16:creationId xmlns:a16="http://schemas.microsoft.com/office/drawing/2014/main" id="{C472B185-9B90-4A46-B609-D5F11C44067E}"/>
              </a:ext>
            </a:extLst>
          </p:cNvPr>
          <p:cNvSpPr>
            <a:spLocks noGrp="1"/>
          </p:cNvSpPr>
          <p:nvPr/>
        </p:nvSpPr>
        <p:spPr>
          <a:xfrm>
            <a:off x="2160270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Gather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9" name="Progression arrow 0">
            <a:extLst>
              <a:ext uri="{FF2B5EF4-FFF2-40B4-BE49-F238E27FC236}">
                <a16:creationId xmlns:a16="http://schemas.microsoft.com/office/drawing/2014/main" id="{67297094-1078-4F67-AC17-13E2D25EF1D0}"/>
              </a:ext>
            </a:extLst>
          </p:cNvPr>
          <p:cNvSpPr>
            <a:spLocks noGrp="1"/>
          </p:cNvSpPr>
          <p:nvPr/>
        </p:nvSpPr>
        <p:spPr>
          <a:xfrm>
            <a:off x="23221950" y="12439650"/>
            <a:ext cx="171450" cy="209550"/>
          </a:xfrm>
          <a:prstGeom prst="rightArrow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30" name="Progression step 1">
            <a:extLst>
              <a:ext uri="{FF2B5EF4-FFF2-40B4-BE49-F238E27FC236}">
                <a16:creationId xmlns:a16="http://schemas.microsoft.com/office/drawing/2014/main" id="{45D910F6-6702-412D-A77A-130BD29871D0}"/>
              </a:ext>
            </a:extLst>
          </p:cNvPr>
          <p:cNvSpPr>
            <a:spLocks noGrp="1"/>
          </p:cNvSpPr>
          <p:nvPr/>
        </p:nvSpPr>
        <p:spPr>
          <a:xfrm>
            <a:off x="2341245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31" name="Progression label 1">
            <a:extLst>
              <a:ext uri="{FF2B5EF4-FFF2-40B4-BE49-F238E27FC236}">
                <a16:creationId xmlns:a16="http://schemas.microsoft.com/office/drawing/2014/main" id="{D7D301D5-A8A9-4570-8037-E56D50BE358E}"/>
              </a:ext>
            </a:extLst>
          </p:cNvPr>
          <p:cNvSpPr>
            <a:spLocks noGrp="1"/>
          </p:cNvSpPr>
          <p:nvPr/>
        </p:nvSpPr>
        <p:spPr>
          <a:xfrm>
            <a:off x="2348865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Upgrade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the tower</a:t>
            </a:r>
          </a:p>
        </p:txBody>
      </p:sp>
      <p:sp>
        <p:nvSpPr>
          <p:cNvPr id="32" name="Progression arrow 1">
            <a:extLst>
              <a:ext uri="{FF2B5EF4-FFF2-40B4-BE49-F238E27FC236}">
                <a16:creationId xmlns:a16="http://schemas.microsoft.com/office/drawing/2014/main" id="{310DADC6-4A27-4C82-A64D-9306B6B4A87F}"/>
              </a:ext>
            </a:extLst>
          </p:cNvPr>
          <p:cNvSpPr>
            <a:spLocks noGrp="1"/>
          </p:cNvSpPr>
          <p:nvPr/>
        </p:nvSpPr>
        <p:spPr>
          <a:xfrm>
            <a:off x="25107900" y="12439650"/>
            <a:ext cx="171450" cy="209550"/>
          </a:xfrm>
          <a:prstGeom prst="rightArrow">
            <a:avLst/>
          </a:prstGeom>
          <a:solidFill>
            <a:srgbClr val="EDB75E"/>
          </a:solidFill>
          <a:ln w="17145">
            <a:solidFill>
              <a:srgbClr val="EDB75E"/>
            </a:solidFill>
          </a:ln>
        </p:spPr>
      </p:sp>
      <p:sp>
        <p:nvSpPr>
          <p:cNvPr id="33" name="Progression step 2">
            <a:extLst>
              <a:ext uri="{FF2B5EF4-FFF2-40B4-BE49-F238E27FC236}">
                <a16:creationId xmlns:a16="http://schemas.microsoft.com/office/drawing/2014/main" id="{86A6C864-9E49-4238-9E69-5C85FF5B6247}"/>
              </a:ext>
            </a:extLst>
          </p:cNvPr>
          <p:cNvSpPr>
            <a:spLocks noGrp="1"/>
          </p:cNvSpPr>
          <p:nvPr/>
        </p:nvSpPr>
        <p:spPr>
          <a:xfrm>
            <a:off x="25298400" y="12115800"/>
            <a:ext cx="1657350" cy="895350"/>
          </a:xfrm>
          <a:prstGeom prst="rect">
            <a:avLst/>
          </a:prstGeom>
          <a:solidFill>
            <a:srgbClr val="11252A"/>
          </a:solidFill>
          <a:ln w="10478">
            <a:solidFill>
              <a:srgbClr val="EDB75E"/>
            </a:solidFill>
          </a:ln>
        </p:spPr>
      </p:sp>
      <p:sp>
        <p:nvSpPr>
          <p:cNvPr id="34" name="Progression label 2">
            <a:extLst>
              <a:ext uri="{FF2B5EF4-FFF2-40B4-BE49-F238E27FC236}">
                <a16:creationId xmlns:a16="http://schemas.microsoft.com/office/drawing/2014/main" id="{2EDD79DC-4645-4C96-B717-644EF3E1A085}"/>
              </a:ext>
            </a:extLst>
          </p:cNvPr>
          <p:cNvSpPr>
            <a:spLocks noGrp="1"/>
          </p:cNvSpPr>
          <p:nvPr/>
        </p:nvSpPr>
        <p:spPr>
          <a:xfrm>
            <a:off x="25374600" y="12230100"/>
            <a:ext cx="1504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Unlock</a:t>
            </a:r>
          </a:p>
          <a:p>
            <a:pPr algn="ctr">
              <a:defRPr sz="19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next ring</a:t>
            </a:r>
          </a:p>
        </p:txBody>
      </p:sp>
      <p:sp>
        <p:nvSpPr>
          <p:cNvPr id="35" name="Region 1 caption">
            <a:extLst>
              <a:ext uri="{FF2B5EF4-FFF2-40B4-BE49-F238E27FC236}">
                <a16:creationId xmlns:a16="http://schemas.microsoft.com/office/drawing/2014/main" id="{C48ACDE8-37C6-41A2-9763-4FAE5161046A}"/>
              </a:ext>
            </a:extLst>
          </p:cNvPr>
          <p:cNvSpPr>
            <a:spLocks noGrp="1"/>
          </p:cNvSpPr>
          <p:nvPr/>
        </p:nvSpPr>
        <p:spPr>
          <a:xfrm>
            <a:off x="158115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1 / SAFE RETURNS</a:t>
            </a:r>
          </a:p>
        </p:txBody>
      </p:sp>
      <p:sp>
        <p:nvSpPr>
          <p:cNvPr id="36" name="Region 2 caption">
            <a:extLst>
              <a:ext uri="{FF2B5EF4-FFF2-40B4-BE49-F238E27FC236}">
                <a16:creationId xmlns:a16="http://schemas.microsoft.com/office/drawing/2014/main" id="{553D3D65-E0FF-4BBF-B3C7-7D05514C0EC2}"/>
              </a:ext>
            </a:extLst>
          </p:cNvPr>
          <p:cNvSpPr>
            <a:spLocks noGrp="1"/>
          </p:cNvSpPr>
          <p:nvPr/>
        </p:nvSpPr>
        <p:spPr>
          <a:xfrm>
            <a:off x="822960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2 / RISK AND REWARD</a:t>
            </a:r>
          </a:p>
        </p:txBody>
      </p:sp>
      <p:sp>
        <p:nvSpPr>
          <p:cNvPr id="37" name="Region 3 caption">
            <a:extLst>
              <a:ext uri="{FF2B5EF4-FFF2-40B4-BE49-F238E27FC236}">
                <a16:creationId xmlns:a16="http://schemas.microsoft.com/office/drawing/2014/main" id="{F9AAA3CE-7AAD-406E-8BBC-B24A1E5F6902}"/>
              </a:ext>
            </a:extLst>
          </p:cNvPr>
          <p:cNvSpPr>
            <a:spLocks noGrp="1"/>
          </p:cNvSpPr>
          <p:nvPr/>
        </p:nvSpPr>
        <p:spPr>
          <a:xfrm>
            <a:off x="14878050" y="12287250"/>
            <a:ext cx="581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REGION 3 / FINAL DEFENSE</a:t>
            </a:r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4878050" y="4974161"/>
            <a:ext cx="5810250" cy="2891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Code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8" name="System heading 0">
            <a:extLst>
              <a:ext uri="{FF2B5EF4-FFF2-40B4-BE49-F238E27FC236}">
                <a16:creationId xmlns:a16="http://schemas.microsoft.com/office/drawing/2014/main" id="{C3E00208-1B39-408E-A10D-448F5A6AB474}"/>
              </a:ext>
            </a:extLst>
          </p:cNvPr>
          <p:cNvSpPr>
            <a:spLocks noGrp="1"/>
          </p:cNvSpPr>
          <p:nvPr/>
        </p:nvSpPr>
        <p:spPr>
          <a:xfrm>
            <a:off x="2514600" y="3543300"/>
            <a:ext cx="7353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01  TOWER PROGRESSION</a:t>
            </a:r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14600" y="4742624"/>
            <a:ext cx="7353300" cy="3659253"/>
          </a:xfrm>
          <a:prstGeom prst="rect">
            <a:avLst/>
          </a:prstGeom>
        </p:spPr>
      </p:pic>
      <p:sp>
        <p:nvSpPr>
          <p:cNvPr id="10" name="System summary 0">
            <a:extLst>
              <a:ext uri="{FF2B5EF4-FFF2-40B4-BE49-F238E27FC236}">
                <a16:creationId xmlns:a16="http://schemas.microsoft.com/office/drawing/2014/main" id="{EA09F1E6-6FB8-441B-8648-F6D6A72AEFB4}"/>
              </a:ext>
            </a:extLst>
          </p:cNvPr>
          <p:cNvSpPr>
            <a:spLocks noGrp="1"/>
          </p:cNvSpPr>
          <p:nvPr/>
        </p:nvSpPr>
        <p:spPr>
          <a:xfrm>
            <a:off x="2514600" y="9201150"/>
            <a:ext cx="73533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Resources strengthen the tower and unlock new regions.</a:t>
            </a:r>
          </a:p>
        </p:txBody>
      </p:sp>
      <p:sp>
        <p:nvSpPr>
          <p:cNvPr id="11" name="Representative scripts 0">
            <a:extLst>
              <a:ext uri="{FF2B5EF4-FFF2-40B4-BE49-F238E27FC236}">
                <a16:creationId xmlns:a16="http://schemas.microsoft.com/office/drawing/2014/main" id="{8D061E97-24E8-450C-ABAB-38A80574E5D1}"/>
              </a:ext>
            </a:extLst>
          </p:cNvPr>
          <p:cNvSpPr>
            <a:spLocks noGrp="1"/>
          </p:cNvSpPr>
          <p:nvPr/>
        </p:nvSpPr>
        <p:spPr>
          <a:xfrm>
            <a:off x="2514600" y="11620500"/>
            <a:ext cx="73533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Tower.cs</a:t>
            </a:r>
          </a:p>
          <a:p>
            <a:pPr algn="l">
              <a:defRPr sz="25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MapController.cs</a:t>
            </a:r>
          </a:p>
        </p:txBody>
      </p:sp>
      <p:sp>
        <p:nvSpPr>
          <p:cNvPr id="12" name="System heading 1">
            <a:extLst>
              <a:ext uri="{FF2B5EF4-FFF2-40B4-BE49-F238E27FC236}">
                <a16:creationId xmlns:a16="http://schemas.microsoft.com/office/drawing/2014/main" id="{A03153B0-0555-4CD0-B657-C873DF762789}"/>
              </a:ext>
            </a:extLst>
          </p:cNvPr>
          <p:cNvSpPr>
            <a:spLocks noGrp="1"/>
          </p:cNvSpPr>
          <p:nvPr/>
        </p:nvSpPr>
        <p:spPr>
          <a:xfrm>
            <a:off x="10591800" y="3543300"/>
            <a:ext cx="7353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02  EXPLORATION</a:t>
            </a:r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4739009"/>
            <a:ext cx="7353300" cy="3666481"/>
          </a:xfrm>
          <a:prstGeom prst="rect">
            <a:avLst/>
          </a:prstGeom>
        </p:spPr>
      </p:pic>
      <p:sp>
        <p:nvSpPr>
          <p:cNvPr id="14" name="System summary 1">
            <a:extLst>
              <a:ext uri="{FF2B5EF4-FFF2-40B4-BE49-F238E27FC236}">
                <a16:creationId xmlns:a16="http://schemas.microsoft.com/office/drawing/2014/main" id="{1D5D9D74-1536-4880-A566-924FF7311BCB}"/>
              </a:ext>
            </a:extLst>
          </p:cNvPr>
          <p:cNvSpPr>
            <a:spLocks noGrp="1"/>
          </p:cNvSpPr>
          <p:nvPr/>
        </p:nvSpPr>
        <p:spPr>
          <a:xfrm>
            <a:off x="10591800" y="9201150"/>
            <a:ext cx="73533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Buildings create detours. Supplies reward leaving safety.</a:t>
            </a:r>
          </a:p>
        </p:txBody>
      </p:sp>
      <p:sp>
        <p:nvSpPr>
          <p:cNvPr id="15" name="Representative scripts 1">
            <a:extLst>
              <a:ext uri="{FF2B5EF4-FFF2-40B4-BE49-F238E27FC236}">
                <a16:creationId xmlns:a16="http://schemas.microsoft.com/office/drawing/2014/main" id="{AB03E5B2-0C37-4C7D-977F-FF3A3505C341}"/>
              </a:ext>
            </a:extLst>
          </p:cNvPr>
          <p:cNvSpPr>
            <a:spLocks noGrp="1"/>
          </p:cNvSpPr>
          <p:nvPr/>
        </p:nvSpPr>
        <p:spPr>
          <a:xfrm>
            <a:off x="10591800" y="11620500"/>
            <a:ext cx="73533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ExplorationSupply.cs</a:t>
            </a:r>
          </a:p>
          <a:p>
            <a:pPr algn="l">
              <a:defRPr sz="25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TowerNavigationFootprint.cs</a:t>
            </a:r>
          </a:p>
        </p:txBody>
      </p:sp>
      <p:sp>
        <p:nvSpPr>
          <p:cNvPr id="16" name="System heading 2">
            <a:extLst>
              <a:ext uri="{FF2B5EF4-FFF2-40B4-BE49-F238E27FC236}">
                <a16:creationId xmlns:a16="http://schemas.microsoft.com/office/drawing/2014/main" id="{B821F634-E51A-48A0-AF68-C3312098F598}"/>
              </a:ext>
            </a:extLst>
          </p:cNvPr>
          <p:cNvSpPr>
            <a:spLocks noGrp="1"/>
          </p:cNvSpPr>
          <p:nvPr/>
        </p:nvSpPr>
        <p:spPr>
          <a:xfrm>
            <a:off x="18669000" y="3543300"/>
            <a:ext cx="73533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03  GAME FLOW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8669000" y="4739009"/>
            <a:ext cx="7353300" cy="3666481"/>
          </a:xfrm>
          <a:prstGeom prst="rect">
            <a:avLst/>
          </a:prstGeom>
        </p:spPr>
      </p:pic>
      <p:sp>
        <p:nvSpPr>
          <p:cNvPr id="18" name="System summary 2">
            <a:extLst>
              <a:ext uri="{FF2B5EF4-FFF2-40B4-BE49-F238E27FC236}">
                <a16:creationId xmlns:a16="http://schemas.microsoft.com/office/drawing/2014/main" id="{6FA8B888-2F6C-4A90-BFE0-A317C05113F8}"/>
              </a:ext>
            </a:extLst>
          </p:cNvPr>
          <p:cNvSpPr>
            <a:spLocks noGrp="1"/>
          </p:cNvSpPr>
          <p:nvPr/>
        </p:nvSpPr>
        <p:spPr>
          <a:xfrm>
            <a:off x="18669000" y="9201150"/>
            <a:ext cx="73533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A shared game state controls starting, pausing and restarting.</a:t>
            </a:r>
          </a:p>
        </p:txBody>
      </p:sp>
      <p:sp>
        <p:nvSpPr>
          <p:cNvPr id="19" name="Representative scripts 2">
            <a:extLst>
              <a:ext uri="{FF2B5EF4-FFF2-40B4-BE49-F238E27FC236}">
                <a16:creationId xmlns:a16="http://schemas.microsoft.com/office/drawing/2014/main" id="{84CB8A6C-B27A-41FF-8AD5-E13A0C3FC426}"/>
              </a:ext>
            </a:extLst>
          </p:cNvPr>
          <p:cNvSpPr>
            <a:spLocks noGrp="1"/>
          </p:cNvSpPr>
          <p:nvPr/>
        </p:nvSpPr>
        <p:spPr>
          <a:xfrm>
            <a:off x="18669000" y="11620500"/>
            <a:ext cx="73533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GameFlowManager.cs</a:t>
            </a:r>
          </a:p>
          <a:p>
            <a:pPr algn="l">
              <a:defRPr sz="25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GameFlowUI.cs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Visual Development  Process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44" name="Art authorship">
            <a:extLst>
              <a:ext uri="{FF2B5EF4-FFF2-40B4-BE49-F238E27FC236}">
                <a16:creationId xmlns:a16="http://schemas.microsoft.com/office/drawing/2014/main" id="{8B5C8791-E938-4195-A4A5-13303C50D668}"/>
              </a:ext>
            </a:extLst>
          </p:cNvPr>
          <p:cNvSpPr>
            <a:spLocks noGrp="1"/>
          </p:cNvSpPr>
          <p:nvPr/>
        </p:nvSpPr>
        <p:spPr>
          <a:xfrm>
            <a:off x="2514600" y="2552700"/>
            <a:ext cx="235839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I direct the artwork through prompts, sketches and references, then select and refine AI-generated results.</a:t>
            </a:r>
          </a:p>
        </p:txBody>
      </p:sp>
      <p:sp>
        <p:nvSpPr>
          <p:cNvPr id="45" name="Art stage 0">
            <a:extLst>
              <a:ext uri="{FF2B5EF4-FFF2-40B4-BE49-F238E27FC236}">
                <a16:creationId xmlns:a16="http://schemas.microsoft.com/office/drawing/2014/main" id="{3A360DB2-7D28-4877-A3BB-FB86722F605D}"/>
              </a:ext>
            </a:extLst>
          </p:cNvPr>
          <p:cNvSpPr>
            <a:spLocks noGrp="1"/>
          </p:cNvSpPr>
          <p:nvPr/>
        </p:nvSpPr>
        <p:spPr>
          <a:xfrm>
            <a:off x="25146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01  PROMPT &amp; SKETCH</a:t>
            </a:r>
          </a:p>
        </p:txBody>
      </p:sp>
      <p:sp>
        <p:nvSpPr>
          <p:cNvPr id="46" name="Art stage 1">
            <a:extLst>
              <a:ext uri="{FF2B5EF4-FFF2-40B4-BE49-F238E27FC236}">
                <a16:creationId xmlns:a16="http://schemas.microsoft.com/office/drawing/2014/main" id="{2F2279A6-C815-44BD-BD9F-567BA9D9751C}"/>
              </a:ext>
            </a:extLst>
          </p:cNvPr>
          <p:cNvSpPr>
            <a:spLocks noGrp="1"/>
          </p:cNvSpPr>
          <p:nvPr/>
        </p:nvSpPr>
        <p:spPr>
          <a:xfrm>
            <a:off x="10477500" y="3981450"/>
            <a:ext cx="6953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02  REFERENCE &amp; GENERATE</a:t>
            </a:r>
          </a:p>
        </p:txBody>
      </p:sp>
      <p:sp>
        <p:nvSpPr>
          <p:cNvPr id="47" name="Art stage 2">
            <a:extLst>
              <a:ext uri="{FF2B5EF4-FFF2-40B4-BE49-F238E27FC236}">
                <a16:creationId xmlns:a16="http://schemas.microsoft.com/office/drawing/2014/main" id="{0A35595F-9DAC-46FD-91B3-9253E83B6D10}"/>
              </a:ext>
            </a:extLst>
          </p:cNvPr>
          <p:cNvSpPr>
            <a:spLocks noGrp="1"/>
          </p:cNvSpPr>
          <p:nvPr/>
        </p:nvSpPr>
        <p:spPr>
          <a:xfrm>
            <a:off x="18516600" y="398145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03  REVIEW &amp; INTEGRATE</a:t>
            </a:r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 r:embed="rId11"/>
          <a:srcRect l="0" t="2474" r="0" b="2474"/>
          <a:stretch>
            <a:fillRect l="0" t="0" r="0" b="0"/>
          </a:stretch>
        </p:blipFill>
        <p:spPr>
          <a:xfrm rot="16200000">
            <a:off x="3933825" y="3495675"/>
            <a:ext cx="4114800" cy="6953250"/>
          </a:xfrm>
          <a:prstGeom prst="rect">
            <a:avLst/>
          </a:prstGeom>
        </p:spPr>
      </p:pic>
      <p:sp>
        <p:nvSpPr>
          <p:cNvPr id="49" name="Tower sketch caption">
            <a:extLst>
              <a:ext uri="{FF2B5EF4-FFF2-40B4-BE49-F238E27FC236}">
                <a16:creationId xmlns:a16="http://schemas.microsoft.com/office/drawing/2014/main" id="{B399A168-E1FC-4EB0-9D3A-07D4B2AAE971}"/>
              </a:ext>
            </a:extLst>
          </p:cNvPr>
          <p:cNvSpPr>
            <a:spLocks noGrp="1"/>
          </p:cNvSpPr>
          <p:nvPr/>
        </p:nvSpPr>
        <p:spPr>
          <a:xfrm>
            <a:off x="2514600" y="9277350"/>
            <a:ext cx="6953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EARLY TOWER AND RESOURCE CONCEPT</a:t>
            </a:r>
          </a:p>
        </p:txBody>
      </p:sp>
      <p:sp>
        <p:nvSpPr>
          <p:cNvPr id="50" name="Original art prompt">
            <a:extLst>
              <a:ext uri="{FF2B5EF4-FFF2-40B4-BE49-F238E27FC236}">
                <a16:creationId xmlns:a16="http://schemas.microsoft.com/office/drawing/2014/main" id="{9917145A-2D99-48EB-AC68-D9574EE19B98}"/>
              </a:ext>
            </a:extLst>
          </p:cNvPr>
          <p:cNvSpPr>
            <a:spLocks noGrp="1"/>
          </p:cNvSpPr>
          <p:nvPr/>
        </p:nvSpPr>
        <p:spPr>
          <a:xfrm>
            <a:off x="2514600" y="10115550"/>
            <a:ext cx="6953250" cy="7620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1" name="Original art prompt label">
            <a:extLst>
              <a:ext uri="{FF2B5EF4-FFF2-40B4-BE49-F238E27FC236}">
                <a16:creationId xmlns:a16="http://schemas.microsoft.com/office/drawing/2014/main" id="{A5DC2D71-D225-496F-9F85-979C58C7B0A7}"/>
              </a:ext>
            </a:extLst>
          </p:cNvPr>
          <p:cNvSpPr>
            <a:spLocks noGrp="1"/>
          </p:cNvSpPr>
          <p:nvPr/>
        </p:nvSpPr>
        <p:spPr>
          <a:xfrm>
            <a:off x="2743200" y="10267950"/>
            <a:ext cx="649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ORIGINAL PROMPT</a:t>
            </a:r>
          </a:p>
        </p:txBody>
      </p:sp>
      <p:sp>
        <p:nvSpPr>
          <p:cNvPr id="52" name="Art direction explanation">
            <a:extLst>
              <a:ext uri="{FF2B5EF4-FFF2-40B4-BE49-F238E27FC236}">
                <a16:creationId xmlns:a16="http://schemas.microsoft.com/office/drawing/2014/main" id="{C57E5D90-EFA1-4F5B-8311-1FC467736C64}"/>
              </a:ext>
            </a:extLst>
          </p:cNvPr>
          <p:cNvSpPr>
            <a:spLocks noGrp="1"/>
          </p:cNvSpPr>
          <p:nvPr/>
        </p:nvSpPr>
        <p:spPr>
          <a:xfrm>
            <a:off x="2514600" y="11334750"/>
            <a:ext cx="69532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My sketch explores the tower silhouette as it grows, alongside wood, stone, gel and teeth.</a:t>
            </a:r>
          </a:p>
        </p:txBody>
      </p:sp>
      <p:sp>
        <p:nvSpPr>
          <p:cNvPr id="53" name="External style references">
            <a:extLst>
              <a:ext uri="{FF2B5EF4-FFF2-40B4-BE49-F238E27FC236}">
                <a16:creationId xmlns:a16="http://schemas.microsoft.com/office/drawing/2014/main" id="{366B224C-514D-4308-8D10-B2216CB02F77}"/>
              </a:ext>
            </a:extLst>
          </p:cNvPr>
          <p:cNvSpPr>
            <a:spLocks noGrp="1"/>
          </p:cNvSpPr>
          <p:nvPr/>
        </p:nvSpPr>
        <p:spPr>
          <a:xfrm>
            <a:off x="10477500" y="4914900"/>
            <a:ext cx="6953250" cy="287655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54" name="External style references label">
            <a:extLst>
              <a:ext uri="{FF2B5EF4-FFF2-40B4-BE49-F238E27FC236}">
                <a16:creationId xmlns:a16="http://schemas.microsoft.com/office/drawing/2014/main" id="{4E3F5361-C264-4BEE-BE1D-020969978DF9}"/>
              </a:ext>
            </a:extLst>
          </p:cNvPr>
          <p:cNvSpPr>
            <a:spLocks noGrp="1"/>
          </p:cNvSpPr>
          <p:nvPr/>
        </p:nvSpPr>
        <p:spPr>
          <a:xfrm>
            <a:off x="10706100" y="6124575"/>
            <a:ext cx="649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STYLE REFERENCES</a:t>
            </a:r>
          </a:p>
        </p:txBody>
      </p:sp>
      <p:sp>
        <p:nvSpPr>
          <p:cNvPr id="55" name="Prior asset reference heading">
            <a:extLst>
              <a:ext uri="{FF2B5EF4-FFF2-40B4-BE49-F238E27FC236}">
                <a16:creationId xmlns:a16="http://schemas.microsoft.com/office/drawing/2014/main" id="{9F2A123F-82BF-44BE-9087-CF7F338E6ED5}"/>
              </a:ext>
            </a:extLst>
          </p:cNvPr>
          <p:cNvSpPr>
            <a:spLocks noGrp="1"/>
          </p:cNvSpPr>
          <p:nvPr/>
        </p:nvSpPr>
        <p:spPr>
          <a:xfrm>
            <a:off x="10477500" y="82486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PREVIOUSLY APPROVED ART</a:t>
            </a:r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0477500" y="8934450"/>
            <a:ext cx="2705100" cy="2705100"/>
          </a:xfrm>
          <a:prstGeom prst="rect">
            <a:avLst/>
          </a:prstGeom>
        </p:spPr>
      </p:pic>
      <p:sp>
        <p:nvSpPr>
          <p:cNvPr id="57" name="Style reference explanation">
            <a:extLst>
              <a:ext uri="{FF2B5EF4-FFF2-40B4-BE49-F238E27FC236}">
                <a16:creationId xmlns:a16="http://schemas.microsoft.com/office/drawing/2014/main" id="{DF24DB29-4B19-48C7-AA8B-A35640F2631E}"/>
              </a:ext>
            </a:extLst>
          </p:cNvPr>
          <p:cNvSpPr>
            <a:spLocks noGrp="1"/>
          </p:cNvSpPr>
          <p:nvPr/>
        </p:nvSpPr>
        <p:spPr>
          <a:xfrm>
            <a:off x="13639800" y="8934450"/>
            <a:ext cx="37909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use earlier approved assets to guide the palette, lighting and material style.</a:t>
            </a:r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8516600" y="5673656"/>
            <a:ext cx="1752600" cy="2387738"/>
          </a:xfrm>
          <a:prstGeom prst="rect">
            <a:avLst/>
          </a:prstGeom>
        </p:spPr>
      </p:pic>
      <p:sp>
        <p:nvSpPr>
          <p:cNvPr id="59" name="Tower level label 0">
            <a:extLst>
              <a:ext uri="{FF2B5EF4-FFF2-40B4-BE49-F238E27FC236}">
                <a16:creationId xmlns:a16="http://schemas.microsoft.com/office/drawing/2014/main" id="{4AA72D35-AC6E-4F07-95C8-945E39BC1934}"/>
              </a:ext>
            </a:extLst>
          </p:cNvPr>
          <p:cNvSpPr>
            <a:spLocks noGrp="1"/>
          </p:cNvSpPr>
          <p:nvPr/>
        </p:nvSpPr>
        <p:spPr>
          <a:xfrm>
            <a:off x="1851660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LV.0</a:t>
            </a:r>
          </a:p>
        </p:txBody>
      </p:sp>
      <p:pic>
        <p:nvPicPr>
          <p:cNvPr id="60" name="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0402550" y="5653813"/>
            <a:ext cx="1752600" cy="2427424"/>
          </a:xfrm>
          <a:prstGeom prst="rect">
            <a:avLst/>
          </a:prstGeom>
        </p:spPr>
      </p:pic>
      <p:sp>
        <p:nvSpPr>
          <p:cNvPr id="61" name="Tower level label 1">
            <a:extLst>
              <a:ext uri="{FF2B5EF4-FFF2-40B4-BE49-F238E27FC236}">
                <a16:creationId xmlns:a16="http://schemas.microsoft.com/office/drawing/2014/main" id="{60484647-399B-4DC2-8096-F2327488BD53}"/>
              </a:ext>
            </a:extLst>
          </p:cNvPr>
          <p:cNvSpPr>
            <a:spLocks noGrp="1"/>
          </p:cNvSpPr>
          <p:nvPr/>
        </p:nvSpPr>
        <p:spPr>
          <a:xfrm>
            <a:off x="2040255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LV.1</a:t>
            </a:r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22288500" y="5624546"/>
            <a:ext cx="1752600" cy="2485957"/>
          </a:xfrm>
          <a:prstGeom prst="rect">
            <a:avLst/>
          </a:prstGeom>
        </p:spPr>
      </p:pic>
      <p:sp>
        <p:nvSpPr>
          <p:cNvPr id="63" name="Tower level label 2">
            <a:extLst>
              <a:ext uri="{FF2B5EF4-FFF2-40B4-BE49-F238E27FC236}">
                <a16:creationId xmlns:a16="http://schemas.microsoft.com/office/drawing/2014/main" id="{D3638BB7-2DDD-4630-A4E2-90F0A7B3A96D}"/>
              </a:ext>
            </a:extLst>
          </p:cNvPr>
          <p:cNvSpPr>
            <a:spLocks noGrp="1"/>
          </p:cNvSpPr>
          <p:nvPr/>
        </p:nvSpPr>
        <p:spPr>
          <a:xfrm>
            <a:off x="2228850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LV.2</a:t>
            </a:r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24174450" y="5717022"/>
            <a:ext cx="1752600" cy="2301007"/>
          </a:xfrm>
          <a:prstGeom prst="rect">
            <a:avLst/>
          </a:prstGeom>
        </p:spPr>
      </p:pic>
      <p:sp>
        <p:nvSpPr>
          <p:cNvPr id="65" name="Tower level label 3">
            <a:extLst>
              <a:ext uri="{FF2B5EF4-FFF2-40B4-BE49-F238E27FC236}">
                <a16:creationId xmlns:a16="http://schemas.microsoft.com/office/drawing/2014/main" id="{9DA217DB-222D-4960-A0EE-31F017630386}"/>
              </a:ext>
            </a:extLst>
          </p:cNvPr>
          <p:cNvSpPr>
            <a:spLocks noGrp="1"/>
          </p:cNvSpPr>
          <p:nvPr/>
        </p:nvSpPr>
        <p:spPr>
          <a:xfrm>
            <a:off x="24174450" y="9048750"/>
            <a:ext cx="17526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LV.3</a:t>
            </a:r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8802350" y="9873069"/>
            <a:ext cx="1219200" cy="980261"/>
          </a:xfrm>
          <a:prstGeom prst="rect">
            <a:avLst/>
          </a:prstGeom>
        </p:spPr>
      </p:pic>
      <p:pic>
        <p:nvPicPr>
          <p:cNvPr id="67" name="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20690798" y="9753600"/>
            <a:ext cx="1214203" cy="1219200"/>
          </a:xfrm>
          <a:prstGeom prst="rect">
            <a:avLst/>
          </a:prstGeom>
        </p:spPr>
      </p:pic>
      <p:pic>
        <p:nvPicPr>
          <p:cNvPr id="68" name="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22574250" y="9894061"/>
            <a:ext cx="1219200" cy="938278"/>
          </a:xfrm>
          <a:prstGeom prst="rect">
            <a:avLst/>
          </a:prstGeom>
        </p:spPr>
      </p:pic>
      <p:pic>
        <p:nvPicPr>
          <p:cNvPr id="69" name="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24460200" y="9782523"/>
            <a:ext cx="1219200" cy="1161355"/>
          </a:xfrm>
          <a:prstGeom prst="rect">
            <a:avLst/>
          </a:prstGeom>
        </p:spPr>
      </p:pic>
      <p:sp>
        <p:nvSpPr>
          <p:cNvPr id="70" name="Curation explanation">
            <a:extLst>
              <a:ext uri="{FF2B5EF4-FFF2-40B4-BE49-F238E27FC236}">
                <a16:creationId xmlns:a16="http://schemas.microsoft.com/office/drawing/2014/main" id="{DBAB35C5-41E1-4A51-A203-05CB51E226B1}"/>
              </a:ext>
            </a:extLst>
          </p:cNvPr>
          <p:cNvSpPr>
            <a:spLocks noGrp="1"/>
          </p:cNvSpPr>
          <p:nvPr/>
        </p:nvSpPr>
        <p:spPr>
          <a:xfrm>
            <a:off x="18516600" y="11430000"/>
            <a:ext cx="7620000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compare each result with the existing game, reject mismatched styles and prepare the chosen sprites for Unity.</a:t>
            </a:r>
          </a:p>
        </p:txBody>
      </p:sp>
      <p:sp>
        <p:nvSpPr>
          <p:cNvPr id="71" name="Solo credit">
            <a:extLst>
              <a:ext uri="{FF2B5EF4-FFF2-40B4-BE49-F238E27FC236}">
                <a16:creationId xmlns:a16="http://schemas.microsoft.com/office/drawing/2014/main" id="{D7030972-F397-45AF-AFDF-70C77E6F0F54}"/>
              </a:ext>
            </a:extLst>
          </p:cNvPr>
          <p:cNvSpPr>
            <a:spLocks noGrp="1"/>
          </p:cNvSpPr>
          <p:nvPr/>
        </p:nvSpPr>
        <p:spPr>
          <a:xfrm>
            <a:off x="2514600" y="13411200"/>
            <a:ext cx="1752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Solo project. Game design, development and art direction.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1220787"/>
            <a:ext cx="23151042" cy="97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4E9D2"/>
                </a:solidFill>
                <a:latin typeface="Georgia"/>
                <a:ea typeface="Georgia"/>
                <a:cs typeface="Georgia"/>
                <a:sym typeface="Georgia"/>
              </a:rPr>
              <a:t>FEEDBACK AND PLAYTEST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298958" y="969433"/>
            <a:ext cx="1455208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E8B66B"/>
                </a:solidFill>
                <a:latin typeface="Arial Bold"/>
                <a:ea typeface="Arial Bold"/>
                <a:cs typeface="Arial Bold"/>
                <a:sym typeface="Arial Bold"/>
              </a:rPr>
              <a:t>TOXICBARRIER / PERSONAL PROJECT</a:t>
            </a:r>
          </a:p>
        </p:txBody>
      </p:sp>
      <p:sp>
        <p:nvSpPr>
          <p:cNvPr id="8" name="Playtest photo heading">
            <a:extLst>
              <a:ext uri="{FF2B5EF4-FFF2-40B4-BE49-F238E27FC236}">
                <a16:creationId xmlns:a16="http://schemas.microsoft.com/office/drawing/2014/main" id="{53217661-C743-4627-BFBB-ED948143ABC3}"/>
              </a:ext>
            </a:extLst>
          </p:cNvPr>
          <p:cNvSpPr>
            <a:spLocks noGrp="1"/>
          </p:cNvSpPr>
          <p:nvPr/>
        </p:nvSpPr>
        <p:spPr>
          <a:xfrm>
            <a:off x="2514600" y="3143250"/>
            <a:ext cx="1143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 PLAYTEST</a:t>
            </a:r>
          </a:p>
        </p:txBody>
      </p:sp>
      <p:sp>
        <p:nvSpPr>
          <p:cNvPr id="9" name="Playtest photograph 1">
            <a:extLst>
              <a:ext uri="{FF2B5EF4-FFF2-40B4-BE49-F238E27FC236}">
                <a16:creationId xmlns:a16="http://schemas.microsoft.com/office/drawing/2014/main" id="{4147DA2C-2EDA-473B-BDE1-477F5465E77E}"/>
              </a:ext>
            </a:extLst>
          </p:cNvPr>
          <p:cNvSpPr>
            <a:spLocks noGrp="1"/>
          </p:cNvSpPr>
          <p:nvPr/>
        </p:nvSpPr>
        <p:spPr>
          <a:xfrm>
            <a:off x="2514600" y="4152900"/>
            <a:ext cx="10763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0" name="Playtest photograph 1 label">
            <a:extLst>
              <a:ext uri="{FF2B5EF4-FFF2-40B4-BE49-F238E27FC236}">
                <a16:creationId xmlns:a16="http://schemas.microsoft.com/office/drawing/2014/main" id="{A789DA5C-10D6-4ACF-A6B6-E1C45E366760}"/>
              </a:ext>
            </a:extLst>
          </p:cNvPr>
          <p:cNvSpPr>
            <a:spLocks noGrp="1"/>
          </p:cNvSpPr>
          <p:nvPr/>
        </p:nvSpPr>
        <p:spPr>
          <a:xfrm>
            <a:off x="2743200" y="5962650"/>
            <a:ext cx="1030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PLAYTEST PHOTOGRAPH 01</a:t>
            </a:r>
          </a:p>
        </p:txBody>
      </p:sp>
      <p:sp>
        <p:nvSpPr>
          <p:cNvPr id="11" name="Playtest photograph 2">
            <a:extLst>
              <a:ext uri="{FF2B5EF4-FFF2-40B4-BE49-F238E27FC236}">
                <a16:creationId xmlns:a16="http://schemas.microsoft.com/office/drawing/2014/main" id="{89AB0343-3055-4FFE-8379-CDD3A979EB85}"/>
              </a:ext>
            </a:extLst>
          </p:cNvPr>
          <p:cNvSpPr>
            <a:spLocks noGrp="1"/>
          </p:cNvSpPr>
          <p:nvPr/>
        </p:nvSpPr>
        <p:spPr>
          <a:xfrm>
            <a:off x="2514600" y="8705850"/>
            <a:ext cx="10763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2" name="Playtest photograph 2 label">
            <a:extLst>
              <a:ext uri="{FF2B5EF4-FFF2-40B4-BE49-F238E27FC236}">
                <a16:creationId xmlns:a16="http://schemas.microsoft.com/office/drawing/2014/main" id="{4FC6E3F5-680E-4D39-8477-CC96703557EE}"/>
              </a:ext>
            </a:extLst>
          </p:cNvPr>
          <p:cNvSpPr>
            <a:spLocks noGrp="1"/>
          </p:cNvSpPr>
          <p:nvPr/>
        </p:nvSpPr>
        <p:spPr>
          <a:xfrm>
            <a:off x="2743200" y="10515600"/>
            <a:ext cx="10306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PLAYTEST PHOTOGRAPH 02</a:t>
            </a:r>
          </a:p>
        </p:txBody>
      </p:sp>
      <p:sp>
        <p:nvSpPr>
          <p:cNvPr id="13" name="Feedback heading">
            <a:extLst>
              <a:ext uri="{FF2B5EF4-FFF2-40B4-BE49-F238E27FC236}">
                <a16:creationId xmlns:a16="http://schemas.microsoft.com/office/drawing/2014/main" id="{404DE66B-30CA-477E-9391-4DB48A297662}"/>
              </a:ext>
            </a:extLst>
          </p:cNvPr>
          <p:cNvSpPr>
            <a:spLocks noGrp="1"/>
          </p:cNvSpPr>
          <p:nvPr/>
        </p:nvSpPr>
        <p:spPr>
          <a:xfrm>
            <a:off x="14554200" y="3143250"/>
            <a:ext cx="11430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PLAYER FEEDBACK</a:t>
            </a:r>
          </a:p>
        </p:txBody>
      </p:sp>
      <p:sp>
        <p:nvSpPr>
          <p:cNvPr id="14" name="Feedback record 1">
            <a:extLst>
              <a:ext uri="{FF2B5EF4-FFF2-40B4-BE49-F238E27FC236}">
                <a16:creationId xmlns:a16="http://schemas.microsoft.com/office/drawing/2014/main" id="{FB7343FE-2159-4497-94D5-C2D0531FD08C}"/>
              </a:ext>
            </a:extLst>
          </p:cNvPr>
          <p:cNvSpPr>
            <a:spLocks noGrp="1"/>
          </p:cNvSpPr>
          <p:nvPr/>
        </p:nvSpPr>
        <p:spPr>
          <a:xfrm>
            <a:off x="14554200" y="4152900"/>
            <a:ext cx="11525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5" name="Feedback record 1 label">
            <a:extLst>
              <a:ext uri="{FF2B5EF4-FFF2-40B4-BE49-F238E27FC236}">
                <a16:creationId xmlns:a16="http://schemas.microsoft.com/office/drawing/2014/main" id="{AB989AE9-ED5D-4105-AC87-F9770E4B0053}"/>
              </a:ext>
            </a:extLst>
          </p:cNvPr>
          <p:cNvSpPr>
            <a:spLocks noGrp="1"/>
          </p:cNvSpPr>
          <p:nvPr/>
        </p:nvSpPr>
        <p:spPr>
          <a:xfrm>
            <a:off x="14782800" y="5962650"/>
            <a:ext cx="1106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PLAYER COMMENT / OBSERVATION</a:t>
            </a:r>
          </a:p>
        </p:txBody>
      </p:sp>
      <p:sp>
        <p:nvSpPr>
          <p:cNvPr id="16" name="Feedback record 2">
            <a:extLst>
              <a:ext uri="{FF2B5EF4-FFF2-40B4-BE49-F238E27FC236}">
                <a16:creationId xmlns:a16="http://schemas.microsoft.com/office/drawing/2014/main" id="{3044C982-8BFC-4CF5-AD13-4611214A4049}"/>
              </a:ext>
            </a:extLst>
          </p:cNvPr>
          <p:cNvSpPr>
            <a:spLocks noGrp="1"/>
          </p:cNvSpPr>
          <p:nvPr/>
        </p:nvSpPr>
        <p:spPr>
          <a:xfrm>
            <a:off x="14554200" y="8705850"/>
            <a:ext cx="11525250" cy="4076700"/>
          </a:xfrm>
          <a:prstGeom prst="rect">
            <a:avLst/>
          </a:prstGeom>
          <a:solidFill>
            <a:srgbClr val="102529">
              <a:alpha val="45000"/>
            </a:srgbClr>
          </a:solidFill>
          <a:ln w="10478">
            <a:solidFill>
              <a:srgbClr val="657A75"/>
            </a:solidFill>
          </a:ln>
        </p:spPr>
      </p:sp>
      <p:sp>
        <p:nvSpPr>
          <p:cNvPr id="17" name="Feedback record 2 label">
            <a:extLst>
              <a:ext uri="{FF2B5EF4-FFF2-40B4-BE49-F238E27FC236}">
                <a16:creationId xmlns:a16="http://schemas.microsoft.com/office/drawing/2014/main" id="{30770FB5-B47D-406E-8504-745EDF039145}"/>
              </a:ext>
            </a:extLst>
          </p:cNvPr>
          <p:cNvSpPr>
            <a:spLocks noGrp="1"/>
          </p:cNvSpPr>
          <p:nvPr/>
        </p:nvSpPr>
        <p:spPr>
          <a:xfrm>
            <a:off x="14782800" y="10515600"/>
            <a:ext cx="110680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0">
                <a:solidFill>
                  <a:srgbClr val="BAC5C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AC5C4"/>
                </a:solidFill>
                <a:latin typeface="Arial"/>
                <a:ea typeface="Arial"/>
                <a:cs typeface="Arial"/>
              </a:rPr>
              <a:t>PLAYER COMMENT / OBSERVATION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8431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7500" y="0"/>
            <a:ext cx="7672917" cy="14287500"/>
            <a:chOff x="0" y="0"/>
            <a:chExt cx="7366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6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66000">
                  <a:moveTo>
                    <a:pt x="0" y="0"/>
                  </a:moveTo>
                  <a:lnTo>
                    <a:pt x="7366000" y="0"/>
                  </a:lnTo>
                  <a:lnTo>
                    <a:pt x="7366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71D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69583" y="664580"/>
            <a:ext cx="6508750" cy="8367805"/>
            <a:chOff x="0" y="0"/>
            <a:chExt cx="6248400" cy="80330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48400" cy="8033131"/>
            </a:xfrm>
            <a:custGeom>
              <a:avLst/>
              <a:gdLst/>
              <a:ahLst/>
              <a:cxnLst/>
              <a:rect r="r" b="b" t="t" l="l"/>
              <a:pathLst>
                <a:path h="8033131" w="6248400">
                  <a:moveTo>
                    <a:pt x="0" y="0"/>
                  </a:moveTo>
                  <a:lnTo>
                    <a:pt x="6248400" y="0"/>
                  </a:lnTo>
                  <a:lnTo>
                    <a:pt x="6248400" y="8033131"/>
                  </a:lnTo>
                  <a:lnTo>
                    <a:pt x="0" y="803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47396" y="9052454"/>
            <a:ext cx="6085417" cy="86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The Safe City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7396" y="10551054"/>
            <a:ext cx="601927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PERSONAL PORTFOLIO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47396" y="11155892"/>
            <a:ext cx="6085417" cy="17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2–4 players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5 rounds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Competitive city planning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0625" y="668867"/>
            <a:ext cx="113770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BOARD GAME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80625" y="1432454"/>
            <a:ext cx="1574270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Planning a safer 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80625" y="2719388"/>
            <a:ext cx="15544271" cy="158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229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 competitive board game where players assign city employees and draft safety dice to complete transport projects while managing funding and emergencies.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080625" y="4656667"/>
            <a:ext cx="15848542" cy="6707188"/>
            <a:chOff x="0" y="0"/>
            <a:chExt cx="15214600" cy="64389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146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5214600">
                  <a:moveTo>
                    <a:pt x="0" y="0"/>
                  </a:moveTo>
                  <a:lnTo>
                    <a:pt x="15214600" y="0"/>
                  </a:lnTo>
                  <a:lnTo>
                    <a:pt x="1521460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98" t="0" r="-4298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080625" y="11592454"/>
            <a:ext cx="15848542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A city shaped by every planning decision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80625" y="12495742"/>
            <a:ext cx="469635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MY ROLE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80625" y="13034433"/>
            <a:ext cx="5556250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Game design &amp; iteration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71875" y="12495742"/>
            <a:ext cx="3968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71875" y="13034433"/>
            <a:ext cx="582083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Solo 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621875" y="12495742"/>
            <a:ext cx="3505729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DEVELOPMENT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2621875" y="13559896"/>
            <a:ext cx="3439583" cy="13229"/>
            <a:chOff x="0" y="0"/>
            <a:chExt cx="33020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0" cy="12700"/>
            </a:xfrm>
            <a:custGeom>
              <a:avLst/>
              <a:gdLst/>
              <a:ahLst/>
              <a:cxnLst/>
              <a:rect r="r" b="b" t="t" l="l"/>
              <a:pathLst>
                <a:path h="127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2621875" y="12981517"/>
            <a:ext cx="582083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Feb. 2026 - Present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97706" y="3320521"/>
            <a:ext cx="9424392" cy="6799792"/>
            <a:chOff x="0" y="0"/>
            <a:chExt cx="9047416" cy="652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47353" cy="6527800"/>
            </a:xfrm>
            <a:custGeom>
              <a:avLst/>
              <a:gdLst/>
              <a:ahLst/>
              <a:cxnLst/>
              <a:rect r="r" b="b" t="t" l="l"/>
              <a:pathLst>
                <a:path h="6527800" w="9047353">
                  <a:moveTo>
                    <a:pt x="0" y="0"/>
                  </a:moveTo>
                  <a:lnTo>
                    <a:pt x="9047353" y="0"/>
                  </a:lnTo>
                  <a:lnTo>
                    <a:pt x="9047353" y="6527800"/>
                  </a:lnTo>
                  <a:lnTo>
                    <a:pt x="0" y="6527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36" t="0" r="-15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87083" y="11138958"/>
            <a:ext cx="4220104" cy="2381250"/>
            <a:chOff x="0" y="0"/>
            <a:chExt cx="40513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513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51300">
                  <a:moveTo>
                    <a:pt x="0" y="0"/>
                  </a:moveTo>
                  <a:lnTo>
                    <a:pt x="4051300" y="0"/>
                  </a:lnTo>
                  <a:lnTo>
                    <a:pt x="4051300" y="2286000"/>
                  </a:lnTo>
                  <a:lnTo>
                    <a:pt x="0" y="228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88" r="0" b="-1638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123333" y="3241146"/>
            <a:ext cx="3413125" cy="4550833"/>
            <a:chOff x="0" y="0"/>
            <a:chExt cx="3276600" cy="436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621250" y="3241146"/>
            <a:ext cx="3413125" cy="4550833"/>
            <a:chOff x="0" y="0"/>
            <a:chExt cx="3276600" cy="436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119167" y="3241146"/>
            <a:ext cx="3413125" cy="4550833"/>
            <a:chOff x="0" y="0"/>
            <a:chExt cx="3276600" cy="436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76600" cy="4368800"/>
            </a:xfrm>
            <a:custGeom>
              <a:avLst/>
              <a:gdLst/>
              <a:ahLst/>
              <a:cxnLst/>
              <a:rect r="r" b="b" t="t" l="l"/>
              <a:pathLst>
                <a:path h="4368800" w="3276600">
                  <a:moveTo>
                    <a:pt x="0" y="0"/>
                  </a:moveTo>
                  <a:lnTo>
                    <a:pt x="3276600" y="0"/>
                  </a:lnTo>
                  <a:lnTo>
                    <a:pt x="3276600" y="4368800"/>
                  </a:lnTo>
                  <a:lnTo>
                    <a:pt x="0" y="436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32292" y="11271250"/>
            <a:ext cx="13255625" cy="13229"/>
            <a:chOff x="0" y="0"/>
            <a:chExt cx="12725400" cy="12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25400" cy="12700"/>
            </a:xfrm>
            <a:custGeom>
              <a:avLst/>
              <a:gdLst/>
              <a:ahLst/>
              <a:cxnLst/>
              <a:rect r="r" b="b" t="t" l="l"/>
              <a:pathLst>
                <a:path h="12700" w="12725400">
                  <a:moveTo>
                    <a:pt x="0" y="0"/>
                  </a:moveTo>
                  <a:lnTo>
                    <a:pt x="12725400" y="0"/>
                  </a:lnTo>
                  <a:lnTo>
                    <a:pt x="127254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21613" y="11156421"/>
            <a:ext cx="4449819" cy="2363787"/>
            <a:chOff x="0" y="0"/>
            <a:chExt cx="1451015" cy="7707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51015" cy="770793"/>
            </a:xfrm>
            <a:custGeom>
              <a:avLst/>
              <a:gdLst/>
              <a:ahLst/>
              <a:cxnLst/>
              <a:rect r="r" b="b" t="t" l="l"/>
              <a:pathLst>
                <a:path h="770793" w="1451015">
                  <a:moveTo>
                    <a:pt x="0" y="0"/>
                  </a:moveTo>
                  <a:lnTo>
                    <a:pt x="1451015" y="0"/>
                  </a:lnTo>
                  <a:lnTo>
                    <a:pt x="1451015" y="770793"/>
                  </a:lnTo>
                  <a:lnTo>
                    <a:pt x="0" y="770793"/>
                  </a:lnTo>
                  <a:close/>
                </a:path>
              </a:pathLst>
            </a:custGeom>
            <a:blipFill>
              <a:blip r:embed="rId8"/>
              <a:stretch>
                <a:fillRect l="0" t="-16593" r="0" b="-16593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Game components &amp; setup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87083" y="2692929"/>
            <a:ext cx="84666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THE TABLE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083" y="10322454"/>
            <a:ext cx="9445625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Main board artwork in progress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87083" y="13629746"/>
            <a:ext cx="4431771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paper prototype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32292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40 CARDS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32292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Planning tasks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2292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9 traveler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Projects that earn Safety Points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330208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16 CARDS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330208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Traffic events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330208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8 event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One city-wide effect each round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828125" y="8143346"/>
            <a:ext cx="4048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24 CARDS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828125" y="8731250"/>
            <a:ext cx="4167188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333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Government cards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828125" y="9492721"/>
            <a:ext cx="4153958" cy="14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8 policy designs</a:t>
            </a:r>
          </a:p>
          <a:p>
            <a:pPr algn="l">
              <a:lnSpc>
                <a:spcPts val="3124"/>
              </a:lnSpc>
            </a:pPr>
            <a:r>
              <a:rPr lang="en-US" sz="260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Ongoing abilities and interaction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32292" y="11582929"/>
            <a:ext cx="132556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SHARED SUPPLY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32292" y="12151783"/>
            <a:ext cx="13255625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5 Pedestrian dice + 5 Vehicle dice + 6 Emergency dice</a:t>
            </a:r>
          </a:p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12 employee pawns, Coins and infrastructure tokens</a:t>
            </a:r>
          </a:p>
          <a:p>
            <a:pPr algn="l">
              <a:lnSpc>
                <a:spcPts val="3249"/>
              </a:lnSpc>
            </a:pPr>
            <a:r>
              <a:rPr lang="en-US" sz="2708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First Player marker and Round marker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39661" y="13629746"/>
            <a:ext cx="4431771" cy="366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Player 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4471458"/>
            <a:ext cx="16113125" cy="13229"/>
            <a:chOff x="0" y="0"/>
            <a:chExt cx="15468600" cy="12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68600" cy="12700"/>
            </a:xfrm>
            <a:custGeom>
              <a:avLst/>
              <a:gdLst/>
              <a:ahLst/>
              <a:cxnLst/>
              <a:rect r="r" b="b" t="t" l="l"/>
              <a:pathLst>
                <a:path h="12700" w="15468600">
                  <a:moveTo>
                    <a:pt x="0" y="0"/>
                  </a:moveTo>
                  <a:lnTo>
                    <a:pt x="15468600" y="0"/>
                  </a:lnTo>
                  <a:lnTo>
                    <a:pt x="1546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34792" y="7342188"/>
            <a:ext cx="476250" cy="304271"/>
            <a:chOff x="0" y="0"/>
            <a:chExt cx="457200" cy="29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7200" cy="292100"/>
            </a:xfrm>
            <a:custGeom>
              <a:avLst/>
              <a:gdLst/>
              <a:ahLst/>
              <a:cxnLst/>
              <a:rect r="r" b="b" t="t" l="l"/>
              <a:pathLst>
                <a:path h="292100" w="457200">
                  <a:moveTo>
                    <a:pt x="0" y="73025"/>
                  </a:moveTo>
                  <a:lnTo>
                    <a:pt x="311150" y="73025"/>
                  </a:lnTo>
                  <a:lnTo>
                    <a:pt x="311150" y="0"/>
                  </a:lnTo>
                  <a:lnTo>
                    <a:pt x="457200" y="146050"/>
                  </a:lnTo>
                  <a:lnTo>
                    <a:pt x="311150" y="292100"/>
                  </a:lnTo>
                  <a:lnTo>
                    <a:pt x="311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04271" y="7342188"/>
            <a:ext cx="476250" cy="304271"/>
            <a:chOff x="0" y="0"/>
            <a:chExt cx="457200" cy="29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" cy="292100"/>
            </a:xfrm>
            <a:custGeom>
              <a:avLst/>
              <a:gdLst/>
              <a:ahLst/>
              <a:cxnLst/>
              <a:rect r="r" b="b" t="t" l="l"/>
              <a:pathLst>
                <a:path h="292100" w="457200">
                  <a:moveTo>
                    <a:pt x="0" y="73025"/>
                  </a:moveTo>
                  <a:lnTo>
                    <a:pt x="311150" y="73025"/>
                  </a:lnTo>
                  <a:lnTo>
                    <a:pt x="311150" y="0"/>
                  </a:lnTo>
                  <a:lnTo>
                    <a:pt x="457200" y="146050"/>
                  </a:lnTo>
                  <a:lnTo>
                    <a:pt x="311150" y="292100"/>
                  </a:lnTo>
                  <a:lnTo>
                    <a:pt x="311150" y="219075"/>
                  </a:lnTo>
                  <a:lnTo>
                    <a:pt x="0" y="219075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87083" y="6729241"/>
            <a:ext cx="1177396" cy="1569866"/>
            <a:chOff x="0" y="0"/>
            <a:chExt cx="1130300" cy="1507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0300" cy="1507109"/>
            </a:xfrm>
            <a:custGeom>
              <a:avLst/>
              <a:gdLst/>
              <a:ahLst/>
              <a:cxnLst/>
              <a:rect r="r" b="b" t="t" l="l"/>
              <a:pathLst>
                <a:path h="1507109" w="1130300">
                  <a:moveTo>
                    <a:pt x="0" y="0"/>
                  </a:moveTo>
                  <a:lnTo>
                    <a:pt x="1130300" y="0"/>
                  </a:lnTo>
                  <a:lnTo>
                    <a:pt x="1130300" y="1507109"/>
                  </a:lnTo>
                  <a:lnTo>
                    <a:pt x="0" y="1507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7266" y="7067682"/>
            <a:ext cx="681302" cy="840052"/>
            <a:chOff x="0" y="0"/>
            <a:chExt cx="654050" cy="8064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4325938" y="7315729"/>
            <a:ext cx="343958" cy="343958"/>
            <a:chOff x="0" y="0"/>
            <a:chExt cx="330200" cy="330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977474" y="7067682"/>
            <a:ext cx="681302" cy="840052"/>
            <a:chOff x="0" y="0"/>
            <a:chExt cx="654050" cy="806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146146" y="7315729"/>
            <a:ext cx="343958" cy="343958"/>
            <a:chOff x="0" y="0"/>
            <a:chExt cx="330200" cy="33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97682" y="7067682"/>
            <a:ext cx="681302" cy="840052"/>
            <a:chOff x="0" y="0"/>
            <a:chExt cx="654050" cy="806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4050" cy="806450"/>
            </a:xfrm>
            <a:custGeom>
              <a:avLst/>
              <a:gdLst/>
              <a:ahLst/>
              <a:cxnLst/>
              <a:rect r="r" b="b" t="t" l="l"/>
              <a:pathLst>
                <a:path h="806450" w="654050">
                  <a:moveTo>
                    <a:pt x="0" y="0"/>
                  </a:moveTo>
                  <a:lnTo>
                    <a:pt x="654050" y="0"/>
                  </a:lnTo>
                  <a:lnTo>
                    <a:pt x="654050" y="806450"/>
                  </a:lnTo>
                  <a:lnTo>
                    <a:pt x="0" y="806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8199" t="0" r="-108199" b="0"/>
              </a:stretch>
            </a:blip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966354" y="7315729"/>
            <a:ext cx="343958" cy="343958"/>
            <a:chOff x="0" y="0"/>
            <a:chExt cx="330200" cy="330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0200" cy="330200"/>
            </a:xfrm>
            <a:custGeom>
              <a:avLst/>
              <a:gdLst/>
              <a:ahLst/>
              <a:cxnLst/>
              <a:rect r="r" b="b" t="t" l="l"/>
              <a:pathLst>
                <a:path h="330200" w="330200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cubicBezTo>
                    <a:pt x="256286" y="0"/>
                    <a:pt x="330200" y="73914"/>
                    <a:pt x="330200" y="165100"/>
                  </a:cubicBezTo>
                  <a:cubicBezTo>
                    <a:pt x="330200" y="256286"/>
                    <a:pt x="256286" y="330200"/>
                    <a:pt x="165100" y="330200"/>
                  </a:cubicBezTo>
                  <a:cubicBezTo>
                    <a:pt x="73914" y="330200"/>
                    <a:pt x="0" y="256286"/>
                    <a:pt x="0" y="16510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58854" y="7355417"/>
            <a:ext cx="568854" cy="291042"/>
            <a:chOff x="0" y="0"/>
            <a:chExt cx="546100" cy="279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6100" cy="279400"/>
            </a:xfrm>
            <a:custGeom>
              <a:avLst/>
              <a:gdLst/>
              <a:ahLst/>
              <a:cxnLst/>
              <a:rect r="r" b="b" t="t" l="l"/>
              <a:pathLst>
                <a:path h="279400" w="546100">
                  <a:moveTo>
                    <a:pt x="0" y="69850"/>
                  </a:moveTo>
                  <a:lnTo>
                    <a:pt x="406400" y="69850"/>
                  </a:lnTo>
                  <a:lnTo>
                    <a:pt x="406400" y="0"/>
                  </a:lnTo>
                  <a:lnTo>
                    <a:pt x="546100" y="139700"/>
                  </a:lnTo>
                  <a:lnTo>
                    <a:pt x="406400" y="279400"/>
                  </a:lnTo>
                  <a:lnTo>
                    <a:pt x="406400" y="209550"/>
                  </a:lnTo>
                  <a:lnTo>
                    <a:pt x="0" y="209550"/>
                  </a:ln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345724" y="6680729"/>
            <a:ext cx="1202822" cy="1680104"/>
            <a:chOff x="0" y="0"/>
            <a:chExt cx="1154709" cy="1612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4684" cy="1612900"/>
            </a:xfrm>
            <a:custGeom>
              <a:avLst/>
              <a:gdLst/>
              <a:ahLst/>
              <a:cxnLst/>
              <a:rect r="r" b="b" t="t" l="l"/>
              <a:pathLst>
                <a:path h="1612900" w="1154684">
                  <a:moveTo>
                    <a:pt x="0" y="0"/>
                  </a:moveTo>
                  <a:lnTo>
                    <a:pt x="1154684" y="0"/>
                  </a:lnTo>
                  <a:lnTo>
                    <a:pt x="1154684" y="1612900"/>
                  </a:lnTo>
                  <a:lnTo>
                    <a:pt x="0" y="161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81" t="0" r="-238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26875" y="7183438"/>
            <a:ext cx="529167" cy="529167"/>
            <a:chOff x="0" y="0"/>
            <a:chExt cx="508000" cy="50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F3EAD7"/>
            </a:solidFill>
            <a:ln w="28575" cap="sq">
              <a:solidFill>
                <a:srgbClr val="D8AF7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5081250" y="7077604"/>
            <a:ext cx="912812" cy="912812"/>
            <a:chOff x="0" y="0"/>
            <a:chExt cx="876300" cy="876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6300" cy="876300"/>
            </a:xfrm>
            <a:custGeom>
              <a:avLst/>
              <a:gdLst/>
              <a:ahLst/>
              <a:cxnLst/>
              <a:rect r="r" b="b" t="t" l="l"/>
              <a:pathLst>
                <a:path h="876300" w="876300">
                  <a:moveTo>
                    <a:pt x="0" y="438150"/>
                  </a:moveTo>
                  <a:cubicBezTo>
                    <a:pt x="0" y="196215"/>
                    <a:pt x="196215" y="0"/>
                    <a:pt x="438150" y="0"/>
                  </a:cubicBezTo>
                  <a:cubicBezTo>
                    <a:pt x="680085" y="0"/>
                    <a:pt x="876300" y="196215"/>
                    <a:pt x="876300" y="438150"/>
                  </a:cubicBezTo>
                  <a:cubicBezTo>
                    <a:pt x="876300" y="680085"/>
                    <a:pt x="680085" y="876300"/>
                    <a:pt x="438150" y="876300"/>
                  </a:cubicBezTo>
                  <a:cubicBezTo>
                    <a:pt x="196215" y="876300"/>
                    <a:pt x="0" y="680085"/>
                    <a:pt x="0" y="438150"/>
                  </a:cubicBezTo>
                  <a:close/>
                </a:path>
              </a:pathLst>
            </a:custGeom>
            <a:solidFill>
              <a:srgbClr val="D8AF7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04167" y="6815230"/>
            <a:ext cx="820208" cy="1093616"/>
            <a:chOff x="0" y="0"/>
            <a:chExt cx="787400" cy="1049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400" cy="1049909"/>
            </a:xfrm>
            <a:custGeom>
              <a:avLst/>
              <a:gdLst/>
              <a:ahLst/>
              <a:cxnLst/>
              <a:rect r="r" b="b" t="t" l="l"/>
              <a:pathLst>
                <a:path h="1049909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049909"/>
                  </a:lnTo>
                  <a:lnTo>
                    <a:pt x="0" y="104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t="0" r="-2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343438" y="6815230"/>
            <a:ext cx="820208" cy="1093616"/>
            <a:chOff x="0" y="0"/>
            <a:chExt cx="787400" cy="10498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7400" cy="1049909"/>
            </a:xfrm>
            <a:custGeom>
              <a:avLst/>
              <a:gdLst/>
              <a:ahLst/>
              <a:cxnLst/>
              <a:rect r="r" b="b" t="t" l="l"/>
              <a:pathLst>
                <a:path h="1049909" w="787400">
                  <a:moveTo>
                    <a:pt x="0" y="0"/>
                  </a:moveTo>
                  <a:lnTo>
                    <a:pt x="787400" y="0"/>
                  </a:lnTo>
                  <a:lnTo>
                    <a:pt x="787400" y="1049909"/>
                  </a:lnTo>
                  <a:lnTo>
                    <a:pt x="0" y="1049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" t="0" r="-2" b="0"/>
              </a:stretch>
            </a:blipFill>
          </p:spPr>
        </p:sp>
      </p:grpSp>
      <p:sp>
        <p:nvSpPr>
          <p:cNvPr name="AutoShape 38" id="38"/>
          <p:cNvSpPr/>
          <p:nvPr/>
        </p:nvSpPr>
        <p:spPr>
          <a:xfrm rot="10794180">
            <a:off x="2606133" y="10874375"/>
            <a:ext cx="15570756" cy="0"/>
          </a:xfrm>
          <a:prstGeom prst="line">
            <a:avLst/>
          </a:prstGeom>
          <a:ln cap="rnd" w="28575">
            <a:solidFill>
              <a:srgbClr val="D8AF7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7500938" y="10609792"/>
            <a:ext cx="5741458" cy="608542"/>
            <a:chOff x="0" y="0"/>
            <a:chExt cx="5511800" cy="584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11800" cy="584200"/>
            </a:xfrm>
            <a:custGeom>
              <a:avLst/>
              <a:gdLst/>
              <a:ahLst/>
              <a:cxnLst/>
              <a:rect r="r" b="b" t="t" l="l"/>
              <a:pathLst>
                <a:path h="584200" w="5511800">
                  <a:moveTo>
                    <a:pt x="0" y="0"/>
                  </a:moveTo>
                  <a:lnTo>
                    <a:pt x="5511800" y="0"/>
                  </a:lnTo>
                  <a:lnTo>
                    <a:pt x="5511800" y="584200"/>
                  </a:lnTo>
                  <a:lnTo>
                    <a:pt x="0" y="584200"/>
                  </a:lnTo>
                  <a:close/>
                </a:path>
              </a:pathLst>
            </a:custGeom>
            <a:solidFill>
              <a:srgbClr val="0A202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227396" y="2768534"/>
            <a:ext cx="4749271" cy="6633766"/>
            <a:chOff x="0" y="0"/>
            <a:chExt cx="4559300" cy="63684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59300" cy="6368415"/>
            </a:xfrm>
            <a:custGeom>
              <a:avLst/>
              <a:gdLst/>
              <a:ahLst/>
              <a:cxnLst/>
              <a:rect r="r" b="b" t="t" l="l"/>
              <a:pathLst>
                <a:path h="6368415" w="4559300">
                  <a:moveTo>
                    <a:pt x="0" y="0"/>
                  </a:moveTo>
                  <a:lnTo>
                    <a:pt x="4559300" y="0"/>
                  </a:lnTo>
                  <a:lnTo>
                    <a:pt x="4559300" y="6368415"/>
                  </a:lnTo>
                  <a:lnTo>
                    <a:pt x="0" y="6368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79" t="0" r="-237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487083" y="11945938"/>
            <a:ext cx="16113125" cy="13229"/>
            <a:chOff x="0" y="0"/>
            <a:chExt cx="15468600" cy="12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468600" cy="12700"/>
            </a:xfrm>
            <a:custGeom>
              <a:avLst/>
              <a:gdLst/>
              <a:ahLst/>
              <a:cxnLst/>
              <a:rect r="r" b="b" t="t" l="l"/>
              <a:pathLst>
                <a:path h="12700" w="15468600">
                  <a:moveTo>
                    <a:pt x="0" y="0"/>
                  </a:moveTo>
                  <a:lnTo>
                    <a:pt x="15468600" y="0"/>
                  </a:lnTo>
                  <a:lnTo>
                    <a:pt x="154686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159093" y="7008155"/>
            <a:ext cx="1051710" cy="105171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How to play &amp; how to win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87083" y="2666471"/>
            <a:ext cx="156104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STARTING RESOURCES / PER PLAYER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87083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598333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employees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58125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969375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Coins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229167" y="3244850"/>
            <a:ext cx="965729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sz="6354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340417" y="3539596"/>
            <a:ext cx="3704167" cy="64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task cards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487083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487083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Morning Meeting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8056562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56562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Rush Hour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626042" y="4955117"/>
            <a:ext cx="449791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626042" y="5546725"/>
            <a:ext cx="4960938" cy="75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645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End of Day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606146" y="8536517"/>
            <a:ext cx="1322917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14271" y="8536517"/>
            <a:ext cx="2738438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3 employees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487083" y="9383183"/>
            <a:ext cx="4841875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Activate projects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&amp; resolve employees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083021" y="8536517"/>
            <a:ext cx="2341562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Roll &amp; draft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914063" y="8536517"/>
            <a:ext cx="1852083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056563" y="9383183"/>
            <a:ext cx="4709583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Draft one eligible die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it on a project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626042" y="6952721"/>
            <a:ext cx="1283229" cy="1222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6250">
                <a:solidFill>
                  <a:srgbClr val="D8AF70"/>
                </a:solidFill>
                <a:latin typeface="Georgia"/>
                <a:ea typeface="Georgia"/>
                <a:cs typeface="Georgia"/>
                <a:sym typeface="Georgia"/>
              </a:rPr>
              <a:t>SP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81250" y="7190846"/>
            <a:ext cx="912812" cy="82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4062" b="true">
                <a:solidFill>
                  <a:srgbClr val="0A2027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26042" y="8536517"/>
            <a:ext cx="1322917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081250" y="8536517"/>
            <a:ext cx="1309688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Coins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536458" y="8536517"/>
            <a:ext cx="1852083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626042" y="9383183"/>
            <a:ext cx="4934479" cy="116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Resolve hazards</a:t>
            </a:r>
          </a:p>
          <a:p>
            <a:pPr algn="l">
              <a:lnSpc>
                <a:spcPts val="3499"/>
              </a:lnSpc>
            </a:pPr>
            <a:r>
              <a:rPr lang="en-US" sz="2916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Score &amp; replenish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686146" y="10719329"/>
            <a:ext cx="5371042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5"/>
              </a:lnSpc>
            </a:pPr>
            <a:r>
              <a:rPr lang="en-US" sz="2395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REPEAT FOR 5 ROUNDS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487083" y="11314642"/>
            <a:ext cx="16113125" cy="47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Unfinished tasks keep their safety dice.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9685000" y="9757304"/>
            <a:ext cx="621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TASK EXAMPLE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9685000" y="10339388"/>
            <a:ext cx="637645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Elementary Student</a:t>
            </a:r>
          </a:p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1 Crosswalk + 1 Sidewalk</a:t>
            </a:r>
          </a:p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Complete the project to earn 3 SP.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487083" y="12257617"/>
            <a:ext cx="899583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WINNING CONDITION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487083" y="12826471"/>
            <a:ext cx="16113125" cy="68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Most Safety Points after Round 5 wins.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487083" y="13537142"/>
            <a:ext cx="23124583" cy="51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Task SP + policy bonuses + 1 SP per 3 Coins − unresolved emergency penalties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2989792"/>
            <a:ext cx="7514167" cy="4101042"/>
            <a:chOff x="0" y="0"/>
            <a:chExt cx="7213600" cy="393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136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7213600">
                  <a:moveTo>
                    <a:pt x="0" y="0"/>
                  </a:moveTo>
                  <a:lnTo>
                    <a:pt x="7213600" y="0"/>
                  </a:lnTo>
                  <a:lnTo>
                    <a:pt x="7213600" y="3937000"/>
                  </a:lnTo>
                  <a:lnTo>
                    <a:pt x="0" y="393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024" t="0" r="-2002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01562" y="2899397"/>
            <a:ext cx="3360208" cy="4480282"/>
            <a:chOff x="0" y="0"/>
            <a:chExt cx="3225800" cy="4301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25800" cy="4301109"/>
            </a:xfrm>
            <a:custGeom>
              <a:avLst/>
              <a:gdLst/>
              <a:ahLst/>
              <a:cxnLst/>
              <a:rect r="r" b="b" t="t" l="l"/>
              <a:pathLst>
                <a:path h="4301109" w="3225800">
                  <a:moveTo>
                    <a:pt x="0" y="0"/>
                  </a:moveTo>
                  <a:lnTo>
                    <a:pt x="3225800" y="0"/>
                  </a:lnTo>
                  <a:lnTo>
                    <a:pt x="3225800" y="4301109"/>
                  </a:lnTo>
                  <a:lnTo>
                    <a:pt x="0" y="430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531667" y="2899397"/>
            <a:ext cx="3360208" cy="4480282"/>
            <a:chOff x="0" y="0"/>
            <a:chExt cx="3225800" cy="4301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25800" cy="4301109"/>
            </a:xfrm>
            <a:custGeom>
              <a:avLst/>
              <a:gdLst/>
              <a:ahLst/>
              <a:cxnLst/>
              <a:rect r="r" b="b" t="t" l="l"/>
              <a:pathLst>
                <a:path h="4301109" w="3225800">
                  <a:moveTo>
                    <a:pt x="0" y="0"/>
                  </a:moveTo>
                  <a:lnTo>
                    <a:pt x="3225800" y="0"/>
                  </a:lnTo>
                  <a:lnTo>
                    <a:pt x="3225800" y="4301109"/>
                  </a:lnTo>
                  <a:lnTo>
                    <a:pt x="0" y="430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Core mechanics &amp; player strategies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87083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01  WORKER PLACEMENT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87083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Competition for action spaces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87083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Place 3 employees in departments, one pawn per action space.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87083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Secure scarce actions early. Balance immediate funding against reusable infrastructure.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30417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02  DICE DRAFTING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30417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Shared dice, lasting commitments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30417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Draft matching dice. Unfinished tasks keep them between rounds.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30417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30417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Choose tasks with overlapping requirements. Keep Coins available to adjust a die or mitigate danger.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573750" y="7891992"/>
            <a:ext cx="7487708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03  GOVERNMENT POLICIES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573750" y="8572500"/>
            <a:ext cx="73025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749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Direct player interaction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73750" y="9942512"/>
            <a:ext cx="7209896" cy="150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Policies alter resources or placement, including opponents’ pawns.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573750" y="11887200"/>
            <a:ext cx="722312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STRATEGY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573750" y="12469283"/>
            <a:ext cx="7302500" cy="154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812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Time policy effects around contested actions and avoid relying on a single department.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87083" y="3490291"/>
            <a:ext cx="2910417" cy="3880551"/>
            <a:chOff x="0" y="0"/>
            <a:chExt cx="2794000" cy="37253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06042" y="3490291"/>
            <a:ext cx="2910417" cy="3880551"/>
            <a:chOff x="0" y="0"/>
            <a:chExt cx="2794000" cy="37253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25000" y="3490291"/>
            <a:ext cx="2910417" cy="3880551"/>
            <a:chOff x="0" y="0"/>
            <a:chExt cx="2794000" cy="37253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0" cy="3725291"/>
            </a:xfrm>
            <a:custGeom>
              <a:avLst/>
              <a:gdLst/>
              <a:ahLst/>
              <a:cxnLst/>
              <a:rect r="r" b="b" t="t" l="l"/>
              <a:pathLst>
                <a:path h="3725291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3725291"/>
                  </a:lnTo>
                  <a:lnTo>
                    <a:pt x="0" y="3725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487083" y="8368242"/>
            <a:ext cx="12766146" cy="124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3020">
                <a:solidFill>
                  <a:srgbClr val="F3EAD7"/>
                </a:solidFill>
                <a:latin typeface="Arial"/>
                <a:ea typeface="Arial"/>
                <a:cs typeface="Arial"/>
                <a:sym typeface="Arial"/>
              </a:rPr>
              <a:t>AI-generated illustrations, selected to match a consistent card style.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487083" y="10093854"/>
            <a:ext cx="7408333" cy="3439583"/>
            <a:chOff x="0" y="0"/>
            <a:chExt cx="71120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1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576" r="0" b="-1057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10803167" y="9217254"/>
            <a:ext cx="4127500" cy="4504866"/>
            <a:chOff x="0" y="0"/>
            <a:chExt cx="3962400" cy="43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62400" cy="4324672"/>
            </a:xfrm>
            <a:custGeom>
              <a:avLst/>
              <a:gdLst/>
              <a:ahLst/>
              <a:cxnLst/>
              <a:rect r="r" b="b" t="t" l="l"/>
              <a:pathLst>
                <a:path h="4324672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4324672"/>
                  </a:lnTo>
                  <a:lnTo>
                    <a:pt x="0" y="432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145" r="0" b="-1114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Visual design &amp; development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87083" y="2759075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AI-ASSISTED ARTWORK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7663392"/>
            <a:ext cx="3307292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Planning task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6042" y="7663392"/>
            <a:ext cx="3307292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Traffic event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5000" y="7663392"/>
            <a:ext cx="3968750" cy="53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Government policy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7083" y="13695892"/>
            <a:ext cx="7871354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phase and action-guide sketches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2708" y="13695892"/>
            <a:ext cx="4696354" cy="45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395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Early prototype playtest</a:t>
            </a:r>
          </a:p>
        </p:txBody>
      </p:sp>
      <p:sp>
        <p:nvSpPr>
          <p:cNvPr id="25" name="Sketch heading">
            <a:extLst>
              <a:ext uri="{FF2B5EF4-FFF2-40B4-BE49-F238E27FC236}">
                <a16:creationId xmlns:a16="http://schemas.microsoft.com/office/drawing/2014/main" id="{BE087C75-570A-4DF6-BAEE-F8ADBABC4AE5}"/>
              </a:ext>
            </a:extLst>
          </p:cNvPr>
          <p:cNvSpPr>
            <a:spLocks noGrp="1"/>
          </p:cNvSpPr>
          <p:nvPr/>
        </p:nvSpPr>
        <p:spPr>
          <a:xfrm>
            <a:off x="16592550" y="2933700"/>
            <a:ext cx="9448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MY CARD SKETCH</a:t>
            </a:r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9"/>
          <a:srcRect l="12000" t="0" r="0" b="0"/>
          <a:stretch>
            <a:fillRect l="0" t="0" r="0" b="0"/>
          </a:stretch>
        </p:blipFill>
        <p:spPr>
          <a:xfrm rot="16200000">
            <a:off x="18954750" y="1295400"/>
            <a:ext cx="4724400" cy="9448800"/>
          </a:xfrm>
          <a:prstGeom prst="rect">
            <a:avLst/>
          </a:prstGeom>
        </p:spPr>
      </p:pic>
      <p:sp>
        <p:nvSpPr>
          <p:cNvPr id="27" name="Process label 0">
            <a:extLst>
              <a:ext uri="{FF2B5EF4-FFF2-40B4-BE49-F238E27FC236}">
                <a16:creationId xmlns:a16="http://schemas.microsoft.com/office/drawing/2014/main" id="{7627158F-991A-4E58-B7F4-D5C8F157541A}"/>
              </a:ext>
            </a:extLst>
          </p:cNvPr>
          <p:cNvSpPr>
            <a:spLocks noGrp="1"/>
          </p:cNvSpPr>
          <p:nvPr/>
        </p:nvSpPr>
        <p:spPr>
          <a:xfrm>
            <a:off x="16592550" y="9086850"/>
            <a:ext cx="9448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01  SKETCH</a:t>
            </a:r>
          </a:p>
        </p:txBody>
      </p:sp>
      <p:sp>
        <p:nvSpPr>
          <p:cNvPr id="28" name="Process caption 0">
            <a:extLst>
              <a:ext uri="{FF2B5EF4-FFF2-40B4-BE49-F238E27FC236}">
                <a16:creationId xmlns:a16="http://schemas.microsoft.com/office/drawing/2014/main" id="{4AE09BDC-7AA0-4655-B561-53CB22A07FF4}"/>
              </a:ext>
            </a:extLst>
          </p:cNvPr>
          <p:cNvSpPr>
            <a:spLocks noGrp="1"/>
          </p:cNvSpPr>
          <p:nvPr/>
        </p:nvSpPr>
        <p:spPr>
          <a:xfrm>
            <a:off x="16592550" y="9601200"/>
            <a:ext cx="9448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plan the card layout and reading order.</a:t>
            </a:r>
          </a:p>
        </p:txBody>
      </p:sp>
      <p:sp>
        <p:nvSpPr>
          <p:cNvPr id="29" name="Process label 1">
            <a:extLst>
              <a:ext uri="{FF2B5EF4-FFF2-40B4-BE49-F238E27FC236}">
                <a16:creationId xmlns:a16="http://schemas.microsoft.com/office/drawing/2014/main" id="{4DAD1E02-A017-4516-B13F-6F9728D7C8F9}"/>
              </a:ext>
            </a:extLst>
          </p:cNvPr>
          <p:cNvSpPr>
            <a:spLocks noGrp="1"/>
          </p:cNvSpPr>
          <p:nvPr/>
        </p:nvSpPr>
        <p:spPr>
          <a:xfrm>
            <a:off x="16592550" y="10572750"/>
            <a:ext cx="9448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02  GENERATE</a:t>
            </a:r>
          </a:p>
        </p:txBody>
      </p:sp>
      <p:sp>
        <p:nvSpPr>
          <p:cNvPr id="30" name="Process caption 1">
            <a:extLst>
              <a:ext uri="{FF2B5EF4-FFF2-40B4-BE49-F238E27FC236}">
                <a16:creationId xmlns:a16="http://schemas.microsoft.com/office/drawing/2014/main" id="{22C6A113-69CD-4AAF-BE1F-FE9AA3ED1197}"/>
              </a:ext>
            </a:extLst>
          </p:cNvPr>
          <p:cNvSpPr>
            <a:spLocks noGrp="1"/>
          </p:cNvSpPr>
          <p:nvPr/>
        </p:nvSpPr>
        <p:spPr>
          <a:xfrm>
            <a:off x="16592550" y="11087100"/>
            <a:ext cx="9448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use prompts and references to generate illustrations.</a:t>
            </a:r>
          </a:p>
        </p:txBody>
      </p:sp>
      <p:sp>
        <p:nvSpPr>
          <p:cNvPr id="31" name="Process label 2">
            <a:extLst>
              <a:ext uri="{FF2B5EF4-FFF2-40B4-BE49-F238E27FC236}">
                <a16:creationId xmlns:a16="http://schemas.microsoft.com/office/drawing/2014/main" id="{A337FB85-F83A-441F-A19B-E5CA8E3028AB}"/>
              </a:ext>
            </a:extLst>
          </p:cNvPr>
          <p:cNvSpPr>
            <a:spLocks noGrp="1"/>
          </p:cNvSpPr>
          <p:nvPr/>
        </p:nvSpPr>
        <p:spPr>
          <a:xfrm>
            <a:off x="16592550" y="12058650"/>
            <a:ext cx="9448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EDB75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B75E"/>
                </a:solidFill>
                <a:latin typeface="Arial"/>
                <a:ea typeface="Arial"/>
                <a:cs typeface="Arial"/>
              </a:rPr>
              <a:t>03  SELECT</a:t>
            </a:r>
          </a:p>
        </p:txBody>
      </p:sp>
      <p:sp>
        <p:nvSpPr>
          <p:cNvPr id="32" name="Process caption 2">
            <a:extLst>
              <a:ext uri="{FF2B5EF4-FFF2-40B4-BE49-F238E27FC236}">
                <a16:creationId xmlns:a16="http://schemas.microsoft.com/office/drawing/2014/main" id="{4A2B05F0-D4D9-40A4-9B95-C7F69AE3B71D}"/>
              </a:ext>
            </a:extLst>
          </p:cNvPr>
          <p:cNvSpPr>
            <a:spLocks noGrp="1"/>
          </p:cNvSpPr>
          <p:nvPr/>
        </p:nvSpPr>
        <p:spPr>
          <a:xfrm>
            <a:off x="16592550" y="12573000"/>
            <a:ext cx="94488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F1E8C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1E8CE"/>
                </a:solidFill>
                <a:latin typeface="Arial"/>
                <a:ea typeface="Arial"/>
                <a:cs typeface="Arial"/>
              </a:rPr>
              <a:t>I choose artwork that matches the approved card style.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1" t="0" r="-3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87500" y="0"/>
            <a:ext cx="25400000" cy="14287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2027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083" y="483658"/>
            <a:ext cx="13229167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VISION ZERO / PERSONAL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41667" y="483658"/>
            <a:ext cx="1746250" cy="48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291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06 / 06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7083" y="1230312"/>
            <a:ext cx="23283333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9"/>
              </a:lnSpc>
            </a:pPr>
            <a:r>
              <a:rPr lang="en-US" sz="6458">
                <a:solidFill>
                  <a:srgbClr val="F3EAD7"/>
                </a:solidFill>
                <a:latin typeface="Georgia"/>
                <a:ea typeface="Georgia"/>
                <a:cs typeface="Georgia"/>
                <a:sym typeface="Georgia"/>
              </a:rPr>
              <a:t>Final outcome &amp; player testing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87083" y="2878137"/>
            <a:ext cx="144197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FINAL OUTCOME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477161" y="3601641"/>
            <a:ext cx="14439635" cy="8129323"/>
            <a:chOff x="0" y="0"/>
            <a:chExt cx="13862050" cy="78041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62050" cy="7804150"/>
            </a:xfrm>
            <a:custGeom>
              <a:avLst/>
              <a:gdLst/>
              <a:ahLst/>
              <a:cxnLst/>
              <a:rect r="r" b="b" t="t" l="l"/>
              <a:pathLst>
                <a:path h="7804150" w="13862050">
                  <a:moveTo>
                    <a:pt x="0" y="0"/>
                  </a:moveTo>
                  <a:lnTo>
                    <a:pt x="13862050" y="0"/>
                  </a:lnTo>
                  <a:lnTo>
                    <a:pt x="13862050" y="7804150"/>
                  </a:lnTo>
                  <a:lnTo>
                    <a:pt x="0" y="78041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804583" y="7445110"/>
            <a:ext cx="13784792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FINAL GAME / TABLETOP PHOTOGRAPH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4167" y="2878137"/>
            <a:ext cx="841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TESTING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664245" y="3601641"/>
            <a:ext cx="8433594" cy="3803385"/>
            <a:chOff x="0" y="0"/>
            <a:chExt cx="8096250" cy="3651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6250" cy="3651250"/>
            </a:xfrm>
            <a:custGeom>
              <a:avLst/>
              <a:gdLst/>
              <a:ahLst/>
              <a:cxnLst/>
              <a:rect r="r" b="b" t="t" l="l"/>
              <a:pathLst>
                <a:path h="365125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3651250"/>
                  </a:lnTo>
                  <a:lnTo>
                    <a:pt x="0" y="36512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7991667" y="5282142"/>
            <a:ext cx="777875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PLAYTEST PHOTOGRAPH 01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664245" y="7914349"/>
            <a:ext cx="8433594" cy="3816615"/>
            <a:chOff x="0" y="0"/>
            <a:chExt cx="8096250" cy="36639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96250" cy="3663950"/>
            </a:xfrm>
            <a:custGeom>
              <a:avLst/>
              <a:gdLst/>
              <a:ahLst/>
              <a:cxnLst/>
              <a:rect r="r" b="b" t="t" l="l"/>
              <a:pathLst>
                <a:path h="3663950" w="8096250">
                  <a:moveTo>
                    <a:pt x="0" y="0"/>
                  </a:moveTo>
                  <a:lnTo>
                    <a:pt x="8096250" y="0"/>
                  </a:lnTo>
                  <a:lnTo>
                    <a:pt x="8096250" y="3663950"/>
                  </a:lnTo>
                  <a:lnTo>
                    <a:pt x="0" y="3663950"/>
                  </a:lnTo>
                  <a:close/>
                </a:path>
              </a:pathLst>
            </a:custGeom>
            <a:solidFill>
              <a:srgbClr val="07171D">
                <a:alpha val="48627"/>
              </a:srgbClr>
            </a:solidFill>
            <a:ln w="19050" cap="sq">
              <a:solidFill>
                <a:srgbClr val="50707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7991667" y="9601465"/>
            <a:ext cx="7778750" cy="60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B8C8C8"/>
                </a:solidFill>
                <a:latin typeface="Arial"/>
                <a:ea typeface="Arial"/>
                <a:cs typeface="Arial"/>
                <a:sym typeface="Arial"/>
              </a:rPr>
              <a:t>PLAYTEST PHOTOGRAPH 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87083" y="12363450"/>
            <a:ext cx="1441979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OUTCOME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487083" y="13626042"/>
            <a:ext cx="14419792" cy="13229"/>
            <a:chOff x="0" y="0"/>
            <a:chExt cx="138430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843000" cy="12700"/>
            </a:xfrm>
            <a:custGeom>
              <a:avLst/>
              <a:gdLst/>
              <a:ahLst/>
              <a:cxnLst/>
              <a:rect r="r" b="b" t="t" l="l"/>
              <a:pathLst>
                <a:path h="12700" w="13843000">
                  <a:moveTo>
                    <a:pt x="0" y="0"/>
                  </a:moveTo>
                  <a:lnTo>
                    <a:pt x="13843000" y="0"/>
                  </a:lnTo>
                  <a:lnTo>
                    <a:pt x="13843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7674167" y="12363450"/>
            <a:ext cx="841375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 b="true">
                <a:solidFill>
                  <a:srgbClr val="D8AF70"/>
                </a:solidFill>
                <a:latin typeface="Arial Bold"/>
                <a:ea typeface="Arial Bold"/>
                <a:cs typeface="Arial Bold"/>
                <a:sym typeface="Arial Bold"/>
              </a:rPr>
              <a:t>PLAYER FEEDBACK &amp; NEXT STEPS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674167" y="13626042"/>
            <a:ext cx="8413750" cy="13229"/>
            <a:chOff x="0" y="0"/>
            <a:chExt cx="8077200" cy="12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77200" cy="12700"/>
            </a:xfrm>
            <a:custGeom>
              <a:avLst/>
              <a:gdLst/>
              <a:ahLst/>
              <a:cxnLst/>
              <a:rect r="r" b="b" t="t" l="l"/>
              <a:pathLst>
                <a:path h="12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507078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5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6681566" cy="14287500"/>
            <a:chOff x="0" y="0"/>
            <a:chExt cx="256143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1430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614303">
                  <a:moveTo>
                    <a:pt x="0" y="0"/>
                  </a:moveTo>
                  <a:lnTo>
                    <a:pt x="25614303" y="0"/>
                  </a:lnTo>
                  <a:lnTo>
                    <a:pt x="25614303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51" r="0" b="-255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95833" y="0"/>
            <a:ext cx="17991667" cy="14287500"/>
            <a:chOff x="0" y="0"/>
            <a:chExt cx="17272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7272000">
                  <a:moveTo>
                    <a:pt x="0" y="0"/>
                  </a:moveTo>
                  <a:lnTo>
                    <a:pt x="17272000" y="0"/>
                  </a:lnTo>
                  <a:lnTo>
                    <a:pt x="1727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116">
                    <a:alpha val="0"/>
                  </a:srgbClr>
                </a:gs>
                <a:gs pos="18000">
                  <a:srgbClr val="071116">
                    <a:alpha val="86000"/>
                  </a:srgbClr>
                </a:gs>
                <a:gs pos="100000">
                  <a:srgbClr val="071116">
                    <a:alpha val="86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7500" y="0"/>
            <a:ext cx="7871354" cy="4497917"/>
            <a:chOff x="0" y="0"/>
            <a:chExt cx="7556500" cy="431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565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7556500">
                  <a:moveTo>
                    <a:pt x="0" y="0"/>
                  </a:moveTo>
                  <a:lnTo>
                    <a:pt x="7556500" y="0"/>
                  </a:lnTo>
                  <a:lnTo>
                    <a:pt x="7556500" y="4318000"/>
                  </a:lnTo>
                  <a:lnTo>
                    <a:pt x="0" y="4318000"/>
                  </a:lnTo>
                  <a:close/>
                </a:path>
              </a:pathLst>
            </a:custGeom>
            <a:gradFill rotWithShape="true">
              <a:gsLst>
                <a:gs pos="0">
                  <a:srgbClr val="061014">
                    <a:alpha val="85000"/>
                  </a:srgbClr>
                </a:gs>
                <a:gs pos="100000">
                  <a:srgbClr val="061014">
                    <a:alpha val="0"/>
                  </a:srgbClr>
                </a:gs>
              </a:gsLst>
              <a:lin ang="5400000"/>
            </a:gra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34167" y="797454"/>
            <a:ext cx="6879167" cy="166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49"/>
              </a:lnSpc>
            </a:pPr>
            <a:r>
              <a:rPr lang="en-US" sz="8958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LETTING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34167" y="2116667"/>
            <a:ext cx="6614583" cy="165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99"/>
              </a:lnSpc>
            </a:pPr>
            <a:r>
              <a:rPr lang="en-US" sz="11249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9792" y="3836458"/>
            <a:ext cx="3836458" cy="1058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29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A story of growing up</a:t>
            </a:r>
          </a:p>
          <a:p>
            <a:pPr algn="l">
              <a:lnSpc>
                <a:spcPts val="2749"/>
              </a:lnSpc>
            </a:pPr>
            <a:r>
              <a:rPr lang="en-US" sz="229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and learning to let go.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7083" y="13315950"/>
            <a:ext cx="582083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683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Unity / C#     Windows</a:t>
            </a:r>
          </a:p>
          <a:p>
            <a:pPr algn="l">
              <a:lnSpc>
                <a:spcPts val="35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186458" y="801158"/>
            <a:ext cx="4497917" cy="58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124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GGJ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46927" y="810683"/>
            <a:ext cx="5953125" cy="37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979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THEME: GROW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86458" y="1705769"/>
            <a:ext cx="1389062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670" u="sng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3" tooltip="https://globalgamejam.org/games/2026/letting-go-0"/>
              </a:rPr>
              <a:t>globalgamejam.org/games/2026/letting-go-0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6299583" y="612788"/>
            <a:ext cx="1375833" cy="1381112"/>
            <a:chOff x="0" y="0"/>
            <a:chExt cx="1320800" cy="13258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20800" cy="1325880"/>
            </a:xfrm>
            <a:custGeom>
              <a:avLst/>
              <a:gdLst/>
              <a:ahLst/>
              <a:cxnLst/>
              <a:rect r="r" b="b" t="t" l="l"/>
              <a:pathLst>
                <a:path h="1325880" w="1320800">
                  <a:moveTo>
                    <a:pt x="0" y="0"/>
                  </a:moveTo>
                  <a:lnTo>
                    <a:pt x="1320800" y="0"/>
                  </a:lnTo>
                  <a:lnTo>
                    <a:pt x="1320800" y="1325880"/>
                  </a:lnTo>
                  <a:lnTo>
                    <a:pt x="0" y="1325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86458" y="2451100"/>
            <a:ext cx="15742708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908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Letting Go is a 2D side-scrolling narrative game where pressing and releasing a button lets you hold hands, steady your breathing, and support others through life’s defining firsts, growing from a child who needs their parents’ hand into an adult who must let someone else take their first step alone.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86458" y="4619043"/>
            <a:ext cx="10451042" cy="5102344"/>
            <a:chOff x="0" y="0"/>
            <a:chExt cx="10033000" cy="4898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33000" cy="4898263"/>
            </a:xfrm>
            <a:custGeom>
              <a:avLst/>
              <a:gdLst/>
              <a:ahLst/>
              <a:cxnLst/>
              <a:rect r="r" b="b" t="t" l="l"/>
              <a:pathLst>
                <a:path h="4898263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4898263"/>
                  </a:lnTo>
                  <a:lnTo>
                    <a:pt x="0" y="4898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186458" y="9902825"/>
            <a:ext cx="1058333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2687">
                <a:solidFill>
                  <a:srgbClr val="DDB57B"/>
                </a:solidFill>
                <a:latin typeface="Georgia"/>
                <a:ea typeface="Georgia"/>
                <a:cs typeface="Georgia"/>
                <a:sym typeface="Georgia"/>
              </a:rPr>
              <a:t>Holding a hand before taking the first step alone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98958" y="4575175"/>
            <a:ext cx="4630208" cy="41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74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MY ROLE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298958" y="5149850"/>
            <a:ext cx="4802188" cy="106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Game Designer</a:t>
            </a:r>
          </a:p>
          <a:p>
            <a:pPr algn="l">
              <a:lnSpc>
                <a:spcPts val="4249"/>
              </a:lnSpc>
            </a:pPr>
            <a:r>
              <a:rPr lang="en-US" sz="3541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&amp; Programmer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298958" y="6684433"/>
            <a:ext cx="4828646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Core interaction design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Unity gameplay systems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F5E8D0"/>
                </a:solidFill>
                <a:latin typeface="Arial"/>
                <a:ea typeface="Arial"/>
                <a:cs typeface="Arial"/>
                <a:sym typeface="Arial"/>
              </a:rPr>
              <a:t>Chapter flow and playtest iteration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298958" y="8526992"/>
            <a:ext cx="4894792" cy="38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770" b="true">
                <a:solidFill>
                  <a:srgbClr val="DDB57B"/>
                </a:solidFill>
                <a:latin typeface="Arial Bold"/>
                <a:ea typeface="Arial Bold"/>
                <a:cs typeface="Arial Bold"/>
                <a:sym typeface="Arial Bold"/>
              </a:rPr>
              <a:t>TEAM COLLABORATION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298958" y="9025996"/>
            <a:ext cx="4894792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Four-person team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Teammates: visual art,</a:t>
            </a:r>
          </a:p>
          <a:p>
            <a:pPr algn="l">
              <a:lnSpc>
                <a:spcPts val="2989"/>
              </a:lnSpc>
            </a:pPr>
            <a:r>
              <a:rPr lang="en-US" sz="2491">
                <a:solidFill>
                  <a:srgbClr val="BCC4C3"/>
                </a:solidFill>
                <a:latin typeface="Arial"/>
                <a:ea typeface="Arial"/>
                <a:cs typeface="Arial"/>
                <a:sym typeface="Arial"/>
              </a:rPr>
              <a:t>music and sound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85702" y="10795000"/>
            <a:ext cx="4481526" cy="2540000"/>
            <a:chOff x="0" y="0"/>
            <a:chExt cx="4302265" cy="243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2252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02252">
                  <a:moveTo>
                    <a:pt x="0" y="0"/>
                  </a:moveTo>
                  <a:lnTo>
                    <a:pt x="4302252" y="0"/>
                  </a:lnTo>
                  <a:lnTo>
                    <a:pt x="4302252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186458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First journey alone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5533701" y="10795000"/>
            <a:ext cx="5074695" cy="2540000"/>
            <a:chOff x="0" y="0"/>
            <a:chExt cx="4871707" cy="243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71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871720">
                  <a:moveTo>
                    <a:pt x="0" y="0"/>
                  </a:moveTo>
                  <a:lnTo>
                    <a:pt x="4871720" y="0"/>
                  </a:lnTo>
                  <a:lnTo>
                    <a:pt x="487172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531042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Facing a new chapter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1160462" y="10795000"/>
            <a:ext cx="4510326" cy="2540000"/>
            <a:chOff x="0" y="0"/>
            <a:chExt cx="4329913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29938" cy="2438400"/>
            </a:xfrm>
            <a:custGeom>
              <a:avLst/>
              <a:gdLst/>
              <a:ahLst/>
              <a:cxnLst/>
              <a:rect r="r" b="b" t="t" l="l"/>
              <a:pathLst>
                <a:path h="2438400" w="4329938">
                  <a:moveTo>
                    <a:pt x="0" y="0"/>
                  </a:moveTo>
                  <a:lnTo>
                    <a:pt x="4329938" y="0"/>
                  </a:lnTo>
                  <a:lnTo>
                    <a:pt x="4329938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20875625" y="13457767"/>
            <a:ext cx="50800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2583">
                <a:solidFill>
                  <a:srgbClr val="F5E8D0"/>
                </a:solidFill>
                <a:latin typeface="Georgia"/>
                <a:ea typeface="Georgia"/>
                <a:cs typeface="Georgia"/>
                <a:sym typeface="Georgia"/>
              </a:rPr>
              <a:t>Learning to let 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DAHTYp_Glpk</dc:identifier>
  <dcterms:modified xsi:type="dcterms:W3CDTF">2011-08-01T06:04:30Z</dcterms:modified>
  <cp:revision>1</cp:revision>
  <dc:title>Peter_Protfolio</dc:title>
</cp:coreProperties>
</file>
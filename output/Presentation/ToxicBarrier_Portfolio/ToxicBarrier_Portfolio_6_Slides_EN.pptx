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bc70d364244a22" /><Relationship Type="http://schemas.openxmlformats.org/officeDocument/2006/relationships/extended-properties" Target="/docProps/app.xml" Id="R26e56951156341f6" /><Relationship Type="http://schemas.openxmlformats.org/officeDocument/2006/relationships/officeDocument" Target="/ppt/presentation.xml" Id="R324e4aba68ca4637" /></Relationships>
</file>

<file path=ppt/presentation.xml><?xml version="1.0" encoding="utf-8"?>
<p:presentation xmlns:p="http://schemas.openxmlformats.org/presentationml/2006/main">
  <p:sldMasterIdLst>
    <p:sldMasterId xmlns:r="http://schemas.openxmlformats.org/officeDocument/2006/relationships" id="2147483648" r:id="R8a421d04fb094a81"/>
  </p:sldMasterIdLst>
  <p:notesMasterIdLst>
    <p:notesMasterId xmlns:r="http://schemas.openxmlformats.org/officeDocument/2006/relationships" r:id="Rd7e47fde8834496d"/>
  </p:notesMasterIdLst>
  <p:sldIdLst>
    <p:sldId xmlns:r="http://schemas.openxmlformats.org/officeDocument/2006/relationships" id="256" r:id="R7a05515ce75949c5"/>
    <p:sldId xmlns:r="http://schemas.openxmlformats.org/officeDocument/2006/relationships" id="257" r:id="Rf9098536108244d3"/>
    <p:sldId xmlns:r="http://schemas.openxmlformats.org/officeDocument/2006/relationships" id="258" r:id="R8760a1ccd48145cc"/>
    <p:sldId xmlns:r="http://schemas.openxmlformats.org/officeDocument/2006/relationships" id="259" r:id="R301352ee55ce43dd"/>
    <p:sldId xmlns:r="http://schemas.openxmlformats.org/officeDocument/2006/relationships" id="260" r:id="R730daa8edc0544ce"/>
    <p:sldId xmlns:r="http://schemas.openxmlformats.org/officeDocument/2006/relationships" id="261" r:id="Rab3d795b46684ff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5a6fe91dd64bb7" /><Relationship Type="http://schemas.openxmlformats.org/officeDocument/2006/relationships/slideMaster" Target="/ppt/slideMasters/slideMaster1.xml" Id="R8a421d04fb094a81" /><Relationship Type="http://schemas.openxmlformats.org/officeDocument/2006/relationships/notesMaster" Target="/ppt/notesMasters/notesMaster1.xml" Id="Rd7e47fde8834496d" /><Relationship Type="http://schemas.openxmlformats.org/officeDocument/2006/relationships/presProps" Target="/ppt/presProps.xml" Id="R9fbfbc210d394201" /><Relationship Type="http://schemas.openxmlformats.org/officeDocument/2006/relationships/tableStyles" Target="/ppt/tableStyles.xml" Id="Rb6b8fc000d14484a" /><Relationship Type="http://schemas.openxmlformats.org/officeDocument/2006/relationships/slide" Target="/ppt/slides/slide1.xml" Id="R7a05515ce75949c5" /><Relationship Type="http://schemas.openxmlformats.org/officeDocument/2006/relationships/slide" Target="/ppt/slides/slide2.xml" Id="Rf9098536108244d3" /><Relationship Type="http://schemas.openxmlformats.org/officeDocument/2006/relationships/slide" Target="/ppt/slides/slide3.xml" Id="R8760a1ccd48145cc" /><Relationship Type="http://schemas.openxmlformats.org/officeDocument/2006/relationships/slide" Target="/ppt/slides/slide4.xml" Id="R301352ee55ce43dd" /><Relationship Type="http://schemas.openxmlformats.org/officeDocument/2006/relationships/slide" Target="/ppt/slides/slide5.xml" Id="R730daa8edc0544ce" /><Relationship Type="http://schemas.openxmlformats.org/officeDocument/2006/relationships/slide" Target="/ppt/slides/slide6.xml" Id="Rab3d795b46684f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1ef8f19d7645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21da635db946b1" /><Relationship Type="http://schemas.openxmlformats.org/officeDocument/2006/relationships/notesMaster" Target="/ppt/notesMasters/notesMaster1.xml" Id="Rc59b146bb2574c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361b3c825f467e" /><Relationship Type="http://schemas.openxmlformats.org/officeDocument/2006/relationships/notesMaster" Target="/ppt/notesMasters/notesMaster1.xml" Id="R67dde1270ac042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d703678f064423" /><Relationship Type="http://schemas.openxmlformats.org/officeDocument/2006/relationships/notesMaster" Target="/ppt/notesMasters/notesMaster1.xml" Id="R877bba049a7f4e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27e794e6614149" /><Relationship Type="http://schemas.openxmlformats.org/officeDocument/2006/relationships/notesMaster" Target="/ppt/notesMasters/notesMaster1.xml" Id="R3a3764eb4db441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10309574274319" /><Relationship Type="http://schemas.openxmlformats.org/officeDocument/2006/relationships/notesMaster" Target="/ppt/notesMasters/notesMaster1.xml" Id="Rd01e2591789146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1c9338cf69489b" /><Relationship Type="http://schemas.openxmlformats.org/officeDocument/2006/relationships/notesMaster" Target="/ppt/notesMasters/notesMaster1.xml" Id="Ref2692af67d249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ToxicBarrier is my solo game project. The player and tower fight on the same side. The player supplies resources and controls enemy positioning, while the tower provides automatic fire. My work covers game design and development, level iteration and integrating the game’s presentation. Development began in December 2025.</a:t>
            </a:r>
          </a:p>
          <a:p xmlns:a="http://schemas.openxmlformats.org/drawingml/2006/main">
            <a:r>
              <a:t/>
            </a:r>
          </a:p>
          <a:p xmlns:a="http://schemas.openxmlformats.org/drawingml/2006/main">
            <a:r>
              <a:t>Sources: User confirmed solo project and game development responsibility. Git initial commit 9111d0f dated 2025-12-27 agrees with Unity project creation time. Reference: Letting-Go-Personal-Portfolio.pptx slide 1, original layout and master reused. Screenshots: .utmp/ui-checks/02-game-hud.png, 07-fx-level-3.png, 11-building-route.png, 12-boss-telegraph.png; staged feature checks, not player research. Tool icons: https://github.com/devicons/devicon (MIT). New title logo is a portfolio design proposal, not an existing game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loop links resource collection to survival. Each trip away from the tower supports the next upgrade, but leaves defense less controlled. Progress through three regions ends only when the tower reaches level three and all waves and enemies are cleared. Player or tower death ends the run. E is contextual: upgrades require proximity and enough resources. Ordinary exploration supplies can be collected manually with E. Repair cargo loads by proximity.</a:t>
            </a:r>
          </a:p>
          <a:p xmlns:a="http://schemas.openxmlformats.org/drawingml/2006/main">
            <a:r>
              <a:t/>
            </a:r>
          </a:p>
          <a:p xmlns:a="http://schemas.openxmlformats.org/drawingml/2006/main">
            <a:r>
              <a:t>Sources: Assets/Scripts/Loot/Enemies/Tower.cs; Assets/Scripts/Core/PlayerController2D.cs; Assets/Scripts/Map/ExplorationSupply.cs; Assets/Scripts/Player/TowerRepairCargo.cs; Assets/Documentation/FlowReview.md.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game’s current three-layer circular map, assembled from the actual imported sprites at their authored radius ratios. The inner region establishes the loop. Outer areas increase exposure and reward movement away from the tower. Thirty building obstacles form staggered pairs rather than sealing routes. Ground-level colliders and matching navigation obstacles make the visible cover usable. These buildings are separate scene objects and are not included in the terrain-only overview shown here.</a:t>
            </a:r>
          </a:p>
          <a:p xmlns:a="http://schemas.openxmlformats.org/drawingml/2006/main">
            <a:r>
              <a:t/>
            </a:r>
          </a:p>
          <a:p xmlns:a="http://schemas.openxmlformats.org/drawingml/2006/main">
            <a:r>
              <a:t>Sources: Assets/Sprites/Sprites_map_1.png, Sprites_map_2.png, Sprites_map_3.png; output/Review/2026-09-20/ExpandedRoutes.md and expanded-navigation.txt. Assets/Editor/WorldLayoutPolishTool.cs.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left-hand excerpt is copied directly from the project source. When the player is visible, the enemy stores their position and the current time. If sight is lost, the enemy temporarily clears the live target and searches the stored point. After 1.6 seconds, the rest of the method chooses the nearest living tower again. GetPlayerInAgroRange also requires line of sight. The movement branch handles the stored point rather than tracking the hidden player through walls.</a:t>
            </a:r>
          </a:p>
          <a:p xmlns:a="http://schemas.openxmlformats.org/drawingml/2006/main">
            <a:r>
              <a:t/>
            </a:r>
          </a:p>
          <a:p xmlns:a="http://schemas.openxmlformats.org/drawingml/2006/main">
            <a:r>
              <a:t>Sources: Assets/Scripts/Loot/Enemies/EnemyAttackBehavior.cs, UpdateTarget and GetPlayerInAgroRange. output/Review/2026-09-20/route-gameplay-regression.txt. Code copied from current working tree; not a claim of hand-authorship of every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shows the sprites currently used by the project, including the level-zero tower and all three upgrades. The work presented here is art direction and integration: coherent materials, readable silhouettes, real alpha, point filtering and consistent base pivots. Resource types remain distinct at pickup size. The production process moves from the core loop to visual integration and then to navigation, interface and balance refinement. Existing character and building asset packs are part of the project’s visual asset integration; this page does not claim all source art was hand-drawn.</a:t>
            </a:r>
          </a:p>
          <a:p xmlns:a="http://schemas.openxmlformats.org/drawingml/2006/main">
            <a:r>
              <a:t/>
            </a:r>
          </a:p>
          <a:p xmlns:a="http://schemas.openxmlformats.org/drawingml/2006/main">
            <a:r>
              <a:t>Sources: Assets/Sprites/Sprites_tower0.png, Sprites_tower.png, Sprites_tower2.png, Sprites_tower3.png, Sprites_stone.png, Sprites_gel.png, Sprites_teeth.png. output/ArtIntegration/README.md; output/ArtDirection/ArtOnlyBrief.md; output/Review/2026-09-20/ExpandedRoutes.md.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gallery shows the actual menu, upgrade feedback and exploration interface. The space under Player Playtest is intentionally empty for future player photos, observations and feedback. The promotional-video area is reserved for a recording and contains no video yet. The Rookies page has not been created. A shorter one-minute video can still be inserted if a timed presentation is needed later.</a:t>
            </a:r>
          </a:p>
          <a:p xmlns:a="http://schemas.openxmlformats.org/drawingml/2006/main">
            <a:r>
              <a:t/>
            </a:r>
          </a:p>
          <a:p xmlns:a="http://schemas.openxmlformats.org/drawingml/2006/main">
            <a:r>
              <a:t>Sources: .utmp/ui-checks/01-main-menu.png, 04-upgrade.png and 13-outer-readability.png. User explicitly requested leaving playtesting blank and confirmed The Rookies is not set up. The sixth slide is a portfolio completion layout, not evidence that video or playtests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3ad3f790ca48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c0f9a53c4e4b20" /><Relationship Type="http://schemas.openxmlformats.org/officeDocument/2006/relationships/slideLayout" Target="/ppt/slideLayouts/slideLayout1.xml" Id="R2a1ba4f70b5240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1ba4f70b5240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236036c4604229" /><Relationship Type="http://schemas.openxmlformats.org/officeDocument/2006/relationships/image" Target="/ppt/media/image.jpeg" Id="R345a1502a6f64e1f" /><Relationship Type="http://schemas.openxmlformats.org/officeDocument/2006/relationships/hyperlink" Target="https://github.com/JXia0/ToxicBarrier" TargetMode="External" Id="R09dcde39f2174a57" /><Relationship Type="http://schemas.openxmlformats.org/officeDocument/2006/relationships/image" Target="/ppt/media/image2.jpeg" Id="Reedd4220f3014073" /><Relationship Type="http://schemas.openxmlformats.org/officeDocument/2006/relationships/image" Target="/ppt/media/image3.jpeg" Id="Rfa7b3dbfa0ba4551" /><Relationship Type="http://schemas.openxmlformats.org/officeDocument/2006/relationships/image" Target="/ppt/media/image4.jpeg" Id="R733168efe9234afb" /><Relationship Type="http://schemas.openxmlformats.org/officeDocument/2006/relationships/image" Target="/ppt/media/image5.jpeg" Id="Ra7667492bc0d4c7f" /><Relationship Type="http://schemas.openxmlformats.org/officeDocument/2006/relationships/image" Target="/ppt/media/image.png" Id="R4632d1aa9d97488e" /><Relationship Type="http://schemas.openxmlformats.org/officeDocument/2006/relationships/image" Target="/ppt/media/image2.png" Id="Ra1c204f652ef49e0" /><Relationship Type="http://schemas.openxmlformats.org/officeDocument/2006/relationships/image" Target="/ppt/media/image3.png" Id="R6cb1d4db4dd9406b" /><Relationship Type="http://schemas.openxmlformats.org/officeDocument/2006/relationships/image" Target="/ppt/media/image4.png" Id="R16dbf56c94ee4efa" /><Relationship Type="http://schemas.openxmlformats.org/officeDocument/2006/relationships/notesSlide" Target="/ppt/notesSlides/notesSlide1.xml" Id="R59bda64c33934c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ff935b975d49c4" /><Relationship Type="http://schemas.openxmlformats.org/officeDocument/2006/relationships/image" Target="/ppt/media/image6.jpeg" Id="R592823b0224e4a30" /><Relationship Type="http://schemas.openxmlformats.org/officeDocument/2006/relationships/notesSlide" Target="/ppt/notesSlides/notesSlide2.xml" Id="Rd6e58f6c220d44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70f93b0a3f4f32" /><Relationship Type="http://schemas.openxmlformats.org/officeDocument/2006/relationships/image" Target="/ppt/media/image7.jpeg" Id="Re912ea5cf3cb409f" /><Relationship Type="http://schemas.openxmlformats.org/officeDocument/2006/relationships/image" Target="/ppt/media/image5.png" Id="R1b718881ab1b4ece" /><Relationship Type="http://schemas.openxmlformats.org/officeDocument/2006/relationships/image" Target="/ppt/media/image6.png" Id="R081a921551544893" /><Relationship Type="http://schemas.openxmlformats.org/officeDocument/2006/relationships/image" Target="/ppt/media/image7.png" Id="R1807152152dd4505" /><Relationship Type="http://schemas.openxmlformats.org/officeDocument/2006/relationships/notesSlide" Target="/ppt/notesSlides/notesSlide3.xml" Id="R01b0d203f7e642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4ee169b3e04cb5" /><Relationship Type="http://schemas.openxmlformats.org/officeDocument/2006/relationships/image" Target="/ppt/media/image8.jpeg" Id="R5553a7e7cf474e2b" /><Relationship Type="http://schemas.openxmlformats.org/officeDocument/2006/relationships/notesSlide" Target="/ppt/notesSlides/notesSlide4.xml" Id="R2991812178f04f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05c900ac474120" /><Relationship Type="http://schemas.openxmlformats.org/officeDocument/2006/relationships/image" Target="/ppt/media/image9.jpeg" Id="R1dc945058af14174" /><Relationship Type="http://schemas.openxmlformats.org/officeDocument/2006/relationships/image" Target="/ppt/media/image8.png" Id="Rd145262563044411" /><Relationship Type="http://schemas.openxmlformats.org/officeDocument/2006/relationships/image" Target="/ppt/media/image9.png" Id="R09ededfcf5b54fb3" /><Relationship Type="http://schemas.openxmlformats.org/officeDocument/2006/relationships/image" Target="/ppt/media/image10.png" Id="Rb515fda46ec848b9" /><Relationship Type="http://schemas.openxmlformats.org/officeDocument/2006/relationships/image" Target="/ppt/media/image11.png" Id="Re9c2309d9f814465" /><Relationship Type="http://schemas.openxmlformats.org/officeDocument/2006/relationships/image" Target="/ppt/media/image12.png" Id="Rd07e44fafd7442cb" /><Relationship Type="http://schemas.openxmlformats.org/officeDocument/2006/relationships/image" Target="/ppt/media/image13.png" Id="Re629d2d738824384" /><Relationship Type="http://schemas.openxmlformats.org/officeDocument/2006/relationships/image" Target="/ppt/media/image14.png" Id="Rebda679fd17d4d5c" /><Relationship Type="http://schemas.openxmlformats.org/officeDocument/2006/relationships/notesSlide" Target="/ppt/notesSlides/notesSlide5.xml" Id="Rfba27be4d1684e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14dac0935a4403" /><Relationship Type="http://schemas.openxmlformats.org/officeDocument/2006/relationships/image" Target="/ppt/media/image10.jpeg" Id="R6e0e48a93289458d" /><Relationship Type="http://schemas.openxmlformats.org/officeDocument/2006/relationships/image" Target="/ppt/media/image11.jpeg" Id="Re692653519444654" /><Relationship Type="http://schemas.openxmlformats.org/officeDocument/2006/relationships/image" Target="/ppt/media/image12.jpeg" Id="R127d3dda6a954aed" /><Relationship Type="http://schemas.openxmlformats.org/officeDocument/2006/relationships/image" Target="/ppt/media/image13.jpeg" Id="R41976bf2c1d94f0d" /><Relationship Type="http://schemas.openxmlformats.org/officeDocument/2006/relationships/notesSlide" Target="/ppt/notesSlides/notesSlide6.xml" Id="Rfaa3fa197b494831" /></Relationships>
</file>

<file path=ppt/slides/slide1.xml><?xml version="1.0" encoding="utf-8"?>
<p:sld xmlns:p="http://schemas.openxmlformats.org/presentationml/2006/main">
  <p:cSld>
    <p:bg>
      <p:bgPr>
        <a:solidFill xmlns:a="http://schemas.openxmlformats.org/drawingml/2006/main">
          <a:srgbClr val="0A151B"/>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45a1502a6f64e1f"/>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E321B1-9BEF-47AB-828A-9EFAAC55F2A1}"/>
              </a:ext>
            </a:extLst>
          </p:cNvPr>
          <p:cNvSpPr>
            <a:spLocks xmlns:a="http://schemas.openxmlformats.org/drawingml/2006/main" noGrp="1"/>
          </p:cNvSpPr>
          <p:nvPr/>
        </p:nvSpPr>
        <p:spPr>
          <a:xfrm xmlns:a="http://schemas.openxmlformats.org/drawingml/2006/main">
            <a:off x="5334000" y="0"/>
            <a:ext cx="12954000" cy="10287000"/>
          </a:xfrm>
          <a:prstGeom xmlns:a="http://schemas.openxmlformats.org/drawingml/2006/main" prst="rect">
            <a:avLst/>
          </a:prstGeom>
          <a:gradFill xmlns:a="http://schemas.openxmlformats.org/drawingml/2006/main">
            <a:gsLst>
              <a:gs pos="0">
                <a:srgbClr val="071116">
                  <a:alpha val="0"/>
                </a:srgbClr>
              </a:gs>
              <a:gs pos="18000">
                <a:srgbClr val="071116">
                  <a:alpha val="86000"/>
                </a:srgbClr>
              </a:gs>
              <a:gs pos="100000">
                <a:srgbClr val="071116">
                  <a:alpha val="86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DEC9EF9-8160-4D5A-B342-BBDA3B775D47}"/>
              </a:ext>
            </a:extLst>
          </p:cNvPr>
          <p:cNvSpPr>
            <a:spLocks xmlns:a="http://schemas.openxmlformats.org/drawingml/2006/main" noGrp="1"/>
          </p:cNvSpPr>
          <p:nvPr/>
        </p:nvSpPr>
        <p:spPr>
          <a:xfrm xmlns:a="http://schemas.openxmlformats.org/drawingml/2006/main">
            <a:off x="0" y="0"/>
            <a:ext cx="5667375" cy="3238500"/>
          </a:xfrm>
          <a:prstGeom xmlns:a="http://schemas.openxmlformats.org/drawingml/2006/main" prst="rect">
            <a:avLst/>
          </a:prstGeom>
          <a:gradFill xmlns:a="http://schemas.openxmlformats.org/drawingml/2006/main">
            <a:gsLst>
              <a:gs pos="0">
                <a:srgbClr val="061014">
                  <a:alpha val="85000"/>
                </a:srgbClr>
              </a:gs>
              <a:gs pos="100000">
                <a:srgbClr val="061014">
                  <a:alpha val="0"/>
                </a:srgbClr>
              </a:gs>
            </a:gsLst>
            <a:lin ang="5400000"/>
          </a:gra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52C69E6-4C37-4B06-A190-002CEB2E2B9A}"/>
              </a:ext>
            </a:extLst>
          </p:cNvPr>
          <p:cNvSpPr>
            <a:spLocks xmlns:a="http://schemas.openxmlformats.org/drawingml/2006/main" noGrp="1"/>
          </p:cNvSpPr>
          <p:nvPr/>
        </p:nvSpPr>
        <p:spPr>
          <a:xfrm xmlns:a="http://schemas.openxmlformats.org/drawingml/2006/main">
            <a:off x="647700" y="4191000"/>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F4E9D2"/>
                </a:solidFill>
                <a:latin typeface="Georgia"/>
                <a:ea typeface="Georgia"/>
                <a:cs typeface="Georgia"/>
              </a:defRPr>
            </a:pPr>
            <a:r>
              <a:rPr sz="2325" b="0">
                <a:solidFill>
                  <a:srgbClr val="F4E9D2"/>
                </a:solidFill>
                <a:latin typeface="Georgia"/>
                <a:ea typeface="Georgia"/>
                <a:cs typeface="Georgia"/>
              </a:rPr>
              <a:t>A lone defender.</a:t>
            </a:r>
          </a:p>
          <a:p xmlns:a="http://schemas.openxmlformats.org/drawingml/2006/main">
            <a:pPr>
              <a:buNone/>
              <a:defRPr sz="2325" b="0">
                <a:solidFill>
                  <a:srgbClr val="F4E9D2"/>
                </a:solidFill>
                <a:latin typeface="Georgia"/>
                <a:ea typeface="Georgia"/>
                <a:cs typeface="Georgia"/>
              </a:defRPr>
            </a:pPr>
            <a:r>
              <a:rPr sz="2325" b="0">
                <a:solidFill>
                  <a:srgbClr val="F4E9D2"/>
                </a:solidFill>
                <a:latin typeface="Georgia"/>
                <a:ea typeface="Georgia"/>
                <a:cs typeface="Georgia"/>
              </a:rPr>
              <a:t>A tower worth protecting.</a:t>
            </a:r>
          </a:p>
        </p:txBody>
      </p:sp>
      <p:sp>
        <p:nvSpPr>
          <p:cNvPr id="7" name="">
            <a:extLst xmlns:a="http://schemas.openxmlformats.org/drawingml/2006/main">
              <a:ext uri="{FF2B5EF4-FFF2-40B4-BE49-F238E27FC236}">
                <a16:creationId xmlns:a16="http://schemas.microsoft.com/office/drawing/2014/main" id="{9C8D6612-56A7-479A-A5F2-C2DA97541DA0}"/>
              </a:ext>
            </a:extLst>
          </p:cNvPr>
          <p:cNvSpPr>
            <a:spLocks xmlns:a="http://schemas.openxmlformats.org/drawingml/2006/main" noGrp="1"/>
          </p:cNvSpPr>
          <p:nvPr/>
        </p:nvSpPr>
        <p:spPr>
          <a:xfrm xmlns:a="http://schemas.openxmlformats.org/drawingml/2006/main">
            <a:off x="647700" y="9039225"/>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1">
                <a:solidFill>
                  <a:srgbClr val="DDB57B"/>
                </a:solidFill>
                <a:latin typeface="Arial"/>
                <a:ea typeface="Arial"/>
                <a:cs typeface="Arial"/>
              </a:defRPr>
            </a:pPr>
            <a:r>
              <a:rPr sz="1275" b="1">
                <a:solidFill>
                  <a:srgbClr val="DDB57B"/>
                </a:solidFill>
                <a:latin typeface="Arial"/>
                <a:ea typeface="Arial"/>
                <a:cs typeface="Arial"/>
              </a:rPr>
              <a:t>PERSONAL PORTFOLIO</a:t>
            </a:r>
          </a:p>
        </p:txBody>
      </p:sp>
      <p:sp>
        <p:nvSpPr>
          <p:cNvPr id="8" name="">
            <a:extLst xmlns:a="http://schemas.openxmlformats.org/drawingml/2006/main">
              <a:ext uri="{FF2B5EF4-FFF2-40B4-BE49-F238E27FC236}">
                <a16:creationId xmlns:a16="http://schemas.microsoft.com/office/drawing/2014/main" id="{628F5E74-552F-4F95-BE9D-F787AFAEA223}"/>
              </a:ext>
            </a:extLst>
          </p:cNvPr>
          <p:cNvSpPr>
            <a:spLocks xmlns:a="http://schemas.openxmlformats.org/drawingml/2006/main" noGrp="1"/>
          </p:cNvSpPr>
          <p:nvPr/>
        </p:nvSpPr>
        <p:spPr>
          <a:xfrm xmlns:a="http://schemas.openxmlformats.org/drawingml/2006/main">
            <a:off x="647700" y="9439275"/>
            <a:ext cx="4191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F5E8D0"/>
                </a:solidFill>
                <a:latin typeface="Arial"/>
                <a:ea typeface="Arial"/>
                <a:cs typeface="Arial"/>
              </a:defRPr>
            </a:pPr>
            <a:r>
              <a:rPr sz="1500" b="0">
                <a:solidFill>
                  <a:srgbClr val="F5E8D0"/>
                </a:solidFill>
                <a:latin typeface="Arial"/>
                <a:ea typeface="Arial"/>
                <a:cs typeface="Arial"/>
              </a:rPr>
              <a:t>Unity / C# / GitHub</a:t>
            </a:r>
          </a:p>
          <a:p xmlns:a="http://schemas.openxmlformats.org/drawingml/2006/main">
            <a:pPr>
              <a:buNone/>
              <a:defRPr sz="1500" b="0">
                <a:solidFill>
                  <a:srgbClr val="F5E8D0"/>
                </a:solidFill>
                <a:latin typeface="Arial"/>
                <a:ea typeface="Arial"/>
                <a:cs typeface="Arial"/>
              </a:defRPr>
            </a:pPr>
            <a:r>
              <a:rPr sz="1500" b="0">
                <a:solidFill>
                  <a:srgbClr val="F5E8D0"/>
                </a:solidFill>
                <a:latin typeface="Arial"/>
                <a:ea typeface="Arial"/>
                <a:cs typeface="Arial"/>
              </a:rPr>
              <a:t>Windows PC</a:t>
            </a:r>
          </a:p>
        </p:txBody>
      </p:sp>
      <p:sp>
        <p:nvSpPr>
          <p:cNvPr id="9" name="">
            <a:extLst xmlns:a="http://schemas.openxmlformats.org/drawingml/2006/main">
              <a:ext uri="{FF2B5EF4-FFF2-40B4-BE49-F238E27FC236}">
                <a16:creationId xmlns:a16="http://schemas.microsoft.com/office/drawing/2014/main" id="{1024FB74-72E4-4A14-B990-7234A663FD90}"/>
              </a:ext>
            </a:extLst>
          </p:cNvPr>
          <p:cNvSpPr>
            <a:spLocks xmlns:a="http://schemas.openxmlformats.org/drawingml/2006/main" noGrp="1"/>
          </p:cNvSpPr>
          <p:nvPr/>
        </p:nvSpPr>
        <p:spPr>
          <a:xfrm xmlns:a="http://schemas.openxmlformats.org/drawingml/2006/main">
            <a:off x="6191250" y="59055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5E8D0"/>
                </a:solidFill>
                <a:latin typeface="Georgia"/>
                <a:ea typeface="Georgia"/>
                <a:cs typeface="Georgia"/>
              </a:defRPr>
            </a:pPr>
            <a:r>
              <a:rPr sz="2250" b="0">
                <a:solidFill>
                  <a:srgbClr val="F5E8D0"/>
                </a:solidFill>
                <a:latin typeface="Georgia"/>
                <a:ea typeface="Georgia"/>
                <a:cs typeface="Georgia"/>
              </a:rPr>
              <a:t>ToxicBarrier</a:t>
            </a:r>
          </a:p>
        </p:txBody>
      </p:sp>
      <p:sp>
        <p:nvSpPr>
          <p:cNvPr id="10" name="">
            <a:extLst xmlns:a="http://schemas.openxmlformats.org/drawingml/2006/main">
              <a:ext uri="{FF2B5EF4-FFF2-40B4-BE49-F238E27FC236}">
                <a16:creationId xmlns:a16="http://schemas.microsoft.com/office/drawing/2014/main" id="{DBC4661E-3B75-4C4E-A008-7209923EA77D}"/>
              </a:ext>
            </a:extLst>
          </p:cNvPr>
          <p:cNvSpPr>
            <a:spLocks xmlns:a="http://schemas.openxmlformats.org/drawingml/2006/main" noGrp="1"/>
          </p:cNvSpPr>
          <p:nvPr/>
        </p:nvSpPr>
        <p:spPr>
          <a:xfrm xmlns:a="http://schemas.openxmlformats.org/drawingml/2006/main">
            <a:off x="10001250" y="6858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1">
                <a:solidFill>
                  <a:srgbClr val="DDB57B"/>
                </a:solidFill>
                <a:latin typeface="Arial"/>
                <a:ea typeface="Arial"/>
                <a:cs typeface="Arial"/>
              </a:defRPr>
            </a:pPr>
            <a:r>
              <a:rPr sz="1425" b="1">
                <a:solidFill>
                  <a:srgbClr val="DDB57B"/>
                </a:solidFill>
                <a:latin typeface="Arial"/>
                <a:ea typeface="Arial"/>
                <a:cs typeface="Arial"/>
              </a:rPr>
              <a:t>SOLO PROJECT</a:t>
            </a:r>
          </a:p>
        </p:txBody>
      </p:sp>
      <p:sp>
        <p:nvSpPr>
          <p:cNvPr id="11" name="">
            <a:extLst xmlns:a="http://schemas.openxmlformats.org/drawingml/2006/main">
              <a:ext uri="{FF2B5EF4-FFF2-40B4-BE49-F238E27FC236}">
                <a16:creationId xmlns:a16="http://schemas.microsoft.com/office/drawing/2014/main" id="{0FFCD368-F348-466A-B05D-BC330718501B}"/>
              </a:ext>
            </a:extLst>
          </p:cNvPr>
          <p:cNvSpPr>
            <a:spLocks xmlns:a="http://schemas.openxmlformats.org/drawingml/2006/main" noGrp="1"/>
          </p:cNvSpPr>
          <p:nvPr/>
        </p:nvSpPr>
        <p:spPr>
          <a:xfrm xmlns:a="http://schemas.openxmlformats.org/drawingml/2006/main">
            <a:off x="6191250" y="107632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rPr sz="1350">
                <a:solidFill>
                  <a:srgbClr val="E8B66B"/>
                </a:solidFill>
                <a:latin typeface="Arial"/>
                <a:ea typeface="Arial"/>
                <a:cs typeface="Arial"/>
                <a:hlinkClick xmlns:r="http://schemas.openxmlformats.org/officeDocument/2006/relationships" r:id="R09dcde39f2174a57"/>
              </a:rPr>
              <a:t>github.com/JXia0/ToxicBarrier</a:t>
            </a:r>
          </a:p>
        </p:txBody>
      </p:sp>
      <p:sp>
        <p:nvSpPr>
          <p:cNvPr id="13" name="">
            <a:extLst xmlns:a="http://schemas.openxmlformats.org/drawingml/2006/main">
              <a:ext uri="{FF2B5EF4-FFF2-40B4-BE49-F238E27FC236}">
                <a16:creationId xmlns:a16="http://schemas.microsoft.com/office/drawing/2014/main" id="{4A5D822D-2447-4903-8004-A204F7058C6B}"/>
              </a:ext>
            </a:extLst>
          </p:cNvPr>
          <p:cNvSpPr>
            <a:spLocks xmlns:a="http://schemas.openxmlformats.org/drawingml/2006/main" noGrp="1"/>
          </p:cNvSpPr>
          <p:nvPr/>
        </p:nvSpPr>
        <p:spPr>
          <a:xfrm xmlns:a="http://schemas.openxmlformats.org/drawingml/2006/main">
            <a:off x="6191250" y="1495425"/>
            <a:ext cx="11334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F5E8D0"/>
                </a:solidFill>
                <a:latin typeface="Arial"/>
                <a:ea typeface="Arial"/>
                <a:cs typeface="Arial"/>
              </a:defRPr>
            </a:pPr>
            <a:r>
              <a:rPr sz="1950" b="0">
                <a:solidFill>
                  <a:srgbClr val="F5E8D0"/>
                </a:solidFill>
                <a:latin typeface="Arial"/>
                <a:ea typeface="Arial"/>
                <a:cs typeface="Arial"/>
              </a:rPr>
              <a:t>ToxicBarrier is a 2D survival and tower-defense game where a lone defender gathers resources, upgrades an allied tower and uses the environment to survive waves across three expanding regions.</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eedd4220f3014073"/>
          <a:srcRect xmlns:a="http://schemas.openxmlformats.org/drawingml/2006/main" l="0" t="3494" r="0" b="3494"/>
          <a:stretch xmlns:a="http://schemas.openxmlformats.org/drawingml/2006/main">
            <a:fillRect l="0" t="0" r="0" b="0"/>
          </a:stretch>
        </p:blipFill>
        <p:spPr>
          <a:xfrm xmlns:a="http://schemas.openxmlformats.org/drawingml/2006/main">
            <a:off x="6191250" y="3325707"/>
            <a:ext cx="7524750" cy="3673686"/>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3C4D652-FBA2-4958-B27F-CAC241E05AAD}"/>
              </a:ext>
            </a:extLst>
          </p:cNvPr>
          <p:cNvSpPr>
            <a:spLocks xmlns:a="http://schemas.openxmlformats.org/drawingml/2006/main" noGrp="1"/>
          </p:cNvSpPr>
          <p:nvPr/>
        </p:nvSpPr>
        <p:spPr>
          <a:xfrm xmlns:a="http://schemas.openxmlformats.org/drawingml/2006/main">
            <a:off x="6191250" y="7143750"/>
            <a:ext cx="762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DDB57B"/>
                </a:solidFill>
                <a:latin typeface="Georgia"/>
                <a:ea typeface="Georgia"/>
                <a:cs typeface="Georgia"/>
              </a:defRPr>
            </a:pPr>
            <a:r>
              <a:rPr sz="1575" b="0">
                <a:solidFill>
                  <a:srgbClr val="DDB57B"/>
                </a:solidFill>
                <a:latin typeface="Georgia"/>
                <a:ea typeface="Georgia"/>
                <a:cs typeface="Georgia"/>
              </a:rPr>
              <a:t>Explore beyond safety. Return before the tower falls.</a:t>
            </a:r>
          </a:p>
        </p:txBody>
      </p:sp>
      <p:sp>
        <p:nvSpPr>
          <p:cNvPr id="16" name="">
            <a:extLst xmlns:a="http://schemas.openxmlformats.org/drawingml/2006/main">
              <a:ext uri="{FF2B5EF4-FFF2-40B4-BE49-F238E27FC236}">
                <a16:creationId xmlns:a16="http://schemas.microsoft.com/office/drawing/2014/main" id="{4D6B05EE-D2DE-4F2F-87F1-C4D5A5E6604A}"/>
              </a:ext>
            </a:extLst>
          </p:cNvPr>
          <p:cNvSpPr>
            <a:spLocks xmlns:a="http://schemas.openxmlformats.org/drawingml/2006/main" noGrp="1"/>
          </p:cNvSpPr>
          <p:nvPr/>
        </p:nvSpPr>
        <p:spPr>
          <a:xfrm xmlns:a="http://schemas.openxmlformats.org/drawingml/2006/main">
            <a:off x="14192250" y="331470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1">
                <a:solidFill>
                  <a:srgbClr val="DDB57B"/>
                </a:solidFill>
                <a:latin typeface="Arial"/>
                <a:ea typeface="Arial"/>
                <a:cs typeface="Arial"/>
              </a:defRPr>
            </a:pPr>
            <a:r>
              <a:rPr sz="1350" b="1">
                <a:solidFill>
                  <a:srgbClr val="DDB57B"/>
                </a:solidFill>
                <a:latin typeface="Arial"/>
                <a:ea typeface="Arial"/>
                <a:cs typeface="Arial"/>
              </a:rPr>
              <a:t>MY ROLE</a:t>
            </a:r>
          </a:p>
        </p:txBody>
      </p:sp>
      <p:sp>
        <p:nvSpPr>
          <p:cNvPr id="17" name="">
            <a:extLst xmlns:a="http://schemas.openxmlformats.org/drawingml/2006/main">
              <a:ext uri="{FF2B5EF4-FFF2-40B4-BE49-F238E27FC236}">
                <a16:creationId xmlns:a16="http://schemas.microsoft.com/office/drawing/2014/main" id="{F9A8FD06-2AFF-44E3-93C4-7B5727025DC5}"/>
              </a:ext>
            </a:extLst>
          </p:cNvPr>
          <p:cNvSpPr>
            <a:spLocks xmlns:a="http://schemas.openxmlformats.org/drawingml/2006/main" noGrp="1"/>
          </p:cNvSpPr>
          <p:nvPr/>
        </p:nvSpPr>
        <p:spPr>
          <a:xfrm xmlns:a="http://schemas.openxmlformats.org/drawingml/2006/main">
            <a:off x="14192250" y="3714750"/>
            <a:ext cx="34575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F5E8D0"/>
                </a:solidFill>
                <a:latin typeface="Georgia"/>
                <a:ea typeface="Georgia"/>
                <a:cs typeface="Georgia"/>
              </a:defRPr>
            </a:pPr>
            <a:r>
              <a:rPr sz="2550" b="0">
                <a:solidFill>
                  <a:srgbClr val="F5E8D0"/>
                </a:solidFill>
                <a:latin typeface="Georgia"/>
                <a:ea typeface="Georgia"/>
                <a:cs typeface="Georgia"/>
              </a:rPr>
              <a:t>Game Design</a:t>
            </a:r>
          </a:p>
          <a:p xmlns:a="http://schemas.openxmlformats.org/drawingml/2006/main">
            <a:pPr>
              <a:buNone/>
              <a:defRPr sz="2550" b="0">
                <a:solidFill>
                  <a:srgbClr val="F5E8D0"/>
                </a:solidFill>
                <a:latin typeface="Georgia"/>
                <a:ea typeface="Georgia"/>
                <a:cs typeface="Georgia"/>
              </a:defRPr>
            </a:pPr>
            <a:r>
              <a:rPr sz="2550" b="0">
                <a:solidFill>
                  <a:srgbClr val="F5E8D0"/>
                </a:solidFill>
                <a:latin typeface="Georgia"/>
                <a:ea typeface="Georgia"/>
                <a:cs typeface="Georgia"/>
              </a:rPr>
              <a:t>&amp; Development</a:t>
            </a:r>
          </a:p>
        </p:txBody>
      </p:sp>
      <p:sp>
        <p:nvSpPr>
          <p:cNvPr id="18" name="">
            <a:extLst xmlns:a="http://schemas.openxmlformats.org/drawingml/2006/main">
              <a:ext uri="{FF2B5EF4-FFF2-40B4-BE49-F238E27FC236}">
                <a16:creationId xmlns:a16="http://schemas.microsoft.com/office/drawing/2014/main" id="{B4F291A2-0F56-46DC-AB19-C9B557377219}"/>
              </a:ext>
            </a:extLst>
          </p:cNvPr>
          <p:cNvSpPr>
            <a:spLocks xmlns:a="http://schemas.openxmlformats.org/drawingml/2006/main" noGrp="1"/>
          </p:cNvSpPr>
          <p:nvPr/>
        </p:nvSpPr>
        <p:spPr>
          <a:xfrm xmlns:a="http://schemas.openxmlformats.org/drawingml/2006/main">
            <a:off x="14192250" y="4819650"/>
            <a:ext cx="3476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F5E8D0"/>
                </a:solidFill>
                <a:latin typeface="Arial"/>
                <a:ea typeface="Arial"/>
                <a:cs typeface="Arial"/>
              </a:defRPr>
            </a:pPr>
            <a:r>
              <a:rPr sz="1650" b="0">
                <a:solidFill>
                  <a:srgbClr val="F5E8D0"/>
                </a:solidFill>
                <a:latin typeface="Arial"/>
                <a:ea typeface="Arial"/>
                <a:cs typeface="Arial"/>
              </a:rPr>
              <a:t>Gameplay systems</a:t>
            </a:r>
          </a:p>
          <a:p xmlns:a="http://schemas.openxmlformats.org/drawingml/2006/main">
            <a:pPr>
              <a:buNone/>
              <a:defRPr sz="1650" b="0">
                <a:solidFill>
                  <a:srgbClr val="F5E8D0"/>
                </a:solidFill>
                <a:latin typeface="Arial"/>
                <a:ea typeface="Arial"/>
                <a:cs typeface="Arial"/>
              </a:defRPr>
            </a:pPr>
            <a:r>
              <a:rPr sz="1650" b="0">
                <a:solidFill>
                  <a:srgbClr val="F5E8D0"/>
                </a:solidFill>
                <a:latin typeface="Arial"/>
                <a:ea typeface="Arial"/>
                <a:cs typeface="Arial"/>
              </a:rPr>
              <a:t>Level design and balancing</a:t>
            </a:r>
          </a:p>
          <a:p xmlns:a="http://schemas.openxmlformats.org/drawingml/2006/main">
            <a:pPr>
              <a:buNone/>
              <a:defRPr sz="1650" b="0">
                <a:solidFill>
                  <a:srgbClr val="F5E8D0"/>
                </a:solidFill>
                <a:latin typeface="Arial"/>
                <a:ea typeface="Arial"/>
                <a:cs typeface="Arial"/>
              </a:defRPr>
            </a:pPr>
            <a:r>
              <a:rPr sz="1650" b="0">
                <a:solidFill>
                  <a:srgbClr val="F5E8D0"/>
                </a:solidFill>
                <a:latin typeface="Arial"/>
                <a:ea typeface="Arial"/>
                <a:cs typeface="Arial"/>
              </a:rPr>
              <a:t>Art integration and UI</a:t>
            </a:r>
          </a:p>
        </p:txBody>
      </p:sp>
      <p:sp>
        <p:nvSpPr>
          <p:cNvPr id="19" name="">
            <a:extLst xmlns:a="http://schemas.openxmlformats.org/drawingml/2006/main">
              <a:ext uri="{FF2B5EF4-FFF2-40B4-BE49-F238E27FC236}">
                <a16:creationId xmlns:a16="http://schemas.microsoft.com/office/drawing/2014/main" id="{36CFC2E7-6521-40DE-A064-9947D38B4594}"/>
              </a:ext>
            </a:extLst>
          </p:cNvPr>
          <p:cNvSpPr>
            <a:spLocks xmlns:a="http://schemas.openxmlformats.org/drawingml/2006/main" noGrp="1"/>
          </p:cNvSpPr>
          <p:nvPr/>
        </p:nvSpPr>
        <p:spPr>
          <a:xfrm xmlns:a="http://schemas.openxmlformats.org/drawingml/2006/main">
            <a:off x="14192250" y="6153150"/>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1">
                <a:solidFill>
                  <a:srgbClr val="DDB57B"/>
                </a:solidFill>
                <a:latin typeface="Arial"/>
                <a:ea typeface="Arial"/>
                <a:cs typeface="Arial"/>
              </a:defRPr>
            </a:pPr>
            <a:r>
              <a:rPr sz="1275" b="1">
                <a:solidFill>
                  <a:srgbClr val="DDB57B"/>
                </a:solidFill>
                <a:latin typeface="Arial"/>
                <a:ea typeface="Arial"/>
                <a:cs typeface="Arial"/>
              </a:rPr>
              <a:t>DEVELOPMENT</a:t>
            </a:r>
          </a:p>
        </p:txBody>
      </p:sp>
      <p:sp>
        <p:nvSpPr>
          <p:cNvPr id="20" name="">
            <a:extLst xmlns:a="http://schemas.openxmlformats.org/drawingml/2006/main">
              <a:ext uri="{FF2B5EF4-FFF2-40B4-BE49-F238E27FC236}">
                <a16:creationId xmlns:a16="http://schemas.microsoft.com/office/drawing/2014/main" id="{60B69995-6518-4CB1-AB2F-45109E2B9B08}"/>
              </a:ext>
            </a:extLst>
          </p:cNvPr>
          <p:cNvSpPr>
            <a:spLocks xmlns:a="http://schemas.openxmlformats.org/drawingml/2006/main" noGrp="1"/>
          </p:cNvSpPr>
          <p:nvPr/>
        </p:nvSpPr>
        <p:spPr>
          <a:xfrm xmlns:a="http://schemas.openxmlformats.org/drawingml/2006/main">
            <a:off x="14192250" y="6505575"/>
            <a:ext cx="352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BCC4C3"/>
                </a:solidFill>
                <a:latin typeface="Arial"/>
                <a:ea typeface="Arial"/>
                <a:cs typeface="Arial"/>
              </a:defRPr>
            </a:pPr>
            <a:r>
              <a:rPr sz="1650" b="0">
                <a:solidFill>
                  <a:srgbClr val="BCC4C3"/>
                </a:solidFill>
                <a:latin typeface="Arial"/>
                <a:ea typeface="Arial"/>
                <a:cs typeface="Arial"/>
              </a:rPr>
              <a:t>Dec 2025 – Present</a:t>
            </a:r>
          </a:p>
          <a:p xmlns:a="http://schemas.openxmlformats.org/drawingml/2006/main">
            <a:pPr>
              <a:buNone/>
              <a:defRPr sz="1650" b="0">
                <a:solidFill>
                  <a:srgbClr val="BCC4C3"/>
                </a:solidFill>
                <a:latin typeface="Arial"/>
                <a:ea typeface="Arial"/>
                <a:cs typeface="Arial"/>
              </a:defRPr>
            </a:pPr>
            <a:r>
              <a:rPr sz="1650" b="0">
                <a:solidFill>
                  <a:srgbClr val="BCC4C3"/>
                </a:solidFill>
                <a:latin typeface="Arial"/>
                <a:ea typeface="Arial"/>
                <a:cs typeface="Arial"/>
              </a:rPr>
              <a:t>Independent project</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fa7b3dbfa0ba4551"/>
          <a:srcRect xmlns:a="http://schemas.openxmlformats.org/drawingml/2006/main" l="3694" t="0" r="3694" b="0"/>
          <a:stretch xmlns:a="http://schemas.openxmlformats.org/drawingml/2006/main">
            <a:fillRect l="0" t="0" r="0" b="0"/>
          </a:stretch>
        </p:blipFill>
        <p:spPr>
          <a:xfrm xmlns:a="http://schemas.openxmlformats.org/drawingml/2006/main">
            <a:off x="6406702" y="7772400"/>
            <a:ext cx="3226695" cy="18288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BE1BB63-FC26-4636-8427-E2F44D253464}"/>
              </a:ext>
            </a:extLst>
          </p:cNvPr>
          <p:cNvSpPr>
            <a:spLocks xmlns:a="http://schemas.openxmlformats.org/drawingml/2006/main" noGrp="1"/>
          </p:cNvSpPr>
          <p:nvPr/>
        </p:nvSpPr>
        <p:spPr>
          <a:xfrm xmlns:a="http://schemas.openxmlformats.org/drawingml/2006/main">
            <a:off x="6191250" y="9696450"/>
            <a:ext cx="365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F5E8D0"/>
                </a:solidFill>
                <a:latin typeface="Georgia"/>
                <a:ea typeface="Georgia"/>
                <a:cs typeface="Georgia"/>
              </a:defRPr>
            </a:pPr>
            <a:r>
              <a:rPr sz="1500" b="0">
                <a:solidFill>
                  <a:srgbClr val="F5E8D0"/>
                </a:solidFill>
                <a:latin typeface="Georgia"/>
                <a:ea typeface="Georgia"/>
                <a:cs typeface="Georgia"/>
              </a:rPr>
              <a:t>Tower progression</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733168efe9234afb"/>
          <a:srcRect xmlns:a="http://schemas.openxmlformats.org/drawingml/2006/main" l="0" t="2322" r="0" b="2322"/>
          <a:stretch xmlns:a="http://schemas.openxmlformats.org/drawingml/2006/main">
            <a:fillRect l="0" t="0" r="0" b="0"/>
          </a:stretch>
        </p:blipFill>
        <p:spPr>
          <a:xfrm xmlns:a="http://schemas.openxmlformats.org/drawingml/2006/main">
            <a:off x="10041261" y="7772400"/>
            <a:ext cx="3653778" cy="18288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C63022E4-5C7A-4664-805D-B272B07CE5DD}"/>
              </a:ext>
            </a:extLst>
          </p:cNvPr>
          <p:cNvSpPr>
            <a:spLocks xmlns:a="http://schemas.openxmlformats.org/drawingml/2006/main" noGrp="1"/>
          </p:cNvSpPr>
          <p:nvPr/>
        </p:nvSpPr>
        <p:spPr>
          <a:xfrm xmlns:a="http://schemas.openxmlformats.org/drawingml/2006/main">
            <a:off x="10039350" y="9696450"/>
            <a:ext cx="365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F5E8D0"/>
                </a:solidFill>
                <a:latin typeface="Georgia"/>
                <a:ea typeface="Georgia"/>
                <a:cs typeface="Georgia"/>
              </a:defRPr>
            </a:pPr>
            <a:r>
              <a:rPr sz="1500" b="0">
                <a:solidFill>
                  <a:srgbClr val="F5E8D0"/>
                </a:solidFill>
                <a:latin typeface="Georgia"/>
                <a:ea typeface="Georgia"/>
                <a:cs typeface="Georgia"/>
              </a:rPr>
              <a:t>Buildings create cover</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a7667492bc0d4c7f"/>
          <a:srcRect xmlns:a="http://schemas.openxmlformats.org/drawingml/2006/main" l="3397" t="0" r="3397" b="0"/>
          <a:stretch xmlns:a="http://schemas.openxmlformats.org/drawingml/2006/main">
            <a:fillRect l="0" t="0" r="0" b="0"/>
          </a:stretch>
        </p:blipFill>
        <p:spPr>
          <a:xfrm xmlns:a="http://schemas.openxmlformats.org/drawingml/2006/main">
            <a:off x="14092533" y="7772400"/>
            <a:ext cx="3247434" cy="18288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7C986303-9D78-4C92-BF67-06D36FC390B1}"/>
              </a:ext>
            </a:extLst>
          </p:cNvPr>
          <p:cNvSpPr>
            <a:spLocks xmlns:a="http://schemas.openxmlformats.org/drawingml/2006/main" noGrp="1"/>
          </p:cNvSpPr>
          <p:nvPr/>
        </p:nvSpPr>
        <p:spPr>
          <a:xfrm xmlns:a="http://schemas.openxmlformats.org/drawingml/2006/main">
            <a:off x="13887450" y="9696450"/>
            <a:ext cx="365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F5E8D0"/>
                </a:solidFill>
                <a:latin typeface="Georgia"/>
                <a:ea typeface="Georgia"/>
                <a:cs typeface="Georgia"/>
              </a:defRPr>
            </a:pPr>
            <a:r>
              <a:rPr sz="1500" b="0">
                <a:solidFill>
                  <a:srgbClr val="F5E8D0"/>
                </a:solidFill>
                <a:latin typeface="Georgia"/>
                <a:ea typeface="Georgia"/>
                <a:cs typeface="Georgia"/>
              </a:rPr>
              <a:t>A readable boss threat</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4632d1aa9d97488e"/>
          <a:stretch xmlns:a="http://schemas.openxmlformats.org/drawingml/2006/main"/>
        </p:blipFill>
        <p:spPr>
          <a:xfrm xmlns:a="http://schemas.openxmlformats.org/drawingml/2006/main">
            <a:off x="266700" y="436563"/>
            <a:ext cx="5048250" cy="336550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830C90CE-99BB-4303-BBF8-228B229EDA4B}"/>
              </a:ext>
            </a:extLst>
          </p:cNvPr>
          <p:cNvSpPr>
            <a:spLocks xmlns:a="http://schemas.openxmlformats.org/drawingml/2006/main" noGrp="1"/>
          </p:cNvSpPr>
          <p:nvPr/>
        </p:nvSpPr>
        <p:spPr>
          <a:xfrm xmlns:a="http://schemas.openxmlformats.org/drawingml/2006/main">
            <a:off x="647700" y="7762875"/>
            <a:ext cx="647700" cy="64770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a1c204f652ef49e0"/>
          <a:stretch xmlns:a="http://schemas.openxmlformats.org/drawingml/2006/main"/>
        </p:blipFill>
        <p:spPr>
          <a:xfrm xmlns:a="http://schemas.openxmlformats.org/drawingml/2006/main">
            <a:off x="723900" y="7839075"/>
            <a:ext cx="495300" cy="49530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702D2BA4-948A-4F42-85A8-5A6A17ADE7A7}"/>
              </a:ext>
            </a:extLst>
          </p:cNvPr>
          <p:cNvSpPr>
            <a:spLocks xmlns:a="http://schemas.openxmlformats.org/drawingml/2006/main" noGrp="1"/>
          </p:cNvSpPr>
          <p:nvPr/>
        </p:nvSpPr>
        <p:spPr>
          <a:xfrm xmlns:a="http://schemas.openxmlformats.org/drawingml/2006/main">
            <a:off x="1543050" y="7762875"/>
            <a:ext cx="647700" cy="64770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6cb1d4db4dd9406b"/>
          <a:stretch xmlns:a="http://schemas.openxmlformats.org/drawingml/2006/main"/>
        </p:blipFill>
        <p:spPr>
          <a:xfrm xmlns:a="http://schemas.openxmlformats.org/drawingml/2006/main">
            <a:off x="1619250" y="7839075"/>
            <a:ext cx="495300" cy="49530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A9150F10-8AA3-4E76-812E-75F089171DD7}"/>
              </a:ext>
            </a:extLst>
          </p:cNvPr>
          <p:cNvSpPr>
            <a:spLocks xmlns:a="http://schemas.openxmlformats.org/drawingml/2006/main" noGrp="1"/>
          </p:cNvSpPr>
          <p:nvPr/>
        </p:nvSpPr>
        <p:spPr>
          <a:xfrm xmlns:a="http://schemas.openxmlformats.org/drawingml/2006/main">
            <a:off x="2438400" y="7762875"/>
            <a:ext cx="647700" cy="64770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6dbf56c94ee4efa"/>
          <a:stretch xmlns:a="http://schemas.openxmlformats.org/drawingml/2006/main"/>
        </p:blipFill>
        <p:spPr>
          <a:xfrm xmlns:a="http://schemas.openxmlformats.org/drawingml/2006/main">
            <a:off x="2514600" y="7839075"/>
            <a:ext cx="495300" cy="495300"/>
          </a:xfrm>
          <a:prstGeom xmlns:a="http://schemas.openxmlformats.org/drawingml/2006/main" prst="rect">
            <a:avLst/>
          </a:prstGeom>
        </p:spPr>
      </p:pic>
    </p:spTree>
    <p:extLst>
      <p:ext uri="{BB962C8B-B14F-4D97-AF65-F5344CB8AC3E}">
        <p14:creationId xmlns:p14="http://schemas.microsoft.com/office/powerpoint/2010/main" val="1954885768"/>
      </p:ext>
    </p:extLst>
  </p:cSld>
</p:sld>
</file>

<file path=ppt/slides/slide2.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592823b0224e4a30"/>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989BFB0-E90E-4986-94DE-E3CA2FE004E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436674-E5BF-49ED-9C3F-B72DF03575CA}"/>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481B7530-A7DD-4F20-8733-5761B8696DA5}"/>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02 / 06</a:t>
            </a:r>
          </a:p>
        </p:txBody>
      </p:sp>
      <p:sp>
        <p:nvSpPr>
          <p:cNvPr id="5" name="">
            <a:extLst xmlns:a="http://schemas.openxmlformats.org/drawingml/2006/main">
              <a:ext uri="{FF2B5EF4-FFF2-40B4-BE49-F238E27FC236}">
                <a16:creationId xmlns:a16="http://schemas.microsoft.com/office/drawing/2014/main" id="{4F4E24B2-86C5-4694-8E69-4C2BF7271A8F}"/>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How to play &amp; game flow</a:t>
            </a:r>
          </a:p>
        </p:txBody>
      </p:sp>
      <p:sp>
        <p:nvSpPr>
          <p:cNvPr id="6" name="">
            <a:extLst xmlns:a="http://schemas.openxmlformats.org/drawingml/2006/main">
              <a:ext uri="{FF2B5EF4-FFF2-40B4-BE49-F238E27FC236}">
                <a16:creationId xmlns:a16="http://schemas.microsoft.com/office/drawing/2014/main" id="{C8E5B754-5C4B-42B0-BA9A-4081BB21478D}"/>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The player gathers and maneuvers. The allied tower attacks automatically.</a:t>
            </a:r>
          </a:p>
        </p:txBody>
      </p:sp>
      <p:sp>
        <p:nvSpPr>
          <p:cNvPr id="7" name="">
            <a:extLst xmlns:a="http://schemas.openxmlformats.org/drawingml/2006/main">
              <a:ext uri="{FF2B5EF4-FFF2-40B4-BE49-F238E27FC236}">
                <a16:creationId xmlns:a16="http://schemas.microsoft.com/office/drawing/2014/main" id="{B4FEBA2B-834E-48CC-98CD-49E181C816D1}"/>
              </a:ext>
            </a:extLst>
          </p:cNvPr>
          <p:cNvSpPr>
            <a:spLocks xmlns:a="http://schemas.openxmlformats.org/drawingml/2006/main" noGrp="1"/>
          </p:cNvSpPr>
          <p:nvPr/>
        </p:nvSpPr>
        <p:spPr>
          <a:xfrm xmlns:a="http://schemas.openxmlformats.org/drawingml/2006/main">
            <a:off x="647700" y="263842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6083875E-926A-4CD1-9EA1-AABF8E7E9876}"/>
              </a:ext>
            </a:extLst>
          </p:cNvPr>
          <p:cNvSpPr>
            <a:spLocks xmlns:a="http://schemas.openxmlformats.org/drawingml/2006/main" noGrp="1"/>
          </p:cNvSpPr>
          <p:nvPr/>
        </p:nvSpPr>
        <p:spPr>
          <a:xfrm xmlns:a="http://schemas.openxmlformats.org/drawingml/2006/main">
            <a:off x="647700" y="3086100"/>
            <a:ext cx="5095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0">
                <a:solidFill>
                  <a:srgbClr val="F4E9D2"/>
                </a:solidFill>
                <a:latin typeface="Georgia"/>
                <a:ea typeface="Georgia"/>
                <a:cs typeface="Georgia"/>
              </a:defRPr>
            </a:pPr>
            <a:r>
              <a:rPr sz="3000" b="0">
                <a:solidFill>
                  <a:srgbClr val="F4E9D2"/>
                </a:solidFill>
                <a:latin typeface="Georgia"/>
                <a:ea typeface="Georgia"/>
                <a:cs typeface="Georgia"/>
              </a:rPr>
              <a:t>Gather &amp; upgrade</a:t>
            </a:r>
          </a:p>
        </p:txBody>
      </p:sp>
      <p:sp>
        <p:nvSpPr>
          <p:cNvPr id="9" name="">
            <a:extLst xmlns:a="http://schemas.openxmlformats.org/drawingml/2006/main">
              <a:ext uri="{FF2B5EF4-FFF2-40B4-BE49-F238E27FC236}">
                <a16:creationId xmlns:a16="http://schemas.microsoft.com/office/drawing/2014/main" id="{FCCA9E43-A96B-413E-BB55-0D325CD44B32}"/>
              </a:ext>
            </a:extLst>
          </p:cNvPr>
          <p:cNvSpPr>
            <a:spLocks xmlns:a="http://schemas.openxmlformats.org/drawingml/2006/main" noGrp="1"/>
          </p:cNvSpPr>
          <p:nvPr/>
        </p:nvSpPr>
        <p:spPr>
          <a:xfrm xmlns:a="http://schemas.openxmlformats.org/drawingml/2006/main">
            <a:off x="647700" y="3876675"/>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Collect wood, stone, gel and teeth. Spend materials near the tower to improve its level.</a:t>
            </a:r>
          </a:p>
        </p:txBody>
      </p:sp>
      <p:sp>
        <p:nvSpPr>
          <p:cNvPr id="10" name="">
            <a:extLst xmlns:a="http://schemas.openxmlformats.org/drawingml/2006/main">
              <a:ext uri="{FF2B5EF4-FFF2-40B4-BE49-F238E27FC236}">
                <a16:creationId xmlns:a16="http://schemas.microsoft.com/office/drawing/2014/main" id="{F971F424-F6B5-427E-A019-4B9260A23D7B}"/>
              </a:ext>
            </a:extLst>
          </p:cNvPr>
          <p:cNvSpPr>
            <a:spLocks xmlns:a="http://schemas.openxmlformats.org/drawingml/2006/main" noGrp="1"/>
          </p:cNvSpPr>
          <p:nvPr/>
        </p:nvSpPr>
        <p:spPr>
          <a:xfrm xmlns:a="http://schemas.openxmlformats.org/drawingml/2006/main">
            <a:off x="6572250" y="263842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B90900C4-F31F-4EA6-9AEC-D4218193918C}"/>
              </a:ext>
            </a:extLst>
          </p:cNvPr>
          <p:cNvSpPr>
            <a:spLocks xmlns:a="http://schemas.openxmlformats.org/drawingml/2006/main" noGrp="1"/>
          </p:cNvSpPr>
          <p:nvPr/>
        </p:nvSpPr>
        <p:spPr>
          <a:xfrm xmlns:a="http://schemas.openxmlformats.org/drawingml/2006/main">
            <a:off x="6572250" y="3086100"/>
            <a:ext cx="5095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0">
                <a:solidFill>
                  <a:srgbClr val="F4E9D2"/>
                </a:solidFill>
                <a:latin typeface="Georgia"/>
                <a:ea typeface="Georgia"/>
                <a:cs typeface="Georgia"/>
              </a:defRPr>
            </a:pPr>
            <a:r>
              <a:rPr sz="3000" b="0">
                <a:solidFill>
                  <a:srgbClr val="F4E9D2"/>
                </a:solidFill>
                <a:latin typeface="Georgia"/>
                <a:ea typeface="Georgia"/>
                <a:cs typeface="Georgia"/>
              </a:rPr>
              <a:t>Lure &amp; survive</a:t>
            </a:r>
          </a:p>
        </p:txBody>
      </p:sp>
      <p:sp>
        <p:nvSpPr>
          <p:cNvPr id="12" name="">
            <a:extLst xmlns:a="http://schemas.openxmlformats.org/drawingml/2006/main">
              <a:ext uri="{FF2B5EF4-FFF2-40B4-BE49-F238E27FC236}">
                <a16:creationId xmlns:a16="http://schemas.microsoft.com/office/drawing/2014/main" id="{6098CDA3-7470-4865-AD4E-99D3E7FAB9BD}"/>
              </a:ext>
            </a:extLst>
          </p:cNvPr>
          <p:cNvSpPr>
            <a:spLocks xmlns:a="http://schemas.openxmlformats.org/drawingml/2006/main" noGrp="1"/>
          </p:cNvSpPr>
          <p:nvPr/>
        </p:nvSpPr>
        <p:spPr>
          <a:xfrm xmlns:a="http://schemas.openxmlformats.org/drawingml/2006/main">
            <a:off x="6572250" y="3876675"/>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Lead enemies into tower range. Use buildings to block sight and make room to escape.</a:t>
            </a:r>
          </a:p>
        </p:txBody>
      </p:sp>
      <p:sp>
        <p:nvSpPr>
          <p:cNvPr id="13" name="">
            <a:extLst xmlns:a="http://schemas.openxmlformats.org/drawingml/2006/main">
              <a:ext uri="{FF2B5EF4-FFF2-40B4-BE49-F238E27FC236}">
                <a16:creationId xmlns:a16="http://schemas.microsoft.com/office/drawing/2014/main" id="{9A2B445C-5D02-4141-8E75-3CC9B984BF9C}"/>
              </a:ext>
            </a:extLst>
          </p:cNvPr>
          <p:cNvSpPr>
            <a:spLocks xmlns:a="http://schemas.openxmlformats.org/drawingml/2006/main" noGrp="1"/>
          </p:cNvSpPr>
          <p:nvPr/>
        </p:nvSpPr>
        <p:spPr>
          <a:xfrm xmlns:a="http://schemas.openxmlformats.org/drawingml/2006/main">
            <a:off x="12496800" y="263842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701665AA-2C5D-4E1B-8E99-990C22E0E33A}"/>
              </a:ext>
            </a:extLst>
          </p:cNvPr>
          <p:cNvSpPr>
            <a:spLocks xmlns:a="http://schemas.openxmlformats.org/drawingml/2006/main" noGrp="1"/>
          </p:cNvSpPr>
          <p:nvPr/>
        </p:nvSpPr>
        <p:spPr>
          <a:xfrm xmlns:a="http://schemas.openxmlformats.org/drawingml/2006/main">
            <a:off x="12496800" y="3086100"/>
            <a:ext cx="5095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0">
                <a:solidFill>
                  <a:srgbClr val="F4E9D2"/>
                </a:solidFill>
                <a:latin typeface="Georgia"/>
                <a:ea typeface="Georgia"/>
                <a:cs typeface="Georgia"/>
              </a:defRPr>
            </a:pPr>
            <a:r>
              <a:rPr sz="3000" b="0">
                <a:solidFill>
                  <a:srgbClr val="F4E9D2"/>
                </a:solidFill>
                <a:latin typeface="Georgia"/>
                <a:ea typeface="Georgia"/>
                <a:cs typeface="Georgia"/>
              </a:rPr>
              <a:t>Expand &amp; defend</a:t>
            </a:r>
          </a:p>
        </p:txBody>
      </p:sp>
      <p:sp>
        <p:nvSpPr>
          <p:cNvPr id="15" name="">
            <a:extLst xmlns:a="http://schemas.openxmlformats.org/drawingml/2006/main">
              <a:ext uri="{FF2B5EF4-FFF2-40B4-BE49-F238E27FC236}">
                <a16:creationId xmlns:a16="http://schemas.microsoft.com/office/drawing/2014/main" id="{D0C4C3D3-58C0-442E-9323-A9508E200F3D}"/>
              </a:ext>
            </a:extLst>
          </p:cNvPr>
          <p:cNvSpPr>
            <a:spLocks xmlns:a="http://schemas.openxmlformats.org/drawingml/2006/main" noGrp="1"/>
          </p:cNvSpPr>
          <p:nvPr/>
        </p:nvSpPr>
        <p:spPr>
          <a:xfrm xmlns:a="http://schemas.openxmlformats.org/drawingml/2006/main">
            <a:off x="12496800" y="3876675"/>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Unlock the outer regions as the tower grows. Bring limited repair supplies back from region three.</a:t>
            </a:r>
          </a:p>
        </p:txBody>
      </p:sp>
      <p:sp>
        <p:nvSpPr>
          <p:cNvPr id="16" name="">
            <a:extLst xmlns:a="http://schemas.openxmlformats.org/drawingml/2006/main">
              <a:ext uri="{FF2B5EF4-FFF2-40B4-BE49-F238E27FC236}">
                <a16:creationId xmlns:a16="http://schemas.microsoft.com/office/drawing/2014/main" id="{DAC45468-DB35-481E-BEE9-3B8B5340A0AC}"/>
              </a:ext>
            </a:extLst>
          </p:cNvPr>
          <p:cNvSpPr>
            <a:spLocks xmlns:a="http://schemas.openxmlformats.org/drawingml/2006/main" noGrp="1"/>
          </p:cNvSpPr>
          <p:nvPr/>
        </p:nvSpPr>
        <p:spPr>
          <a:xfrm xmlns:a="http://schemas.openxmlformats.org/drawingml/2006/main">
            <a:off x="647700" y="57150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 LOOP</a:t>
            </a:r>
          </a:p>
        </p:txBody>
      </p:sp>
      <p:sp>
        <p:nvSpPr>
          <p:cNvPr id="17" name="">
            <a:extLst xmlns:a="http://schemas.openxmlformats.org/drawingml/2006/main">
              <a:ext uri="{FF2B5EF4-FFF2-40B4-BE49-F238E27FC236}">
                <a16:creationId xmlns:a16="http://schemas.microsoft.com/office/drawing/2014/main" id="{E7D96270-C1C5-436E-BA60-F2B7632317E8}"/>
              </a:ext>
            </a:extLst>
          </p:cNvPr>
          <p:cNvSpPr>
            <a:spLocks xmlns:a="http://schemas.openxmlformats.org/drawingml/2006/main" noGrp="1"/>
          </p:cNvSpPr>
          <p:nvPr/>
        </p:nvSpPr>
        <p:spPr>
          <a:xfrm xmlns:a="http://schemas.openxmlformats.org/drawingml/2006/main">
            <a:off x="647700" y="6276975"/>
            <a:ext cx="2524125" cy="78105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8" name="">
            <a:extLst xmlns:a="http://schemas.openxmlformats.org/drawingml/2006/main">
              <a:ext uri="{FF2B5EF4-FFF2-40B4-BE49-F238E27FC236}">
                <a16:creationId xmlns:a16="http://schemas.microsoft.com/office/drawing/2014/main" id="{DC39AE75-BF8B-4D55-8562-DA7D62EBC51A}"/>
              </a:ext>
            </a:extLst>
          </p:cNvPr>
          <p:cNvSpPr>
            <a:spLocks xmlns:a="http://schemas.openxmlformats.org/drawingml/2006/main" noGrp="1"/>
          </p:cNvSpPr>
          <p:nvPr/>
        </p:nvSpPr>
        <p:spPr>
          <a:xfrm xmlns:a="http://schemas.openxmlformats.org/drawingml/2006/main">
            <a:off x="876300" y="6457950"/>
            <a:ext cx="219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F4E9D2"/>
                </a:solidFill>
                <a:latin typeface="Georgia"/>
                <a:ea typeface="Georgia"/>
                <a:cs typeface="Georgia"/>
              </a:defRPr>
            </a:pPr>
            <a:r>
              <a:rPr sz="2475" b="0">
                <a:solidFill>
                  <a:srgbClr val="F4E9D2"/>
                </a:solidFill>
                <a:latin typeface="Georgia"/>
                <a:ea typeface="Georgia"/>
                <a:cs typeface="Georgia"/>
              </a:rPr>
              <a:t>Explore</a:t>
            </a:r>
          </a:p>
        </p:txBody>
      </p:sp>
      <p:sp>
        <p:nvSpPr>
          <p:cNvPr id="19" name="">
            <a:extLst xmlns:a="http://schemas.openxmlformats.org/drawingml/2006/main">
              <a:ext uri="{FF2B5EF4-FFF2-40B4-BE49-F238E27FC236}">
                <a16:creationId xmlns:a16="http://schemas.microsoft.com/office/drawing/2014/main" id="{D50C8DAB-C4A9-4064-B80D-6B459F58C7ED}"/>
              </a:ext>
            </a:extLst>
          </p:cNvPr>
          <p:cNvSpPr>
            <a:spLocks xmlns:a="http://schemas.openxmlformats.org/drawingml/2006/main" noGrp="1"/>
          </p:cNvSpPr>
          <p:nvPr/>
        </p:nvSpPr>
        <p:spPr>
          <a:xfrm xmlns:a="http://schemas.openxmlformats.org/drawingml/2006/main">
            <a:off x="3171825" y="6657975"/>
            <a:ext cx="428625" cy="19050"/>
          </a:xfrm>
          <a:prstGeom xmlns:a="http://schemas.openxmlformats.org/drawingml/2006/main" prst="rect">
            <a:avLst/>
          </a:prstGeom>
          <a:solidFill xmlns:a="http://schemas.openxmlformats.org/drawingml/2006/main">
            <a:srgbClr val="E8B66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AE45862-F007-462D-8A72-A703E916B3D7}"/>
              </a:ext>
            </a:extLst>
          </p:cNvPr>
          <p:cNvSpPr>
            <a:spLocks xmlns:a="http://schemas.openxmlformats.org/drawingml/2006/main" noGrp="1"/>
          </p:cNvSpPr>
          <p:nvPr/>
        </p:nvSpPr>
        <p:spPr>
          <a:xfrm xmlns:a="http://schemas.openxmlformats.org/drawingml/2006/main">
            <a:off x="3600450" y="6276975"/>
            <a:ext cx="2524125" cy="78105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21" name="">
            <a:extLst xmlns:a="http://schemas.openxmlformats.org/drawingml/2006/main">
              <a:ext uri="{FF2B5EF4-FFF2-40B4-BE49-F238E27FC236}">
                <a16:creationId xmlns:a16="http://schemas.microsoft.com/office/drawing/2014/main" id="{9F21822A-5936-45E0-B6A9-D39E02D3EF86}"/>
              </a:ext>
            </a:extLst>
          </p:cNvPr>
          <p:cNvSpPr>
            <a:spLocks xmlns:a="http://schemas.openxmlformats.org/drawingml/2006/main" noGrp="1"/>
          </p:cNvSpPr>
          <p:nvPr/>
        </p:nvSpPr>
        <p:spPr>
          <a:xfrm xmlns:a="http://schemas.openxmlformats.org/drawingml/2006/main">
            <a:off x="3829050" y="6457950"/>
            <a:ext cx="219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F4E9D2"/>
                </a:solidFill>
                <a:latin typeface="Georgia"/>
                <a:ea typeface="Georgia"/>
                <a:cs typeface="Georgia"/>
              </a:defRPr>
            </a:pPr>
            <a:r>
              <a:rPr sz="2475" b="0">
                <a:solidFill>
                  <a:srgbClr val="F4E9D2"/>
                </a:solidFill>
                <a:latin typeface="Georgia"/>
                <a:ea typeface="Georgia"/>
                <a:cs typeface="Georgia"/>
              </a:rPr>
              <a:t>Collect</a:t>
            </a:r>
          </a:p>
        </p:txBody>
      </p:sp>
      <p:sp>
        <p:nvSpPr>
          <p:cNvPr id="22" name="">
            <a:extLst xmlns:a="http://schemas.openxmlformats.org/drawingml/2006/main">
              <a:ext uri="{FF2B5EF4-FFF2-40B4-BE49-F238E27FC236}">
                <a16:creationId xmlns:a16="http://schemas.microsoft.com/office/drawing/2014/main" id="{CF3C2585-A585-46E9-ABD0-A684A81138B0}"/>
              </a:ext>
            </a:extLst>
          </p:cNvPr>
          <p:cNvSpPr>
            <a:spLocks xmlns:a="http://schemas.openxmlformats.org/drawingml/2006/main" noGrp="1"/>
          </p:cNvSpPr>
          <p:nvPr/>
        </p:nvSpPr>
        <p:spPr>
          <a:xfrm xmlns:a="http://schemas.openxmlformats.org/drawingml/2006/main">
            <a:off x="6124575" y="6657975"/>
            <a:ext cx="428625" cy="19050"/>
          </a:xfrm>
          <a:prstGeom xmlns:a="http://schemas.openxmlformats.org/drawingml/2006/main" prst="rect">
            <a:avLst/>
          </a:prstGeom>
          <a:solidFill xmlns:a="http://schemas.openxmlformats.org/drawingml/2006/main">
            <a:srgbClr val="E8B66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5790BA9-2F95-45D4-B90D-0792E868E874}"/>
              </a:ext>
            </a:extLst>
          </p:cNvPr>
          <p:cNvSpPr>
            <a:spLocks xmlns:a="http://schemas.openxmlformats.org/drawingml/2006/main" noGrp="1"/>
          </p:cNvSpPr>
          <p:nvPr/>
        </p:nvSpPr>
        <p:spPr>
          <a:xfrm xmlns:a="http://schemas.openxmlformats.org/drawingml/2006/main">
            <a:off x="6553200" y="6276975"/>
            <a:ext cx="2524125" cy="78105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24" name="">
            <a:extLst xmlns:a="http://schemas.openxmlformats.org/drawingml/2006/main">
              <a:ext uri="{FF2B5EF4-FFF2-40B4-BE49-F238E27FC236}">
                <a16:creationId xmlns:a16="http://schemas.microsoft.com/office/drawing/2014/main" id="{EDEA1F27-0243-4DAD-8B04-5F65D9254BA8}"/>
              </a:ext>
            </a:extLst>
          </p:cNvPr>
          <p:cNvSpPr>
            <a:spLocks xmlns:a="http://schemas.openxmlformats.org/drawingml/2006/main" noGrp="1"/>
          </p:cNvSpPr>
          <p:nvPr/>
        </p:nvSpPr>
        <p:spPr>
          <a:xfrm xmlns:a="http://schemas.openxmlformats.org/drawingml/2006/main">
            <a:off x="6781800" y="6457950"/>
            <a:ext cx="219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F4E9D2"/>
                </a:solidFill>
                <a:latin typeface="Georgia"/>
                <a:ea typeface="Georgia"/>
                <a:cs typeface="Georgia"/>
              </a:defRPr>
            </a:pPr>
            <a:r>
              <a:rPr sz="2475" b="0">
                <a:solidFill>
                  <a:srgbClr val="F4E9D2"/>
                </a:solidFill>
                <a:latin typeface="Georgia"/>
                <a:ea typeface="Georgia"/>
                <a:cs typeface="Georgia"/>
              </a:rPr>
              <a:t>Upgrade</a:t>
            </a:r>
          </a:p>
        </p:txBody>
      </p:sp>
      <p:sp>
        <p:nvSpPr>
          <p:cNvPr id="25" name="">
            <a:extLst xmlns:a="http://schemas.openxmlformats.org/drawingml/2006/main">
              <a:ext uri="{FF2B5EF4-FFF2-40B4-BE49-F238E27FC236}">
                <a16:creationId xmlns:a16="http://schemas.microsoft.com/office/drawing/2014/main" id="{E066FAA8-5472-4081-B816-F996A9C073C5}"/>
              </a:ext>
            </a:extLst>
          </p:cNvPr>
          <p:cNvSpPr>
            <a:spLocks xmlns:a="http://schemas.openxmlformats.org/drawingml/2006/main" noGrp="1"/>
          </p:cNvSpPr>
          <p:nvPr/>
        </p:nvSpPr>
        <p:spPr>
          <a:xfrm xmlns:a="http://schemas.openxmlformats.org/drawingml/2006/main">
            <a:off x="9077325" y="6657975"/>
            <a:ext cx="428625" cy="19050"/>
          </a:xfrm>
          <a:prstGeom xmlns:a="http://schemas.openxmlformats.org/drawingml/2006/main" prst="rect">
            <a:avLst/>
          </a:prstGeom>
          <a:solidFill xmlns:a="http://schemas.openxmlformats.org/drawingml/2006/main">
            <a:srgbClr val="E8B66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4DF5261-72AE-43C4-9CA2-08809A26AC0E}"/>
              </a:ext>
            </a:extLst>
          </p:cNvPr>
          <p:cNvSpPr>
            <a:spLocks xmlns:a="http://schemas.openxmlformats.org/drawingml/2006/main" noGrp="1"/>
          </p:cNvSpPr>
          <p:nvPr/>
        </p:nvSpPr>
        <p:spPr>
          <a:xfrm xmlns:a="http://schemas.openxmlformats.org/drawingml/2006/main">
            <a:off x="9505950" y="6276975"/>
            <a:ext cx="2524125" cy="78105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27" name="">
            <a:extLst xmlns:a="http://schemas.openxmlformats.org/drawingml/2006/main">
              <a:ext uri="{FF2B5EF4-FFF2-40B4-BE49-F238E27FC236}">
                <a16:creationId xmlns:a16="http://schemas.microsoft.com/office/drawing/2014/main" id="{3A10B362-E88F-49D0-A51B-21AD8E9EB734}"/>
              </a:ext>
            </a:extLst>
          </p:cNvPr>
          <p:cNvSpPr>
            <a:spLocks xmlns:a="http://schemas.openxmlformats.org/drawingml/2006/main" noGrp="1"/>
          </p:cNvSpPr>
          <p:nvPr/>
        </p:nvSpPr>
        <p:spPr>
          <a:xfrm xmlns:a="http://schemas.openxmlformats.org/drawingml/2006/main">
            <a:off x="9734550" y="6457950"/>
            <a:ext cx="219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F4E9D2"/>
                </a:solidFill>
                <a:latin typeface="Georgia"/>
                <a:ea typeface="Georgia"/>
                <a:cs typeface="Georgia"/>
              </a:defRPr>
            </a:pPr>
            <a:r>
              <a:rPr sz="2475" b="0">
                <a:solidFill>
                  <a:srgbClr val="F4E9D2"/>
                </a:solidFill>
                <a:latin typeface="Georgia"/>
                <a:ea typeface="Georgia"/>
                <a:cs typeface="Georgia"/>
              </a:rPr>
              <a:t>Defend</a:t>
            </a:r>
          </a:p>
        </p:txBody>
      </p:sp>
      <p:sp>
        <p:nvSpPr>
          <p:cNvPr id="28" name="">
            <a:extLst xmlns:a="http://schemas.openxmlformats.org/drawingml/2006/main">
              <a:ext uri="{FF2B5EF4-FFF2-40B4-BE49-F238E27FC236}">
                <a16:creationId xmlns:a16="http://schemas.microsoft.com/office/drawing/2014/main" id="{264BC7C7-616F-41A0-95B5-990ED89FD1F4}"/>
              </a:ext>
            </a:extLst>
          </p:cNvPr>
          <p:cNvSpPr>
            <a:spLocks xmlns:a="http://schemas.openxmlformats.org/drawingml/2006/main" noGrp="1"/>
          </p:cNvSpPr>
          <p:nvPr/>
        </p:nvSpPr>
        <p:spPr>
          <a:xfrm xmlns:a="http://schemas.openxmlformats.org/drawingml/2006/main">
            <a:off x="12954000" y="59626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VICTORY</a:t>
            </a:r>
          </a:p>
        </p:txBody>
      </p:sp>
      <p:sp>
        <p:nvSpPr>
          <p:cNvPr id="29" name="">
            <a:extLst xmlns:a="http://schemas.openxmlformats.org/drawingml/2006/main">
              <a:ext uri="{FF2B5EF4-FFF2-40B4-BE49-F238E27FC236}">
                <a16:creationId xmlns:a16="http://schemas.microsoft.com/office/drawing/2014/main" id="{B03DDD3D-E4F0-4576-9407-CF099C2C4BD9}"/>
              </a:ext>
            </a:extLst>
          </p:cNvPr>
          <p:cNvSpPr>
            <a:spLocks xmlns:a="http://schemas.openxmlformats.org/drawingml/2006/main" noGrp="1"/>
          </p:cNvSpPr>
          <p:nvPr/>
        </p:nvSpPr>
        <p:spPr>
          <a:xfrm xmlns:a="http://schemas.openxmlformats.org/drawingml/2006/main">
            <a:off x="12954000" y="6486525"/>
            <a:ext cx="4572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Tower level 3 + every wave and remaining enemy cleared.</a:t>
            </a:r>
          </a:p>
        </p:txBody>
      </p:sp>
      <p:sp>
        <p:nvSpPr>
          <p:cNvPr id="30" name="">
            <a:extLst xmlns:a="http://schemas.openxmlformats.org/drawingml/2006/main">
              <a:ext uri="{FF2B5EF4-FFF2-40B4-BE49-F238E27FC236}">
                <a16:creationId xmlns:a16="http://schemas.microsoft.com/office/drawing/2014/main" id="{7E347407-7D86-4AAC-AAA8-D004AEC105E7}"/>
              </a:ext>
            </a:extLst>
          </p:cNvPr>
          <p:cNvSpPr>
            <a:spLocks xmlns:a="http://schemas.openxmlformats.org/drawingml/2006/main" noGrp="1"/>
          </p:cNvSpPr>
          <p:nvPr/>
        </p:nvSpPr>
        <p:spPr>
          <a:xfrm xmlns:a="http://schemas.openxmlformats.org/drawingml/2006/main">
            <a:off x="647700" y="80391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KEYBOARD CONTROLS</a:t>
            </a:r>
          </a:p>
        </p:txBody>
      </p:sp>
      <p:sp>
        <p:nvSpPr>
          <p:cNvPr id="31" name="">
            <a:extLst xmlns:a="http://schemas.openxmlformats.org/drawingml/2006/main">
              <a:ext uri="{FF2B5EF4-FFF2-40B4-BE49-F238E27FC236}">
                <a16:creationId xmlns:a16="http://schemas.microsoft.com/office/drawing/2014/main" id="{ACDF4F63-9A52-4991-A84A-7587233BD377}"/>
              </a:ext>
            </a:extLst>
          </p:cNvPr>
          <p:cNvSpPr>
            <a:spLocks xmlns:a="http://schemas.openxmlformats.org/drawingml/2006/main" noGrp="1"/>
          </p:cNvSpPr>
          <p:nvPr/>
        </p:nvSpPr>
        <p:spPr>
          <a:xfrm xmlns:a="http://schemas.openxmlformats.org/drawingml/2006/main">
            <a:off x="647700" y="8629650"/>
            <a:ext cx="557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F4E9D2"/>
                </a:solidFill>
                <a:latin typeface="Georgia"/>
                <a:ea typeface="Georgia"/>
                <a:cs typeface="Georgia"/>
              </a:defRPr>
            </a:pPr>
            <a:r>
              <a:rPr sz="2550" b="0">
                <a:solidFill>
                  <a:srgbClr val="F4E9D2"/>
                </a:solidFill>
                <a:latin typeface="Georgia"/>
                <a:ea typeface="Georgia"/>
                <a:cs typeface="Georgia"/>
              </a:rPr>
              <a:t>WASD / Arrow keys</a:t>
            </a:r>
          </a:p>
        </p:txBody>
      </p:sp>
      <p:sp>
        <p:nvSpPr>
          <p:cNvPr id="32" name="">
            <a:extLst xmlns:a="http://schemas.openxmlformats.org/drawingml/2006/main">
              <a:ext uri="{FF2B5EF4-FFF2-40B4-BE49-F238E27FC236}">
                <a16:creationId xmlns:a16="http://schemas.microsoft.com/office/drawing/2014/main" id="{891801B1-B5A7-48A9-A11C-7500A7B82511}"/>
              </a:ext>
            </a:extLst>
          </p:cNvPr>
          <p:cNvSpPr>
            <a:spLocks xmlns:a="http://schemas.openxmlformats.org/drawingml/2006/main" noGrp="1"/>
          </p:cNvSpPr>
          <p:nvPr/>
        </p:nvSpPr>
        <p:spPr>
          <a:xfrm xmlns:a="http://schemas.openxmlformats.org/drawingml/2006/main">
            <a:off x="647700" y="9248775"/>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Move</a:t>
            </a:r>
          </a:p>
        </p:txBody>
      </p:sp>
      <p:sp>
        <p:nvSpPr>
          <p:cNvPr id="33" name="">
            <a:extLst xmlns:a="http://schemas.openxmlformats.org/drawingml/2006/main">
              <a:ext uri="{FF2B5EF4-FFF2-40B4-BE49-F238E27FC236}">
                <a16:creationId xmlns:a16="http://schemas.microsoft.com/office/drawing/2014/main" id="{96879002-E6B3-4BD7-8199-C18986AB4E5F}"/>
              </a:ext>
            </a:extLst>
          </p:cNvPr>
          <p:cNvSpPr>
            <a:spLocks xmlns:a="http://schemas.openxmlformats.org/drawingml/2006/main" noGrp="1"/>
          </p:cNvSpPr>
          <p:nvPr/>
        </p:nvSpPr>
        <p:spPr>
          <a:xfrm xmlns:a="http://schemas.openxmlformats.org/drawingml/2006/main">
            <a:off x="6572250" y="86296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F4E9D2"/>
                </a:solidFill>
                <a:latin typeface="Georgia"/>
                <a:ea typeface="Georgia"/>
                <a:cs typeface="Georgia"/>
              </a:defRPr>
            </a:pPr>
            <a:r>
              <a:rPr sz="2550" b="0">
                <a:solidFill>
                  <a:srgbClr val="F4E9D2"/>
                </a:solidFill>
                <a:latin typeface="Georgia"/>
                <a:ea typeface="Georgia"/>
                <a:cs typeface="Georgia"/>
              </a:rPr>
              <a:t>E</a:t>
            </a:r>
          </a:p>
        </p:txBody>
      </p:sp>
      <p:sp>
        <p:nvSpPr>
          <p:cNvPr id="34" name="">
            <a:extLst xmlns:a="http://schemas.openxmlformats.org/drawingml/2006/main">
              <a:ext uri="{FF2B5EF4-FFF2-40B4-BE49-F238E27FC236}">
                <a16:creationId xmlns:a16="http://schemas.microsoft.com/office/drawing/2014/main" id="{549046BA-E8B2-4646-BDC2-83EEAA12266F}"/>
              </a:ext>
            </a:extLst>
          </p:cNvPr>
          <p:cNvSpPr>
            <a:spLocks xmlns:a="http://schemas.openxmlformats.org/drawingml/2006/main" noGrp="1"/>
          </p:cNvSpPr>
          <p:nvPr/>
        </p:nvSpPr>
        <p:spPr>
          <a:xfrm xmlns:a="http://schemas.openxmlformats.org/drawingml/2006/main">
            <a:off x="6572250" y="9248775"/>
            <a:ext cx="5095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near the tower / collect supplies</a:t>
            </a:r>
          </a:p>
        </p:txBody>
      </p:sp>
      <p:sp>
        <p:nvSpPr>
          <p:cNvPr id="35" name="">
            <a:extLst xmlns:a="http://schemas.openxmlformats.org/drawingml/2006/main">
              <a:ext uri="{FF2B5EF4-FFF2-40B4-BE49-F238E27FC236}">
                <a16:creationId xmlns:a16="http://schemas.microsoft.com/office/drawing/2014/main" id="{CC5E0987-7DCB-4F5E-A7A9-BBD499CE6732}"/>
              </a:ext>
            </a:extLst>
          </p:cNvPr>
          <p:cNvSpPr>
            <a:spLocks xmlns:a="http://schemas.openxmlformats.org/drawingml/2006/main" noGrp="1"/>
          </p:cNvSpPr>
          <p:nvPr/>
        </p:nvSpPr>
        <p:spPr>
          <a:xfrm xmlns:a="http://schemas.openxmlformats.org/drawingml/2006/main">
            <a:off x="12496800" y="86296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F4E9D2"/>
                </a:solidFill>
                <a:latin typeface="Georgia"/>
                <a:ea typeface="Georgia"/>
                <a:cs typeface="Georgia"/>
              </a:defRPr>
            </a:pPr>
            <a:r>
              <a:rPr sz="2550" b="0">
                <a:solidFill>
                  <a:srgbClr val="F4E9D2"/>
                </a:solidFill>
                <a:latin typeface="Georgia"/>
                <a:ea typeface="Georgia"/>
                <a:cs typeface="Georgia"/>
              </a:rPr>
              <a:t>Esc</a:t>
            </a:r>
          </a:p>
        </p:txBody>
      </p:sp>
      <p:sp>
        <p:nvSpPr>
          <p:cNvPr id="36" name="">
            <a:extLst xmlns:a="http://schemas.openxmlformats.org/drawingml/2006/main">
              <a:ext uri="{FF2B5EF4-FFF2-40B4-BE49-F238E27FC236}">
                <a16:creationId xmlns:a16="http://schemas.microsoft.com/office/drawing/2014/main" id="{D47CDB65-7035-4D86-8736-EC96C2CB48FF}"/>
              </a:ext>
            </a:extLst>
          </p:cNvPr>
          <p:cNvSpPr>
            <a:spLocks xmlns:a="http://schemas.openxmlformats.org/drawingml/2006/main" noGrp="1"/>
          </p:cNvSpPr>
          <p:nvPr/>
        </p:nvSpPr>
        <p:spPr>
          <a:xfrm xmlns:a="http://schemas.openxmlformats.org/drawingml/2006/main">
            <a:off x="12496800" y="92487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Pause or resume</a:t>
            </a:r>
          </a:p>
        </p:txBody>
      </p:sp>
    </p:spTree>
    <p:extLst>
      <p:ext uri="{BB962C8B-B14F-4D97-AF65-F5344CB8AC3E}">
        <p14:creationId xmlns:p14="http://schemas.microsoft.com/office/powerpoint/2010/main" val="1406781718"/>
      </p:ext>
    </p:extLst>
  </p:cSld>
</p:sld>
</file>

<file path=ppt/slides/slide3.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912ea5cf3cb409f"/>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198719-6EBF-40AB-9CAE-A4A5CBCE73E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90D9990-2B37-47BB-9B8E-1A6DD42CB947}"/>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3F01901E-29D9-4582-B678-8161582C1E15}"/>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03 / 06</a:t>
            </a:r>
          </a:p>
        </p:txBody>
      </p:sp>
      <p:sp>
        <p:nvSpPr>
          <p:cNvPr id="5" name="">
            <a:extLst xmlns:a="http://schemas.openxmlformats.org/drawingml/2006/main">
              <a:ext uri="{FF2B5EF4-FFF2-40B4-BE49-F238E27FC236}">
                <a16:creationId xmlns:a16="http://schemas.microsoft.com/office/drawing/2014/main" id="{670AD1B1-02D9-49D7-AC03-89114738F4B1}"/>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Level design: three connected regions</a:t>
            </a:r>
          </a:p>
        </p:txBody>
      </p:sp>
      <p:sp>
        <p:nvSpPr>
          <p:cNvPr id="6" name="">
            <a:extLst xmlns:a="http://schemas.openxmlformats.org/drawingml/2006/main">
              <a:ext uri="{FF2B5EF4-FFF2-40B4-BE49-F238E27FC236}">
                <a16:creationId xmlns:a16="http://schemas.microsoft.com/office/drawing/2014/main" id="{565ED7BE-D717-4062-99BC-45743C91D655}"/>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Concentric progression keeps the tower central while exploration becomes more demanding.</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b718881ab1b4ece"/>
          <a:stretch xmlns:a="http://schemas.openxmlformats.org/drawingml/2006/main"/>
        </p:blipFill>
        <p:spPr>
          <a:xfrm xmlns:a="http://schemas.openxmlformats.org/drawingml/2006/main">
            <a:off x="742950" y="2619375"/>
            <a:ext cx="6572250" cy="65722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81a921551544893"/>
          <a:stretch xmlns:a="http://schemas.openxmlformats.org/drawingml/2006/main"/>
        </p:blipFill>
        <p:spPr>
          <a:xfrm xmlns:a="http://schemas.openxmlformats.org/drawingml/2006/main">
            <a:off x="2057400" y="3933825"/>
            <a:ext cx="3943350" cy="39433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807152152dd4505"/>
          <a:stretch xmlns:a="http://schemas.openxmlformats.org/drawingml/2006/main"/>
        </p:blipFill>
        <p:spPr>
          <a:xfrm xmlns:a="http://schemas.openxmlformats.org/drawingml/2006/main">
            <a:off x="3207544" y="5083969"/>
            <a:ext cx="1643063" cy="164306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6DABD81-4723-442B-BED4-3C82DF47EDDE}"/>
              </a:ext>
            </a:extLst>
          </p:cNvPr>
          <p:cNvSpPr>
            <a:spLocks xmlns:a="http://schemas.openxmlformats.org/drawingml/2006/main" noGrp="1"/>
          </p:cNvSpPr>
          <p:nvPr/>
        </p:nvSpPr>
        <p:spPr>
          <a:xfrm xmlns:a="http://schemas.openxmlformats.org/drawingml/2006/main">
            <a:off x="742950" y="9458325"/>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Authored region radii: 12.5 / 30 / 50 units</a:t>
            </a:r>
          </a:p>
        </p:txBody>
      </p:sp>
      <p:sp>
        <p:nvSpPr>
          <p:cNvPr id="11" name="">
            <a:extLst xmlns:a="http://schemas.openxmlformats.org/drawingml/2006/main">
              <a:ext uri="{FF2B5EF4-FFF2-40B4-BE49-F238E27FC236}">
                <a16:creationId xmlns:a16="http://schemas.microsoft.com/office/drawing/2014/main" id="{C48396D4-5404-4C52-85B8-D46AEB1207B6}"/>
              </a:ext>
            </a:extLst>
          </p:cNvPr>
          <p:cNvSpPr>
            <a:spLocks xmlns:a="http://schemas.openxmlformats.org/drawingml/2006/main" noGrp="1"/>
          </p:cNvSpPr>
          <p:nvPr/>
        </p:nvSpPr>
        <p:spPr>
          <a:xfrm xmlns:a="http://schemas.openxmlformats.org/drawingml/2006/main">
            <a:off x="8096250" y="27146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01  CENTRAL REFUGE</a:t>
            </a:r>
          </a:p>
        </p:txBody>
      </p:sp>
      <p:sp>
        <p:nvSpPr>
          <p:cNvPr id="12" name="">
            <a:extLst xmlns:a="http://schemas.openxmlformats.org/drawingml/2006/main">
              <a:ext uri="{FF2B5EF4-FFF2-40B4-BE49-F238E27FC236}">
                <a16:creationId xmlns:a16="http://schemas.microsoft.com/office/drawing/2014/main" id="{447AFC4B-E49D-417A-8730-E111DE5D5701}"/>
              </a:ext>
            </a:extLst>
          </p:cNvPr>
          <p:cNvSpPr>
            <a:spLocks xmlns:a="http://schemas.openxmlformats.org/drawingml/2006/main" noGrp="1"/>
          </p:cNvSpPr>
          <p:nvPr/>
        </p:nvSpPr>
        <p:spPr>
          <a:xfrm xmlns:a="http://schemas.openxmlformats.org/drawingml/2006/main">
            <a:off x="8096250" y="31908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6 building obstacles. Learn gathering and tower defense close to the safe area.</a:t>
            </a:r>
          </a:p>
        </p:txBody>
      </p:sp>
      <p:sp>
        <p:nvSpPr>
          <p:cNvPr id="13" name="">
            <a:extLst xmlns:a="http://schemas.openxmlformats.org/drawingml/2006/main">
              <a:ext uri="{FF2B5EF4-FFF2-40B4-BE49-F238E27FC236}">
                <a16:creationId xmlns:a16="http://schemas.microsoft.com/office/drawing/2014/main" id="{B17EE98B-CE81-44AD-A2FB-5A9A49E7DE76}"/>
              </a:ext>
            </a:extLst>
          </p:cNvPr>
          <p:cNvSpPr>
            <a:spLocks xmlns:a="http://schemas.openxmlformats.org/drawingml/2006/main" noGrp="1"/>
          </p:cNvSpPr>
          <p:nvPr/>
        </p:nvSpPr>
        <p:spPr>
          <a:xfrm xmlns:a="http://schemas.openxmlformats.org/drawingml/2006/main">
            <a:off x="8096250" y="45053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02  EXPANDING ROUTES</a:t>
            </a:r>
          </a:p>
        </p:txBody>
      </p:sp>
      <p:sp>
        <p:nvSpPr>
          <p:cNvPr id="14" name="">
            <a:extLst xmlns:a="http://schemas.openxmlformats.org/drawingml/2006/main">
              <a:ext uri="{FF2B5EF4-FFF2-40B4-BE49-F238E27FC236}">
                <a16:creationId xmlns:a16="http://schemas.microsoft.com/office/drawing/2014/main" id="{BFE59C3B-DFAE-48FE-8595-500F2F131C11}"/>
              </a:ext>
            </a:extLst>
          </p:cNvPr>
          <p:cNvSpPr>
            <a:spLocks xmlns:a="http://schemas.openxmlformats.org/drawingml/2006/main" noGrp="1"/>
          </p:cNvSpPr>
          <p:nvPr/>
        </p:nvSpPr>
        <p:spPr>
          <a:xfrm xmlns:a="http://schemas.openxmlformats.org/drawingml/2006/main">
            <a:off x="8096250" y="49815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10 building obstacles. Staggered clusters leave exits on both sides and routes between regions.</a:t>
            </a:r>
          </a:p>
        </p:txBody>
      </p:sp>
      <p:sp>
        <p:nvSpPr>
          <p:cNvPr id="15" name="">
            <a:extLst xmlns:a="http://schemas.openxmlformats.org/drawingml/2006/main">
              <a:ext uri="{FF2B5EF4-FFF2-40B4-BE49-F238E27FC236}">
                <a16:creationId xmlns:a16="http://schemas.microsoft.com/office/drawing/2014/main" id="{F94046FD-0A45-4DED-881F-1CDEF8F9E6D9}"/>
              </a:ext>
            </a:extLst>
          </p:cNvPr>
          <p:cNvSpPr>
            <a:spLocks xmlns:a="http://schemas.openxmlformats.org/drawingml/2006/main" noGrp="1"/>
          </p:cNvSpPr>
          <p:nvPr/>
        </p:nvSpPr>
        <p:spPr>
          <a:xfrm xmlns:a="http://schemas.openxmlformats.org/drawingml/2006/main">
            <a:off x="8096250" y="62960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03  OUTER SIEGE</a:t>
            </a:r>
          </a:p>
        </p:txBody>
      </p:sp>
      <p:sp>
        <p:nvSpPr>
          <p:cNvPr id="16" name="">
            <a:extLst xmlns:a="http://schemas.openxmlformats.org/drawingml/2006/main">
              <a:ext uri="{FF2B5EF4-FFF2-40B4-BE49-F238E27FC236}">
                <a16:creationId xmlns:a16="http://schemas.microsoft.com/office/drawing/2014/main" id="{78B09DE9-4CA1-4BD1-9BAE-6C9344A29AAD}"/>
              </a:ext>
            </a:extLst>
          </p:cNvPr>
          <p:cNvSpPr>
            <a:spLocks xmlns:a="http://schemas.openxmlformats.org/drawingml/2006/main" noGrp="1"/>
          </p:cNvSpPr>
          <p:nvPr/>
        </p:nvSpPr>
        <p:spPr>
          <a:xfrm xmlns:a="http://schemas.openxmlformats.org/drawingml/2006/main">
            <a:off x="8096250" y="67722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14 building obstacles. Three one-use repair supplies reward a risky return trip to the tower.</a:t>
            </a:r>
          </a:p>
        </p:txBody>
      </p:sp>
      <p:sp>
        <p:nvSpPr>
          <p:cNvPr id="17" name="">
            <a:extLst xmlns:a="http://schemas.openxmlformats.org/drawingml/2006/main">
              <a:ext uri="{FF2B5EF4-FFF2-40B4-BE49-F238E27FC236}">
                <a16:creationId xmlns:a16="http://schemas.microsoft.com/office/drawing/2014/main" id="{8DC22486-40EB-49CF-9670-034E06D5E8AF}"/>
              </a:ext>
            </a:extLst>
          </p:cNvPr>
          <p:cNvSpPr>
            <a:spLocks xmlns:a="http://schemas.openxmlformats.org/drawingml/2006/main" noGrp="1"/>
          </p:cNvSpPr>
          <p:nvPr/>
        </p:nvSpPr>
        <p:spPr>
          <a:xfrm xmlns:a="http://schemas.openxmlformats.org/drawingml/2006/main">
            <a:off x="8096250" y="8343900"/>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IMPLEMENTATION</a:t>
            </a:r>
          </a:p>
        </p:txBody>
      </p:sp>
      <p:sp>
        <p:nvSpPr>
          <p:cNvPr id="18" name="">
            <a:extLst xmlns:a="http://schemas.openxmlformats.org/drawingml/2006/main">
              <a:ext uri="{FF2B5EF4-FFF2-40B4-BE49-F238E27FC236}">
                <a16:creationId xmlns:a16="http://schemas.microsoft.com/office/drawing/2014/main" id="{35687F6C-5233-4763-A1F1-3FA44B4EEEE5}"/>
              </a:ext>
            </a:extLst>
          </p:cNvPr>
          <p:cNvSpPr>
            <a:spLocks xmlns:a="http://schemas.openxmlformats.org/drawingml/2006/main" noGrp="1"/>
          </p:cNvSpPr>
          <p:nvPr/>
        </p:nvSpPr>
        <p:spPr>
          <a:xfrm xmlns:a="http://schemas.openxmlformats.org/drawingml/2006/main">
            <a:off x="8096250" y="8829675"/>
            <a:ext cx="933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Ground-footprint colliders define the same obstacles used by navigation. The layout check covers 36 routes between the tower and the regions.</a:t>
            </a:r>
          </a:p>
        </p:txBody>
      </p:sp>
    </p:spTree>
    <p:extLst>
      <p:ext uri="{BB962C8B-B14F-4D97-AF65-F5344CB8AC3E}">
        <p14:creationId xmlns:p14="http://schemas.microsoft.com/office/powerpoint/2010/main" val="1111005149"/>
      </p:ext>
    </p:extLst>
  </p:cSld>
</p:sld>
</file>

<file path=ppt/slides/slide4.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553a7e7cf474e2b"/>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3E27B0-868B-4FCC-BA21-1385C322E80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7005A7-C89D-464F-A98A-B33D34D7A07B}"/>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783A00F4-A57B-41BA-A566-8F727AD5569E}"/>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04 / 06</a:t>
            </a:r>
          </a:p>
        </p:txBody>
      </p:sp>
      <p:sp>
        <p:nvSpPr>
          <p:cNvPr id="5" name="">
            <a:extLst xmlns:a="http://schemas.openxmlformats.org/drawingml/2006/main">
              <a:ext uri="{FF2B5EF4-FFF2-40B4-BE49-F238E27FC236}">
                <a16:creationId xmlns:a16="http://schemas.microsoft.com/office/drawing/2014/main" id="{6E496C6D-42EA-48D5-8DC7-9008CD621B39}"/>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Code implementation: enemy pursuit</a:t>
            </a:r>
          </a:p>
        </p:txBody>
      </p:sp>
      <p:sp>
        <p:nvSpPr>
          <p:cNvPr id="6" name="">
            <a:extLst xmlns:a="http://schemas.openxmlformats.org/drawingml/2006/main">
              <a:ext uri="{FF2B5EF4-FFF2-40B4-BE49-F238E27FC236}">
                <a16:creationId xmlns:a16="http://schemas.microsoft.com/office/drawing/2014/main" id="{086AC1E6-3B71-4025-9689-4D8E3E9A01E7}"/>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 visible player becomes the target. Breaking sight creates a short escape window.</a:t>
            </a:r>
          </a:p>
        </p:txBody>
      </p:sp>
      <p:sp>
        <p:nvSpPr>
          <p:cNvPr id="7" name="">
            <a:extLst xmlns:a="http://schemas.openxmlformats.org/drawingml/2006/main">
              <a:ext uri="{FF2B5EF4-FFF2-40B4-BE49-F238E27FC236}">
                <a16:creationId xmlns:a16="http://schemas.microsoft.com/office/drawing/2014/main" id="{C80FD233-2E8A-494A-BCA6-34A29F7C54B6}"/>
              </a:ext>
            </a:extLst>
          </p:cNvPr>
          <p:cNvSpPr>
            <a:spLocks xmlns:a="http://schemas.openxmlformats.org/drawingml/2006/main" noGrp="1"/>
          </p:cNvSpPr>
          <p:nvPr/>
        </p:nvSpPr>
        <p:spPr>
          <a:xfrm xmlns:a="http://schemas.openxmlformats.org/drawingml/2006/main">
            <a:off x="647700" y="25336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SOURCE EXCERPT</a:t>
            </a:r>
          </a:p>
        </p:txBody>
      </p:sp>
      <p:sp>
        <p:nvSpPr>
          <p:cNvPr id="8" name="">
            <a:extLst xmlns:a="http://schemas.openxmlformats.org/drawingml/2006/main">
              <a:ext uri="{FF2B5EF4-FFF2-40B4-BE49-F238E27FC236}">
                <a16:creationId xmlns:a16="http://schemas.microsoft.com/office/drawing/2014/main" id="{8D9746AE-6A41-4E46-840D-30C152FF2362}"/>
              </a:ext>
            </a:extLst>
          </p:cNvPr>
          <p:cNvSpPr>
            <a:spLocks xmlns:a="http://schemas.openxmlformats.org/drawingml/2006/main" noGrp="1"/>
          </p:cNvSpPr>
          <p:nvPr/>
        </p:nvSpPr>
        <p:spPr>
          <a:xfrm xmlns:a="http://schemas.openxmlformats.org/drawingml/2006/main">
            <a:off x="647700" y="3076575"/>
            <a:ext cx="10668000" cy="5581650"/>
          </a:xfrm>
          <a:prstGeom xmlns:a="http://schemas.openxmlformats.org/drawingml/2006/main" prst="rect">
            <a:avLst/>
          </a:prstGeom>
          <a:solidFill xmlns:a="http://schemas.openxmlformats.org/drawingml/2006/main">
            <a:srgbClr val="0B1D23"/>
          </a:solidFill>
          <a:ln xmlns:a="http://schemas.openxmlformats.org/drawingml/2006/main" w="9525">
            <a:solidFill>
              <a:srgbClr val="53676B"/>
            </a:solidFill>
          </a:ln>
        </p:spPr>
      </p:sp>
      <p:sp>
        <p:nvSpPr>
          <p:cNvPr id="9" name="">
            <a:extLst xmlns:a="http://schemas.openxmlformats.org/drawingml/2006/main">
              <a:ext uri="{FF2B5EF4-FFF2-40B4-BE49-F238E27FC236}">
                <a16:creationId xmlns:a16="http://schemas.microsoft.com/office/drawing/2014/main" id="{A6E68135-A785-445B-84BF-036AD7CFDA6C}"/>
              </a:ext>
            </a:extLst>
          </p:cNvPr>
          <p:cNvSpPr>
            <a:spLocks xmlns:a="http://schemas.openxmlformats.org/drawingml/2006/main" noGrp="1"/>
          </p:cNvSpPr>
          <p:nvPr/>
        </p:nvSpPr>
        <p:spPr>
          <a:xfrm xmlns:a="http://schemas.openxmlformats.org/drawingml/2006/main">
            <a:off x="914400" y="3333750"/>
            <a:ext cx="10134600" cy="512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if (playerInRange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_target = playerInRange;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_lastSeenPosition = playerInRange.position;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_lastSeenAt = Time.time;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return;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r>
              <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var playerHealth = MapController.Instance != null ? MapController.Instance.PlayerHealth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if (playerHealth != null &amp;&amp; playerHealth.CurrentHp &gt; 0 &amp;&amp; Time.time - _lastSeenAt &lt; 1.6f)</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_target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_searchingLastSeen = true;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return;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r>
              <a:t/>
            </a:r>
          </a:p>
        </p:txBody>
      </p:sp>
      <p:sp>
        <p:nvSpPr>
          <p:cNvPr id="10" name="">
            <a:extLst xmlns:a="http://schemas.openxmlformats.org/drawingml/2006/main">
              <a:ext uri="{FF2B5EF4-FFF2-40B4-BE49-F238E27FC236}">
                <a16:creationId xmlns:a16="http://schemas.microsoft.com/office/drawing/2014/main" id="{0BF2A5D2-BE1A-4096-88FD-F8F05164A368}"/>
              </a:ext>
            </a:extLst>
          </p:cNvPr>
          <p:cNvSpPr>
            <a:spLocks xmlns:a="http://schemas.openxmlformats.org/drawingml/2006/main" noGrp="1"/>
          </p:cNvSpPr>
          <p:nvPr/>
        </p:nvSpPr>
        <p:spPr>
          <a:xfrm xmlns:a="http://schemas.openxmlformats.org/drawingml/2006/main">
            <a:off x="647700" y="8924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EnemyAttackBehavior.cs / UpdateTarget()</a:t>
            </a:r>
          </a:p>
        </p:txBody>
      </p:sp>
      <p:sp>
        <p:nvSpPr>
          <p:cNvPr id="11" name="">
            <a:extLst xmlns:a="http://schemas.openxmlformats.org/drawingml/2006/main">
              <a:ext uri="{FF2B5EF4-FFF2-40B4-BE49-F238E27FC236}">
                <a16:creationId xmlns:a16="http://schemas.microsoft.com/office/drawing/2014/main" id="{1CB5A616-FC8A-4F78-9B26-53CCF45558A9}"/>
              </a:ext>
            </a:extLst>
          </p:cNvPr>
          <p:cNvSpPr>
            <a:spLocks xmlns:a="http://schemas.openxmlformats.org/drawingml/2006/main" noGrp="1"/>
          </p:cNvSpPr>
          <p:nvPr/>
        </p:nvSpPr>
        <p:spPr>
          <a:xfrm xmlns:a="http://schemas.openxmlformats.org/drawingml/2006/main">
            <a:off x="11963400" y="2667000"/>
            <a:ext cx="5676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PLAYER CONSEQUENCE</a:t>
            </a:r>
          </a:p>
        </p:txBody>
      </p:sp>
      <p:sp>
        <p:nvSpPr>
          <p:cNvPr id="12" name="">
            <a:extLst xmlns:a="http://schemas.openxmlformats.org/drawingml/2006/main">
              <a:ext uri="{FF2B5EF4-FFF2-40B4-BE49-F238E27FC236}">
                <a16:creationId xmlns:a16="http://schemas.microsoft.com/office/drawing/2014/main" id="{F9470D55-2CC4-47B0-B6BC-B868A5CC9BF7}"/>
              </a:ext>
            </a:extLst>
          </p:cNvPr>
          <p:cNvSpPr>
            <a:spLocks xmlns:a="http://schemas.openxmlformats.org/drawingml/2006/main" noGrp="1"/>
          </p:cNvSpPr>
          <p:nvPr/>
        </p:nvSpPr>
        <p:spPr>
          <a:xfrm xmlns:a="http://schemas.openxmlformats.org/drawingml/2006/main">
            <a:off x="11963400" y="3143250"/>
            <a:ext cx="56769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F4E9D2"/>
                </a:solidFill>
                <a:latin typeface="Georgia"/>
                <a:ea typeface="Georgia"/>
                <a:cs typeface="Georgia"/>
              </a:defRPr>
            </a:pPr>
            <a:r>
              <a:rPr sz="3375" b="0">
                <a:solidFill>
                  <a:srgbClr val="F4E9D2"/>
                </a:solidFill>
                <a:latin typeface="Georgia"/>
                <a:ea typeface="Georgia"/>
                <a:cs typeface="Georgia"/>
              </a:rPr>
              <a:t>Cover changes</a:t>
            </a:r>
          </a:p>
          <a:p xmlns:a="http://schemas.openxmlformats.org/drawingml/2006/main">
            <a:pPr>
              <a:defRPr sz="3375" b="0">
                <a:solidFill>
                  <a:srgbClr val="F4E9D2"/>
                </a:solidFill>
                <a:latin typeface="Georgia"/>
                <a:ea typeface="Georgia"/>
                <a:cs typeface="Georgia"/>
              </a:defRPr>
            </a:pPr>
            <a:r>
              <a:rPr sz="3375" b="0">
                <a:solidFill>
                  <a:srgbClr val="F4E9D2"/>
                </a:solidFill>
                <a:latin typeface="Georgia"/>
                <a:ea typeface="Georgia"/>
                <a:cs typeface="Georgia"/>
              </a:rPr>
              <a:t>the chase</a:t>
            </a:r>
          </a:p>
        </p:txBody>
      </p:sp>
      <p:sp>
        <p:nvSpPr>
          <p:cNvPr id="13" name="">
            <a:extLst xmlns:a="http://schemas.openxmlformats.org/drawingml/2006/main">
              <a:ext uri="{FF2B5EF4-FFF2-40B4-BE49-F238E27FC236}">
                <a16:creationId xmlns:a16="http://schemas.microsoft.com/office/drawing/2014/main" id="{FA1A9066-7C54-43D1-8130-AE08FB91A202}"/>
              </a:ext>
            </a:extLst>
          </p:cNvPr>
          <p:cNvSpPr>
            <a:spLocks xmlns:a="http://schemas.openxmlformats.org/drawingml/2006/main" noGrp="1"/>
          </p:cNvSpPr>
          <p:nvPr/>
        </p:nvSpPr>
        <p:spPr>
          <a:xfrm xmlns:a="http://schemas.openxmlformats.org/drawingml/2006/main">
            <a:off x="11963400" y="4714875"/>
            <a:ext cx="55435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Arial"/>
                <a:ea typeface="Arial"/>
                <a:cs typeface="Arial"/>
              </a:defRPr>
            </a:pPr>
            <a:r>
              <a:rPr sz="2325" b="0">
                <a:solidFill>
                  <a:srgbClr val="F4E9D2"/>
                </a:solidFill>
                <a:latin typeface="Arial"/>
                <a:ea typeface="Arial"/>
                <a:cs typeface="Arial"/>
              </a:rPr>
              <a:t>The enemy remembers a fixed last-seen position for 1.6 seconds, then returns to attacking the tower.</a:t>
            </a:r>
          </a:p>
        </p:txBody>
      </p:sp>
      <p:sp>
        <p:nvSpPr>
          <p:cNvPr id="14" name="">
            <a:extLst xmlns:a="http://schemas.openxmlformats.org/drawingml/2006/main">
              <a:ext uri="{FF2B5EF4-FFF2-40B4-BE49-F238E27FC236}">
                <a16:creationId xmlns:a16="http://schemas.microsoft.com/office/drawing/2014/main" id="{DF7D47CA-A946-41BC-9021-13AB8AFBDFA7}"/>
              </a:ext>
            </a:extLst>
          </p:cNvPr>
          <p:cNvSpPr>
            <a:spLocks xmlns:a="http://schemas.openxmlformats.org/drawingml/2006/main" noGrp="1"/>
          </p:cNvSpPr>
          <p:nvPr/>
        </p:nvSpPr>
        <p:spPr>
          <a:xfrm xmlns:a="http://schemas.openxmlformats.org/drawingml/2006/main">
            <a:off x="11963400" y="6943725"/>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VERIFICATION</a:t>
            </a:r>
          </a:p>
        </p:txBody>
      </p:sp>
      <p:sp>
        <p:nvSpPr>
          <p:cNvPr id="15" name="">
            <a:extLst xmlns:a="http://schemas.openxmlformats.org/drawingml/2006/main">
              <a:ext uri="{FF2B5EF4-FFF2-40B4-BE49-F238E27FC236}">
                <a16:creationId xmlns:a16="http://schemas.microsoft.com/office/drawing/2014/main" id="{1938EE38-869E-4ADF-99FE-2DD5911BD703}"/>
              </a:ext>
            </a:extLst>
          </p:cNvPr>
          <p:cNvSpPr>
            <a:spLocks xmlns:a="http://schemas.openxmlformats.org/drawingml/2006/main" noGrp="1"/>
          </p:cNvSpPr>
          <p:nvPr/>
        </p:nvSpPr>
        <p:spPr>
          <a:xfrm xmlns:a="http://schemas.openxmlformats.org/drawingml/2006/main">
            <a:off x="11963400" y="7448550"/>
            <a:ext cx="55721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Checked loss of sight, pause behavior, timeout and reacquiring the player.</a:t>
            </a:r>
          </a:p>
        </p:txBody>
      </p:sp>
      <p:sp>
        <p:nvSpPr>
          <p:cNvPr id="16" name="">
            <a:extLst xmlns:a="http://schemas.openxmlformats.org/drawingml/2006/main">
              <a:ext uri="{FF2B5EF4-FFF2-40B4-BE49-F238E27FC236}">
                <a16:creationId xmlns:a16="http://schemas.microsoft.com/office/drawing/2014/main" id="{534B586C-6E3A-4A83-BEEF-9AE693DFA79C}"/>
              </a:ext>
            </a:extLst>
          </p:cNvPr>
          <p:cNvSpPr>
            <a:spLocks xmlns:a="http://schemas.openxmlformats.org/drawingml/2006/main" noGrp="1"/>
          </p:cNvSpPr>
          <p:nvPr/>
        </p:nvSpPr>
        <p:spPr>
          <a:xfrm xmlns:a="http://schemas.openxmlformats.org/drawingml/2006/main">
            <a:off x="11963400" y="9058275"/>
            <a:ext cx="557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 nearby target must also pass a line-of-sight check.</a:t>
            </a:r>
          </a:p>
        </p:txBody>
      </p:sp>
    </p:spTree>
    <p:extLst>
      <p:ext uri="{BB962C8B-B14F-4D97-AF65-F5344CB8AC3E}">
        <p14:creationId xmlns:p14="http://schemas.microsoft.com/office/powerpoint/2010/main" val="302233351"/>
      </p:ext>
    </p:extLst>
  </p:cSld>
</p:sld>
</file>

<file path=ppt/slides/slide5.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dc945058af14174"/>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3B918B-D395-4835-A96E-E1AEFF615D7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398A63-C11B-4919-B171-008BEBB9489D}"/>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62D62A50-3C5F-425D-AE5B-3A9B9616629A}"/>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05 / 06</a:t>
            </a:r>
          </a:p>
        </p:txBody>
      </p:sp>
      <p:sp>
        <p:nvSpPr>
          <p:cNvPr id="5" name="">
            <a:extLst xmlns:a="http://schemas.openxmlformats.org/drawingml/2006/main">
              <a:ext uri="{FF2B5EF4-FFF2-40B4-BE49-F238E27FC236}">
                <a16:creationId xmlns:a16="http://schemas.microsoft.com/office/drawing/2014/main" id="{27914AE0-4061-4F59-88C5-C875D21B2DE4}"/>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Art integration &amp; development process</a:t>
            </a:r>
          </a:p>
        </p:txBody>
      </p:sp>
      <p:sp>
        <p:nvSpPr>
          <p:cNvPr id="6" name="">
            <a:extLst xmlns:a="http://schemas.openxmlformats.org/drawingml/2006/main">
              <a:ext uri="{FF2B5EF4-FFF2-40B4-BE49-F238E27FC236}">
                <a16:creationId xmlns:a16="http://schemas.microsoft.com/office/drawing/2014/main" id="{F81A6B4B-55F1-481E-B7D3-1DEA3BF1EA5E}"/>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The environment, pickups and tower progression share a weathered stone-and-metal palette.</a:t>
            </a:r>
          </a:p>
        </p:txBody>
      </p:sp>
      <p:sp>
        <p:nvSpPr>
          <p:cNvPr id="7" name="">
            <a:extLst xmlns:a="http://schemas.openxmlformats.org/drawingml/2006/main">
              <a:ext uri="{FF2B5EF4-FFF2-40B4-BE49-F238E27FC236}">
                <a16:creationId xmlns:a16="http://schemas.microsoft.com/office/drawing/2014/main" id="{1EF4A3A2-C9FA-4200-80DA-8CF20BFFF1F8}"/>
              </a:ext>
            </a:extLst>
          </p:cNvPr>
          <p:cNvSpPr>
            <a:spLocks xmlns:a="http://schemas.openxmlformats.org/drawingml/2006/main" noGrp="1"/>
          </p:cNvSpPr>
          <p:nvPr/>
        </p:nvSpPr>
        <p:spPr>
          <a:xfrm xmlns:a="http://schemas.openxmlformats.org/drawingml/2006/main">
            <a:off x="647700" y="25146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TOWER PROGRESSION</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145262563044411"/>
          <a:stretch xmlns:a="http://schemas.openxmlformats.org/drawingml/2006/main"/>
        </p:blipFill>
        <p:spPr>
          <a:xfrm xmlns:a="http://schemas.openxmlformats.org/drawingml/2006/main">
            <a:off x="895136" y="3705225"/>
            <a:ext cx="2000679" cy="2714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2ADE181-CBB1-44E6-8ED0-19FCA7BD743D}"/>
              </a:ext>
            </a:extLst>
          </p:cNvPr>
          <p:cNvSpPr>
            <a:spLocks xmlns:a="http://schemas.openxmlformats.org/drawingml/2006/main" noGrp="1"/>
          </p:cNvSpPr>
          <p:nvPr/>
        </p:nvSpPr>
        <p:spPr>
          <a:xfrm xmlns:a="http://schemas.openxmlformats.org/drawingml/2006/main">
            <a:off x="742950" y="6657975"/>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0</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9ededfcf5b54fb3"/>
          <a:stretch xmlns:a="http://schemas.openxmlformats.org/drawingml/2006/main"/>
        </p:blipFill>
        <p:spPr>
          <a:xfrm xmlns:a="http://schemas.openxmlformats.org/drawingml/2006/main">
            <a:off x="3396620" y="3362325"/>
            <a:ext cx="2198360" cy="30575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699C71C-3820-4E06-BF60-ED4DFCEB1D22}"/>
              </a:ext>
            </a:extLst>
          </p:cNvPr>
          <p:cNvSpPr>
            <a:spLocks xmlns:a="http://schemas.openxmlformats.org/drawingml/2006/main" noGrp="1"/>
          </p:cNvSpPr>
          <p:nvPr/>
        </p:nvSpPr>
        <p:spPr>
          <a:xfrm xmlns:a="http://schemas.openxmlformats.org/drawingml/2006/main">
            <a:off x="3343275" y="6657975"/>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1</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b515fda46ec848b9"/>
          <a:stretch xmlns:a="http://schemas.openxmlformats.org/drawingml/2006/main"/>
        </p:blipFill>
        <p:spPr>
          <a:xfrm xmlns:a="http://schemas.openxmlformats.org/drawingml/2006/main">
            <a:off x="5943600" y="3091777"/>
            <a:ext cx="2305050" cy="325572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D081961-C1B2-47F2-AAAB-AAFE9F1DBE54}"/>
              </a:ext>
            </a:extLst>
          </p:cNvPr>
          <p:cNvSpPr>
            <a:spLocks xmlns:a="http://schemas.openxmlformats.org/drawingml/2006/main" noGrp="1"/>
          </p:cNvSpPr>
          <p:nvPr/>
        </p:nvSpPr>
        <p:spPr>
          <a:xfrm xmlns:a="http://schemas.openxmlformats.org/drawingml/2006/main">
            <a:off x="5943600" y="6657975"/>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2</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e9c2309d9f814465"/>
          <a:stretch xmlns:a="http://schemas.openxmlformats.org/drawingml/2006/main"/>
        </p:blipFill>
        <p:spPr>
          <a:xfrm xmlns:a="http://schemas.openxmlformats.org/drawingml/2006/main">
            <a:off x="8543925" y="3035688"/>
            <a:ext cx="2305050" cy="3025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91FC8E4-1C86-48C7-A33E-26196E38E006}"/>
              </a:ext>
            </a:extLst>
          </p:cNvPr>
          <p:cNvSpPr>
            <a:spLocks xmlns:a="http://schemas.openxmlformats.org/drawingml/2006/main" noGrp="1"/>
          </p:cNvSpPr>
          <p:nvPr/>
        </p:nvSpPr>
        <p:spPr>
          <a:xfrm xmlns:a="http://schemas.openxmlformats.org/drawingml/2006/main">
            <a:off x="8543925" y="6657975"/>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3</a:t>
            </a:r>
          </a:p>
        </p:txBody>
      </p:sp>
      <p:sp>
        <p:nvSpPr>
          <p:cNvPr id="16" name="">
            <a:extLst xmlns:a="http://schemas.openxmlformats.org/drawingml/2006/main">
              <a:ext uri="{FF2B5EF4-FFF2-40B4-BE49-F238E27FC236}">
                <a16:creationId xmlns:a16="http://schemas.microsoft.com/office/drawing/2014/main" id="{F7654F71-B276-4757-A903-1EE3D646C0B2}"/>
              </a:ext>
            </a:extLst>
          </p:cNvPr>
          <p:cNvSpPr>
            <a:spLocks xmlns:a="http://schemas.openxmlformats.org/drawingml/2006/main" noGrp="1"/>
          </p:cNvSpPr>
          <p:nvPr/>
        </p:nvSpPr>
        <p:spPr>
          <a:xfrm xmlns:a="http://schemas.openxmlformats.org/drawingml/2006/main">
            <a:off x="647700" y="77628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RESOURCE READABILITY</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d07e44fafd7442cb"/>
          <a:stretch xmlns:a="http://schemas.openxmlformats.org/drawingml/2006/main"/>
        </p:blipFill>
        <p:spPr>
          <a:xfrm xmlns:a="http://schemas.openxmlformats.org/drawingml/2006/main">
            <a:off x="745741" y="8315325"/>
            <a:ext cx="1137418" cy="11430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8CF7C2D2-A900-409A-AD31-E73D4F7F434B}"/>
              </a:ext>
            </a:extLst>
          </p:cNvPr>
          <p:cNvSpPr>
            <a:spLocks xmlns:a="http://schemas.openxmlformats.org/drawingml/2006/main" noGrp="1"/>
          </p:cNvSpPr>
          <p:nvPr/>
        </p:nvSpPr>
        <p:spPr>
          <a:xfrm xmlns:a="http://schemas.openxmlformats.org/drawingml/2006/main">
            <a:off x="2133600" y="8696325"/>
            <a:ext cx="1752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Georgia"/>
                <a:ea typeface="Georgia"/>
                <a:cs typeface="Georgia"/>
              </a:defRPr>
            </a:pPr>
            <a:r>
              <a:rPr sz="2250" b="0">
                <a:solidFill>
                  <a:srgbClr val="F4E9D2"/>
                </a:solidFill>
                <a:latin typeface="Georgia"/>
                <a:ea typeface="Georgia"/>
                <a:cs typeface="Georgia"/>
              </a:rPr>
              <a:t>Stone</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629d2d738824384"/>
          <a:stretch xmlns:a="http://schemas.openxmlformats.org/drawingml/2006/main"/>
        </p:blipFill>
        <p:spPr>
          <a:xfrm xmlns:a="http://schemas.openxmlformats.org/drawingml/2006/main">
            <a:off x="4029075" y="8446425"/>
            <a:ext cx="1143000" cy="880801"/>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6D43DD81-EA90-42E5-8EF1-16FDE29474DD}"/>
              </a:ext>
            </a:extLst>
          </p:cNvPr>
          <p:cNvSpPr>
            <a:spLocks xmlns:a="http://schemas.openxmlformats.org/drawingml/2006/main" noGrp="1"/>
          </p:cNvSpPr>
          <p:nvPr/>
        </p:nvSpPr>
        <p:spPr>
          <a:xfrm xmlns:a="http://schemas.openxmlformats.org/drawingml/2006/main">
            <a:off x="5419725" y="8696325"/>
            <a:ext cx="1752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Georgia"/>
                <a:ea typeface="Georgia"/>
                <a:cs typeface="Georgia"/>
              </a:defRPr>
            </a:pPr>
            <a:r>
              <a:rPr sz="2250" b="0">
                <a:solidFill>
                  <a:srgbClr val="F4E9D2"/>
                </a:solidFill>
                <a:latin typeface="Georgia"/>
                <a:ea typeface="Georgia"/>
                <a:cs typeface="Georgia"/>
              </a:rPr>
              <a:t>Gel</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ebda679fd17d4d5c"/>
          <a:stretch xmlns:a="http://schemas.openxmlformats.org/drawingml/2006/main"/>
        </p:blipFill>
        <p:spPr>
          <a:xfrm xmlns:a="http://schemas.openxmlformats.org/drawingml/2006/main">
            <a:off x="7315200" y="8341501"/>
            <a:ext cx="1143000" cy="1090649"/>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4B4C36D8-988C-4B0F-B819-CC017D166D7A}"/>
              </a:ext>
            </a:extLst>
          </p:cNvPr>
          <p:cNvSpPr>
            <a:spLocks xmlns:a="http://schemas.openxmlformats.org/drawingml/2006/main" noGrp="1"/>
          </p:cNvSpPr>
          <p:nvPr/>
        </p:nvSpPr>
        <p:spPr>
          <a:xfrm xmlns:a="http://schemas.openxmlformats.org/drawingml/2006/main">
            <a:off x="8705850" y="8696325"/>
            <a:ext cx="1752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Georgia"/>
                <a:ea typeface="Georgia"/>
                <a:cs typeface="Georgia"/>
              </a:defRPr>
            </a:pPr>
            <a:r>
              <a:rPr sz="2250" b="0">
                <a:solidFill>
                  <a:srgbClr val="F4E9D2"/>
                </a:solidFill>
                <a:latin typeface="Georgia"/>
                <a:ea typeface="Georgia"/>
                <a:cs typeface="Georgia"/>
              </a:rPr>
              <a:t>Teeth</a:t>
            </a:r>
          </a:p>
        </p:txBody>
      </p:sp>
      <p:sp>
        <p:nvSpPr>
          <p:cNvPr id="23" name="">
            <a:extLst xmlns:a="http://schemas.openxmlformats.org/drawingml/2006/main">
              <a:ext uri="{FF2B5EF4-FFF2-40B4-BE49-F238E27FC236}">
                <a16:creationId xmlns:a16="http://schemas.microsoft.com/office/drawing/2014/main" id="{C28A5727-E185-4FAD-911F-6D154C1F2B08}"/>
              </a:ext>
            </a:extLst>
          </p:cNvPr>
          <p:cNvSpPr>
            <a:spLocks xmlns:a="http://schemas.openxmlformats.org/drawingml/2006/main" noGrp="1"/>
          </p:cNvSpPr>
          <p:nvPr/>
        </p:nvSpPr>
        <p:spPr>
          <a:xfrm xmlns:a="http://schemas.openxmlformats.org/drawingml/2006/main">
            <a:off x="11963400" y="2514600"/>
            <a:ext cx="557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DEVELOPMENT PROCESS</a:t>
            </a:r>
          </a:p>
        </p:txBody>
      </p:sp>
      <p:sp>
        <p:nvSpPr>
          <p:cNvPr id="24" name="">
            <a:extLst xmlns:a="http://schemas.openxmlformats.org/drawingml/2006/main">
              <a:ext uri="{FF2B5EF4-FFF2-40B4-BE49-F238E27FC236}">
                <a16:creationId xmlns:a16="http://schemas.microsoft.com/office/drawing/2014/main" id="{46B3C2BD-1CFD-46E4-97D0-60E093D6ED8C}"/>
              </a:ext>
            </a:extLst>
          </p:cNvPr>
          <p:cNvSpPr>
            <a:spLocks xmlns:a="http://schemas.openxmlformats.org/drawingml/2006/main" noGrp="1"/>
          </p:cNvSpPr>
          <p:nvPr/>
        </p:nvSpPr>
        <p:spPr>
          <a:xfrm xmlns:a="http://schemas.openxmlformats.org/drawingml/2006/main">
            <a:off x="11963400" y="304800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01  Prototype</a:t>
            </a:r>
          </a:p>
        </p:txBody>
      </p:sp>
      <p:sp>
        <p:nvSpPr>
          <p:cNvPr id="25" name="">
            <a:extLst xmlns:a="http://schemas.openxmlformats.org/drawingml/2006/main">
              <a:ext uri="{FF2B5EF4-FFF2-40B4-BE49-F238E27FC236}">
                <a16:creationId xmlns:a16="http://schemas.microsoft.com/office/drawing/2014/main" id="{4AE3728C-DB12-4F9F-8DC9-15A930BD1ADC}"/>
              </a:ext>
            </a:extLst>
          </p:cNvPr>
          <p:cNvSpPr>
            <a:spLocks xmlns:a="http://schemas.openxmlformats.org/drawingml/2006/main" noGrp="1"/>
          </p:cNvSpPr>
          <p:nvPr/>
        </p:nvSpPr>
        <p:spPr>
          <a:xfrm xmlns:a="http://schemas.openxmlformats.org/drawingml/2006/main">
            <a:off x="11963400" y="372427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Movement, resources, tower upgrades and authored enemy waves.</a:t>
            </a:r>
          </a:p>
        </p:txBody>
      </p:sp>
      <p:sp>
        <p:nvSpPr>
          <p:cNvPr id="26" name="">
            <a:extLst xmlns:a="http://schemas.openxmlformats.org/drawingml/2006/main">
              <a:ext uri="{FF2B5EF4-FFF2-40B4-BE49-F238E27FC236}">
                <a16:creationId xmlns:a16="http://schemas.microsoft.com/office/drawing/2014/main" id="{903E5CF6-BEB0-442F-8A8A-E158066CBCFA}"/>
              </a:ext>
            </a:extLst>
          </p:cNvPr>
          <p:cNvSpPr>
            <a:spLocks xmlns:a="http://schemas.openxmlformats.org/drawingml/2006/main" noGrp="1"/>
          </p:cNvSpPr>
          <p:nvPr/>
        </p:nvSpPr>
        <p:spPr>
          <a:xfrm xmlns:a="http://schemas.openxmlformats.org/drawingml/2006/main">
            <a:off x="11963400" y="516255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02  Integrate</a:t>
            </a:r>
          </a:p>
        </p:txBody>
      </p:sp>
      <p:sp>
        <p:nvSpPr>
          <p:cNvPr id="27" name="">
            <a:extLst xmlns:a="http://schemas.openxmlformats.org/drawingml/2006/main">
              <a:ext uri="{FF2B5EF4-FFF2-40B4-BE49-F238E27FC236}">
                <a16:creationId xmlns:a16="http://schemas.microsoft.com/office/drawing/2014/main" id="{E495380C-6FA0-4886-B81B-CC89E14C17FA}"/>
              </a:ext>
            </a:extLst>
          </p:cNvPr>
          <p:cNvSpPr>
            <a:spLocks xmlns:a="http://schemas.openxmlformats.org/drawingml/2006/main" noGrp="1"/>
          </p:cNvSpPr>
          <p:nvPr/>
        </p:nvSpPr>
        <p:spPr>
          <a:xfrm xmlns:a="http://schemas.openxmlformats.org/drawingml/2006/main">
            <a:off x="11963400" y="583882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Import transparent sprites. Align tower pivots and keep pixel filtering consistent.</a:t>
            </a:r>
          </a:p>
        </p:txBody>
      </p:sp>
      <p:sp>
        <p:nvSpPr>
          <p:cNvPr id="28" name="">
            <a:extLst xmlns:a="http://schemas.openxmlformats.org/drawingml/2006/main">
              <a:ext uri="{FF2B5EF4-FFF2-40B4-BE49-F238E27FC236}">
                <a16:creationId xmlns:a16="http://schemas.microsoft.com/office/drawing/2014/main" id="{1D75034E-12DF-4378-9010-CB3C2C6F1A3A}"/>
              </a:ext>
            </a:extLst>
          </p:cNvPr>
          <p:cNvSpPr>
            <a:spLocks xmlns:a="http://schemas.openxmlformats.org/drawingml/2006/main" noGrp="1"/>
          </p:cNvSpPr>
          <p:nvPr/>
        </p:nvSpPr>
        <p:spPr>
          <a:xfrm xmlns:a="http://schemas.openxmlformats.org/drawingml/2006/main">
            <a:off x="11963400" y="727710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03  Refine</a:t>
            </a:r>
          </a:p>
        </p:txBody>
      </p:sp>
      <p:sp>
        <p:nvSpPr>
          <p:cNvPr id="29" name="">
            <a:extLst xmlns:a="http://schemas.openxmlformats.org/drawingml/2006/main">
              <a:ext uri="{FF2B5EF4-FFF2-40B4-BE49-F238E27FC236}">
                <a16:creationId xmlns:a16="http://schemas.microsoft.com/office/drawing/2014/main" id="{56982C63-EAA9-4D68-80F3-724E9D437EBA}"/>
              </a:ext>
            </a:extLst>
          </p:cNvPr>
          <p:cNvSpPr>
            <a:spLocks xmlns:a="http://schemas.openxmlformats.org/drawingml/2006/main" noGrp="1"/>
          </p:cNvSpPr>
          <p:nvPr/>
        </p:nvSpPr>
        <p:spPr>
          <a:xfrm xmlns:a="http://schemas.openxmlformats.org/drawingml/2006/main">
            <a:off x="11963400" y="795337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Tune navigation, warning effects, bilingual UI and the full game loop.</a:t>
            </a:r>
          </a:p>
        </p:txBody>
      </p:sp>
    </p:spTree>
    <p:extLst>
      <p:ext uri="{BB962C8B-B14F-4D97-AF65-F5344CB8AC3E}">
        <p14:creationId xmlns:p14="http://schemas.microsoft.com/office/powerpoint/2010/main" val="1829792889"/>
      </p:ext>
    </p:extLst>
  </p:cSld>
</p:sld>
</file>

<file path=ppt/slides/slide6.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e0e48a93289458d"/>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46A5AC-DC89-4F99-944B-B72265E89A7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E6E870-25DD-4619-A010-E9378BD17657}"/>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BC9FCA99-08F0-4740-8D5F-42DC50CDFCB9}"/>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06 / 06</a:t>
            </a:r>
          </a:p>
        </p:txBody>
      </p:sp>
      <p:sp>
        <p:nvSpPr>
          <p:cNvPr id="5" name="">
            <a:extLst xmlns:a="http://schemas.openxmlformats.org/drawingml/2006/main">
              <a:ext uri="{FF2B5EF4-FFF2-40B4-BE49-F238E27FC236}">
                <a16:creationId xmlns:a16="http://schemas.microsoft.com/office/drawing/2014/main" id="{34CE65C9-A71D-44E6-B3CC-B830F29A1A54}"/>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Final experience &amp; project presentation</a:t>
            </a:r>
          </a:p>
        </p:txBody>
      </p:sp>
      <p:sp>
        <p:nvSpPr>
          <p:cNvPr id="6" name="">
            <a:extLst xmlns:a="http://schemas.openxmlformats.org/drawingml/2006/main">
              <a:ext uri="{FF2B5EF4-FFF2-40B4-BE49-F238E27FC236}">
                <a16:creationId xmlns:a16="http://schemas.microsoft.com/office/drawing/2014/main" id="{36901C7E-8293-4345-BB85-A67F90191264}"/>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 complete playable loop, with English and Chinese interface settings.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692653519444654"/>
          <a:stretch xmlns:a="http://schemas.openxmlformats.org/drawingml/2006/main"/>
        </p:blipFill>
        <p:spPr>
          <a:xfrm xmlns:a="http://schemas.openxmlformats.org/drawingml/2006/main">
            <a:off x="647700" y="2509166"/>
            <a:ext cx="5410200" cy="283979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DD6E386-7924-4FC8-AF4D-7EC7AAB61622}"/>
              </a:ext>
            </a:extLst>
          </p:cNvPr>
          <p:cNvSpPr>
            <a:spLocks xmlns:a="http://schemas.openxmlformats.org/drawingml/2006/main" noGrp="1"/>
          </p:cNvSpPr>
          <p:nvPr/>
        </p:nvSpPr>
        <p:spPr>
          <a:xfrm xmlns:a="http://schemas.openxmlformats.org/drawingml/2006/main">
            <a:off x="64770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Main menu</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27d3dda6a954aed"/>
          <a:stretch xmlns:a="http://schemas.openxmlformats.org/drawingml/2006/main"/>
        </p:blipFill>
        <p:spPr>
          <a:xfrm xmlns:a="http://schemas.openxmlformats.org/drawingml/2006/main">
            <a:off x="6419850" y="2509166"/>
            <a:ext cx="5410200" cy="2839794"/>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0205CAB-BB1A-429C-8E52-99FADC009D8B}"/>
              </a:ext>
            </a:extLst>
          </p:cNvPr>
          <p:cNvSpPr>
            <a:spLocks xmlns:a="http://schemas.openxmlformats.org/drawingml/2006/main" noGrp="1"/>
          </p:cNvSpPr>
          <p:nvPr/>
        </p:nvSpPr>
        <p:spPr>
          <a:xfrm xmlns:a="http://schemas.openxmlformats.org/drawingml/2006/main">
            <a:off x="641985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feedback</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1976bf2c1d94f0d"/>
          <a:stretch xmlns:a="http://schemas.openxmlformats.org/drawingml/2006/main"/>
        </p:blipFill>
        <p:spPr>
          <a:xfrm xmlns:a="http://schemas.openxmlformats.org/drawingml/2006/main">
            <a:off x="12192000" y="2509166"/>
            <a:ext cx="5410200" cy="2839794"/>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96F2A61-6EA1-47BE-81FC-42B99812B045}"/>
              </a:ext>
            </a:extLst>
          </p:cNvPr>
          <p:cNvSpPr>
            <a:spLocks xmlns:a="http://schemas.openxmlformats.org/drawingml/2006/main" noGrp="1"/>
          </p:cNvSpPr>
          <p:nvPr/>
        </p:nvSpPr>
        <p:spPr>
          <a:xfrm xmlns:a="http://schemas.openxmlformats.org/drawingml/2006/main">
            <a:off x="1219200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Outer-region exploration</a:t>
            </a:r>
          </a:p>
        </p:txBody>
      </p:sp>
      <p:sp>
        <p:nvSpPr>
          <p:cNvPr id="13" name="">
            <a:extLst xmlns:a="http://schemas.openxmlformats.org/drawingml/2006/main">
              <a:ext uri="{FF2B5EF4-FFF2-40B4-BE49-F238E27FC236}">
                <a16:creationId xmlns:a16="http://schemas.microsoft.com/office/drawing/2014/main" id="{883AD46A-6FA5-4A8F-B1EB-17C4EAFB932A}"/>
              </a:ext>
            </a:extLst>
          </p:cNvPr>
          <p:cNvSpPr>
            <a:spLocks xmlns:a="http://schemas.openxmlformats.org/drawingml/2006/main" noGrp="1"/>
          </p:cNvSpPr>
          <p:nvPr/>
        </p:nvSpPr>
        <p:spPr>
          <a:xfrm xmlns:a="http://schemas.openxmlformats.org/drawingml/2006/main">
            <a:off x="647700" y="6419850"/>
            <a:ext cx="10239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PROMOTIONAL VIDEO / 1–2 MIN</a:t>
            </a:r>
          </a:p>
        </p:txBody>
      </p:sp>
      <p:sp>
        <p:nvSpPr>
          <p:cNvPr id="14" name="">
            <a:extLst xmlns:a="http://schemas.openxmlformats.org/drawingml/2006/main">
              <a:ext uri="{FF2B5EF4-FFF2-40B4-BE49-F238E27FC236}">
                <a16:creationId xmlns:a16="http://schemas.microsoft.com/office/drawing/2014/main" id="{525D8402-5C20-4491-AC5D-86489226D973}"/>
              </a:ext>
            </a:extLst>
          </p:cNvPr>
          <p:cNvSpPr>
            <a:spLocks xmlns:a="http://schemas.openxmlformats.org/drawingml/2006/main" noGrp="1"/>
          </p:cNvSpPr>
          <p:nvPr/>
        </p:nvSpPr>
        <p:spPr>
          <a:xfrm xmlns:a="http://schemas.openxmlformats.org/drawingml/2006/main">
            <a:off x="647700" y="6924675"/>
            <a:ext cx="10001250" cy="264795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5" name="">
            <a:extLst xmlns:a="http://schemas.openxmlformats.org/drawingml/2006/main">
              <a:ext uri="{FF2B5EF4-FFF2-40B4-BE49-F238E27FC236}">
                <a16:creationId xmlns:a16="http://schemas.microsoft.com/office/drawing/2014/main" id="{B542F2CD-F83B-4DA1-B663-9E1B62E7AD4E}"/>
              </a:ext>
            </a:extLst>
          </p:cNvPr>
          <p:cNvSpPr>
            <a:spLocks xmlns:a="http://schemas.openxmlformats.org/drawingml/2006/main" noGrp="1"/>
          </p:cNvSpPr>
          <p:nvPr/>
        </p:nvSpPr>
        <p:spPr>
          <a:xfrm xmlns:a="http://schemas.openxmlformats.org/drawingml/2006/main">
            <a:off x="4629150" y="7991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Video slot</a:t>
            </a:r>
          </a:p>
        </p:txBody>
      </p:sp>
      <p:sp>
        <p:nvSpPr>
          <p:cNvPr id="16" name="">
            <a:extLst xmlns:a="http://schemas.openxmlformats.org/drawingml/2006/main">
              <a:ext uri="{FF2B5EF4-FFF2-40B4-BE49-F238E27FC236}">
                <a16:creationId xmlns:a16="http://schemas.microsoft.com/office/drawing/2014/main" id="{8C610980-82E4-4143-BD3B-3E406DEF933A}"/>
              </a:ext>
            </a:extLst>
          </p:cNvPr>
          <p:cNvSpPr>
            <a:spLocks xmlns:a="http://schemas.openxmlformats.org/drawingml/2006/main" noGrp="1"/>
          </p:cNvSpPr>
          <p:nvPr/>
        </p:nvSpPr>
        <p:spPr>
          <a:xfrm xmlns:a="http://schemas.openxmlformats.org/drawingml/2006/main">
            <a:off x="11144250" y="6419850"/>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PLAYER PLAYTEST</a:t>
            </a:r>
          </a:p>
        </p:txBody>
      </p:sp>
      <p:sp>
        <p:nvSpPr>
          <p:cNvPr id="17" name="">
            <a:extLst xmlns:a="http://schemas.openxmlformats.org/drawingml/2006/main">
              <a:ext uri="{FF2B5EF4-FFF2-40B4-BE49-F238E27FC236}">
                <a16:creationId xmlns:a16="http://schemas.microsoft.com/office/drawing/2014/main" id="{934B7C0A-BA3F-4E16-8819-EFAEF1454E37}"/>
              </a:ext>
            </a:extLst>
          </p:cNvPr>
          <p:cNvSpPr>
            <a:spLocks xmlns:a="http://schemas.openxmlformats.org/drawingml/2006/main" noGrp="1"/>
          </p:cNvSpPr>
          <p:nvPr/>
        </p:nvSpPr>
        <p:spPr>
          <a:xfrm xmlns:a="http://schemas.openxmlformats.org/drawingml/2006/main">
            <a:off x="11144250" y="6924675"/>
            <a:ext cx="6496050" cy="1628775"/>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8" name="">
            <a:extLst xmlns:a="http://schemas.openxmlformats.org/drawingml/2006/main">
              <a:ext uri="{FF2B5EF4-FFF2-40B4-BE49-F238E27FC236}">
                <a16:creationId xmlns:a16="http://schemas.microsoft.com/office/drawing/2014/main" id="{BF8783F5-3A8B-45A1-BE81-7AC314BDAAEF}"/>
              </a:ext>
            </a:extLst>
          </p:cNvPr>
          <p:cNvSpPr>
            <a:spLocks xmlns:a="http://schemas.openxmlformats.org/drawingml/2006/main" noGrp="1"/>
          </p:cNvSpPr>
          <p:nvPr/>
        </p:nvSpPr>
        <p:spPr>
          <a:xfrm xmlns:a="http://schemas.openxmlformats.org/drawingml/2006/main">
            <a:off x="11144250" y="8915400"/>
            <a:ext cx="290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THE ROOKIES</a:t>
            </a:r>
          </a:p>
        </p:txBody>
      </p:sp>
      <p:sp>
        <p:nvSpPr>
          <p:cNvPr id="19" name="">
            <a:extLst xmlns:a="http://schemas.openxmlformats.org/drawingml/2006/main">
              <a:ext uri="{FF2B5EF4-FFF2-40B4-BE49-F238E27FC236}">
                <a16:creationId xmlns:a16="http://schemas.microsoft.com/office/drawing/2014/main" id="{04D0F364-034D-4471-8504-9D1BAA74F553}"/>
              </a:ext>
            </a:extLst>
          </p:cNvPr>
          <p:cNvSpPr>
            <a:spLocks xmlns:a="http://schemas.openxmlformats.org/drawingml/2006/main" noGrp="1"/>
          </p:cNvSpPr>
          <p:nvPr/>
        </p:nvSpPr>
        <p:spPr>
          <a:xfrm xmlns:a="http://schemas.openxmlformats.org/drawingml/2006/main">
            <a:off x="14192250" y="8915400"/>
            <a:ext cx="3448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Project page pending</a:t>
            </a:r>
          </a:p>
        </p:txBody>
      </p:sp>
    </p:spTree>
    <p:extLst>
      <p:ext uri="{BB962C8B-B14F-4D97-AF65-F5344CB8AC3E}">
        <p14:creationId xmlns:p14="http://schemas.microsoft.com/office/powerpoint/2010/main" val="1639094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2026-09-20T14:17:53.7420000Z</dcterms:created>
  <dcterms:modified xsi:type="dcterms:W3CDTF">2026-09-20T14:17:53.7430000Z</dcterms:modified>
</coreProperties>
</file>
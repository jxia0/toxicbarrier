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56118da04f47af" /><Relationship Type="http://schemas.openxmlformats.org/officeDocument/2006/relationships/extended-properties" Target="/docProps/app.xml" Id="R923514437c2e4c4c" /><Relationship Type="http://schemas.openxmlformats.org/officeDocument/2006/relationships/officeDocument" Target="/ppt/presentation.xml" Id="R9aaa66b699ef4f70" /></Relationships>
</file>

<file path=ppt/presentation.xml><?xml version="1.0" encoding="utf-8"?>
<p:presentation xmlns:p="http://schemas.openxmlformats.org/presentationml/2006/main">
  <p:sldMasterIdLst>
    <p:sldMasterId xmlns:r="http://schemas.openxmlformats.org/officeDocument/2006/relationships" id="2147483648" r:id="Rda25af4dddf840c3"/>
  </p:sldMasterIdLst>
  <p:notesMasterIdLst>
    <p:notesMasterId xmlns:r="http://schemas.openxmlformats.org/officeDocument/2006/relationships" r:id="R44bc276027324f33"/>
  </p:notesMasterIdLst>
  <p:sldIdLst>
    <p:sldId xmlns:r="http://schemas.openxmlformats.org/officeDocument/2006/relationships" id="256" r:id="Rfc9a66d62f294832"/>
    <p:sldId xmlns:r="http://schemas.openxmlformats.org/officeDocument/2006/relationships" id="257" r:id="R78f16f40c5494451"/>
    <p:sldId xmlns:r="http://schemas.openxmlformats.org/officeDocument/2006/relationships" id="258" r:id="Ra35899ee3dca44da"/>
    <p:sldId xmlns:r="http://schemas.openxmlformats.org/officeDocument/2006/relationships" id="259" r:id="R27324c9df2bc4369"/>
    <p:sldId xmlns:r="http://schemas.openxmlformats.org/officeDocument/2006/relationships" id="260" r:id="R30db3a183bdf4195"/>
    <p:sldId xmlns:r="http://schemas.openxmlformats.org/officeDocument/2006/relationships" id="261" r:id="Rc264df4be0de4089"/>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37f098ed2474703" /><Relationship Type="http://schemas.openxmlformats.org/officeDocument/2006/relationships/slideMaster" Target="/ppt/slideMasters/slideMaster1.xml" Id="Rda25af4dddf840c3" /><Relationship Type="http://schemas.openxmlformats.org/officeDocument/2006/relationships/notesMaster" Target="/ppt/notesMasters/notesMaster1.xml" Id="R44bc276027324f33" /><Relationship Type="http://schemas.openxmlformats.org/officeDocument/2006/relationships/presProps" Target="/ppt/presProps.xml" Id="Ra96bd8c7083f4833" /><Relationship Type="http://schemas.openxmlformats.org/officeDocument/2006/relationships/tableStyles" Target="/ppt/tableStyles.xml" Id="R35fd9147ec44418d" /><Relationship Type="http://schemas.openxmlformats.org/officeDocument/2006/relationships/slide" Target="/ppt/slides/slide1.xml" Id="Rfc9a66d62f294832" /><Relationship Type="http://schemas.openxmlformats.org/officeDocument/2006/relationships/slide" Target="/ppt/slides/slide2.xml" Id="R78f16f40c5494451" /><Relationship Type="http://schemas.openxmlformats.org/officeDocument/2006/relationships/slide" Target="/ppt/slides/slide3.xml" Id="Ra35899ee3dca44da" /><Relationship Type="http://schemas.openxmlformats.org/officeDocument/2006/relationships/slide" Target="/ppt/slides/slide4.xml" Id="R27324c9df2bc4369" /><Relationship Type="http://schemas.openxmlformats.org/officeDocument/2006/relationships/slide" Target="/ppt/slides/slide5.xml" Id="R30db3a183bdf4195" /><Relationship Type="http://schemas.openxmlformats.org/officeDocument/2006/relationships/slide" Target="/ppt/slides/slide6.xml" Id="Rc264df4be0de40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404c654bcd4b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d89e04b1524056" /><Relationship Type="http://schemas.openxmlformats.org/officeDocument/2006/relationships/notesMaster" Target="/ppt/notesMasters/notesMaster1.xml" Id="Rdcf3e228ff9746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c905f3bd9b4fd0" /><Relationship Type="http://schemas.openxmlformats.org/officeDocument/2006/relationships/notesMaster" Target="/ppt/notesMasters/notesMaster1.xml" Id="Rcf8979ca922940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fa9239570e436d" /><Relationship Type="http://schemas.openxmlformats.org/officeDocument/2006/relationships/notesMaster" Target="/ppt/notesMasters/notesMaster1.xml" Id="R9f01577f9b6740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39982eb4894420" /><Relationship Type="http://schemas.openxmlformats.org/officeDocument/2006/relationships/notesMaster" Target="/ppt/notesMasters/notesMaster1.xml" Id="R78f83221266341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932e9990004a89" /><Relationship Type="http://schemas.openxmlformats.org/officeDocument/2006/relationships/notesMaster" Target="/ppt/notesMasters/notesMaster1.xml" Id="R7f59ec5d5e9e42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94ca45e39744a0" /><Relationship Type="http://schemas.openxmlformats.org/officeDocument/2006/relationships/notesMaster" Target="/ppt/notesMasters/notesMaster1.xml" Id="R493ce1ca3d434c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BACKSTORY</a:t>
            </a:r>
          </a:p>
          <a:p xmlns:a="http://schemas.openxmlformats.org/drawingml/2006/main">
            <a:r>
              <a:t/>
            </a:r>
          </a:p>
          <a:p xmlns:a="http://schemas.openxmlformats.org/drawingml/2006/main">
            <a:r>
              <a:t>The first warning was the silence.</a:t>
            </a:r>
          </a:p>
          <a:p xmlns:a="http://schemas.openxmlformats.org/drawingml/2006/main">
            <a:r>
              <a:t/>
            </a:r>
          </a:p>
          <a:p xmlns:a="http://schemas.openxmlformats.org/drawingml/2006/main">
            <a:r>
              <a:t>One autumn night, a poisonous fog erupted from beneath the streets of a medieval kingdom. It poured through cellar doors and rose from the wells. By dawn, the roads had vanished beneath it, and the bells of the surrounding villages had fallen silent.</a:t>
            </a:r>
          </a:p>
          <a:p xmlns:a="http://schemas.openxmlformats.org/drawingml/2006/main">
            <a:r>
              <a:t/>
            </a:r>
          </a:p>
          <a:p xmlns:a="http://schemas.openxmlformats.org/drawingml/2006/main">
            <a:r>
              <a:t>Those who escaped spoke of creatures moving through the abandoned settlements. Goblins occupied the ruined streets. Beyond the city walls, soldiers buried centuries earlier clawed their way out of the earth. No one knew what had broken beneath the kingdom, or why the fog had brought the dead back with it.</a:t>
            </a:r>
          </a:p>
          <a:p xmlns:a="http://schemas.openxmlformats.org/drawingml/2006/main">
            <a:r>
              <a:t/>
            </a:r>
          </a:p>
          <a:p xmlns:a="http://schemas.openxmlformats.org/drawingml/2006/main">
            <a:r>
              <a:t>At the heart of the city, an ancient watchtower still burned. Its warding flame held back the poison and struck the creatures that approached. The remaining survivors found shelter within its walls, but the tower had stood neglected for generations. Its stonework was failing, and its light weakened with every assault.</a:t>
            </a:r>
          </a:p>
          <a:p xmlns:a="http://schemas.openxmlformats.org/drawingml/2006/main">
            <a:r>
              <a:t/>
            </a:r>
          </a:p>
          <a:p xmlns:a="http://schemas.openxmlformats.org/drawingml/2006/main">
            <a:r>
              <a:t>You are the last defender willing to leave its protection.</a:t>
            </a:r>
          </a:p>
          <a:p xmlns:a="http://schemas.openxmlformats.org/drawingml/2006/main">
            <a:r>
              <a:t/>
            </a:r>
          </a:p>
          <a:p xmlns:a="http://schemas.openxmlformats.org/drawingml/2006/main">
            <a:r>
              <a:t>Wrapped in a dark cloak, you venture into the ruins to recover materials and restore the tower. Each journey gives it a better chance of surviving the next wave. Each moment away gives the creatures another chance to reach it.</a:t>
            </a:r>
          </a:p>
          <a:p xmlns:a="http://schemas.openxmlformats.org/drawingml/2006/main">
            <a:r>
              <a:t/>
            </a:r>
          </a:p>
          <a:p xmlns:a="http://schemas.openxmlformats.org/drawingml/2006/main">
            <a:r>
              <a:t>Beyond the courtyard lie the poisoned streets and the outer burial grounds, where something is gathering the dead.</a:t>
            </a:r>
          </a:p>
          <a:p xmlns:a="http://schemas.openxmlformats.org/drawingml/2006/main">
            <a:r>
              <a:t/>
            </a:r>
          </a:p>
          <a:p xmlns:a="http://schemas.openxmlformats.org/drawingml/2006/main">
            <a:r>
              <a:t>The tower cannot stand without you. You cannot survive without its light.</a:t>
            </a:r>
          </a:p>
          <a:p xmlns:a="http://schemas.openxmlformats.org/drawingml/2006/main">
            <a:r>
              <a:t/>
            </a:r>
          </a:p>
          <a:p xmlns:a="http://schemas.openxmlformats.org/drawingml/2006/main">
            <a:r>
              <a:t>GAME CONCEPT</a:t>
            </a:r>
          </a:p>
          <a:p xmlns:a="http://schemas.openxmlformats.org/drawingml/2006/main">
            <a:r>
              <a:t>ToxicBarrier is a 2D survival and tower-defense game. A lone defender gathers resources to strengthen an allied tower and protect it from waves of enemies.</a:t>
            </a:r>
          </a:p>
          <a:p xmlns:a="http://schemas.openxmlformats.org/drawingml/2006/main">
            <a:r>
              <a:t/>
            </a:r>
          </a:p>
          <a:p xmlns:a="http://schemas.openxmlformats.org/drawingml/2006/main">
            <a:r>
              <a:t>Sources: Cover composition follows the user-supplied Candle Castle image. Original 1920×1080 reference canvas and theme preserved. Promotional image: output/Promo/2026-09-19/ToxicBarrier_Background_1920x1080.png, horizontally reflected only in the slide layout to place the tower and defender on the right. Not a gameplay screenshot. Tool icons: https://github.com/devicons/devicon (MIT).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loop links resource collection to survival. Each trip away from the tower supports the next upgrade, but leaves defense less controlled. Progress through three regions ends only when the tower reaches level three and all waves and enemies are cleared. Player or tower death ends the run. E is contextual: upgrades require proximity and enough resources. Ordinary exploration supplies can be collected manually with E. Repair cargo loads by proximity.</a:t>
            </a:r>
          </a:p>
          <a:p xmlns:a="http://schemas.openxmlformats.org/drawingml/2006/main">
            <a:r>
              <a:t/>
            </a:r>
          </a:p>
          <a:p xmlns:a="http://schemas.openxmlformats.org/drawingml/2006/main">
            <a:r>
              <a:t>Sources: Assets/Scripts/Loot/Enemies/Tower.cs; Assets/Scripts/Core/PlayerController2D.cs; Assets/Scripts/Map/ExplorationSupply.cs; Assets/Scripts/Player/TowerRepairCargo.cs; Assets/Documentation/FlowReview.md.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game’s current three-layer circular map, assembled from the actual imported sprites at their authored radius ratios. The inner region establishes the loop. Outer areas increase exposure and reward movement away from the tower. Thirty building obstacles form staggered pairs rather than sealing routes. Ground-level colliders and matching navigation obstacles make the visible cover usable. These buildings are separate scene objects and are not included in the terrain-only overview shown here.</a:t>
            </a:r>
          </a:p>
          <a:p xmlns:a="http://schemas.openxmlformats.org/drawingml/2006/main">
            <a:r>
              <a:t/>
            </a:r>
          </a:p>
          <a:p xmlns:a="http://schemas.openxmlformats.org/drawingml/2006/main">
            <a:r>
              <a:t>Sources: Assets/Sprites/Sprites_map_1.png, Sprites_map_2.png, Sprites_map_3.png; output/Review/2026-09-20/ExpandedRoutes.md and expanded-navigation.txt. Assets/Editor/WorldLayoutPolishTool.cs.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left-hand excerpt is copied directly from the project source. When the player is visible, the enemy stores their position and the current time. If sight is lost, the enemy temporarily clears the live target and searches the stored point. After 1.6 seconds, the rest of the method chooses the nearest living tower again. GetPlayerInAgroRange also requires line of sight. The movement branch handles the stored point rather than tracking the hidden player through walls.</a:t>
            </a:r>
          </a:p>
          <a:p xmlns:a="http://schemas.openxmlformats.org/drawingml/2006/main">
            <a:r>
              <a:t/>
            </a:r>
          </a:p>
          <a:p xmlns:a="http://schemas.openxmlformats.org/drawingml/2006/main">
            <a:r>
              <a:t>Sources: Assets/Scripts/Loot/Enemies/EnemyAttackBehavior.cs, UpdateTarget and GetPlayerInAgroRange. output/Review/2026-09-20/route-gameplay-regression.txt. Source excerpt preserves logic, with line breaks adjusted for readability.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page shows the sprites currently used by the project, including the level-zero tower and all three upgrades. The work presented here is art direction and integration: coherent materials, readable silhouettes, real alpha, point filtering and consistent base pivots. Resource types remain distinct at pickup size. The production process moves from the core loop to visual integration and then to navigation, interface and balance refinement. Existing character and building asset packs are part of the project’s visual asset integration; this page does not claim all source art was hand-drawn.</a:t>
            </a:r>
          </a:p>
          <a:p xmlns:a="http://schemas.openxmlformats.org/drawingml/2006/main">
            <a:r>
              <a:t/>
            </a:r>
          </a:p>
          <a:p xmlns:a="http://schemas.openxmlformats.org/drawingml/2006/main">
            <a:r>
              <a:t>Sources: User confirmed solo project and game development responsibility. Git initial commit 9111d0f is dated 2025-12-27, matching Unity project creation. Assets/Sprites/Sprites_tower0.png, Sprites_tower.png, Sprites_tower2.png, Sprites_tower3.png, Sprites_stone.png, Sprites_gel.png, Sprites_teeth.png. Wood: Assets/PeterRadiant/Tiny Swords/UI Elements/Icons/Icon_02.png, referenced by Assets/Resources/Presentation/WoodPickup.asset (texture GUID 859e44a7cf53f4e889017843532b11d2). output/ArtIntegration/README.md; output/ArtDirection/ArtOnlyBrief.md; output/Review/2026-09-20/ExpandedRoutes.md.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gallery shows the actual menu, upgrade feedback and victory screen. The space under Player Playtest is intentionally empty for future player photos, observations and feedback. The 16:9 promotional-video area is reserved for a recording and contains no video yet. The Rookies page has not been created. A shorter one-minute video can still be inserted if a timed presentation is needed later.</a:t>
            </a:r>
          </a:p>
          <a:p xmlns:a="http://schemas.openxmlformats.org/drawingml/2006/main">
            <a:r>
              <a:t/>
            </a:r>
          </a:p>
          <a:p xmlns:a="http://schemas.openxmlformats.org/drawingml/2006/main">
            <a:r>
              <a:t>Sources: .utmp/ui-checks/01-main-menu.png and 04-upgrade.png. output/Review/2026-09-20/ExpandedRoutesVictory.png is a completed automated full-flow run, not a human playtest. User explicitly requested leaving playtesting blank and confirmed The Rookies is not set 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56c632da2a43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e88ade2e4742c5" /><Relationship Type="http://schemas.openxmlformats.org/officeDocument/2006/relationships/slideLayout" Target="/ppt/slideLayouts/slideLayout1.xml" Id="R5909d00707744b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09d00707744b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61f070067240a5" /><Relationship Type="http://schemas.openxmlformats.org/officeDocument/2006/relationships/image" Target="/ppt/media/image.jpeg" Id="R803b5cdab7454f81" /><Relationship Type="http://schemas.openxmlformats.org/officeDocument/2006/relationships/image" Target="/ppt/media/image.png" Id="Ra4e3e2de306d4472" /><Relationship Type="http://schemas.openxmlformats.org/officeDocument/2006/relationships/image" Target="/ppt/media/image2.png" Id="Ra0e2a1e9b803445b" /><Relationship Type="http://schemas.openxmlformats.org/officeDocument/2006/relationships/image" Target="/ppt/media/image3.png" Id="R482788a86e284a49" /><Relationship Type="http://schemas.openxmlformats.org/officeDocument/2006/relationships/image" Target="/ppt/media/image4.png" Id="R75cbee78fede41b7" /><Relationship Type="http://schemas.openxmlformats.org/officeDocument/2006/relationships/hyperlink" Target="https://github.com/JXia0/ToxicBarrier" TargetMode="External" Id="Rfc6204f24fb94850" /><Relationship Type="http://schemas.openxmlformats.org/officeDocument/2006/relationships/notesSlide" Target="/ppt/notesSlides/notesSlide1.xml" Id="Rc5d8f88f05854d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7e000d5e3884aff" /><Relationship Type="http://schemas.openxmlformats.org/officeDocument/2006/relationships/image" Target="/ppt/media/image2.jpeg" Id="R785e47efd8d741fb" /><Relationship Type="http://schemas.openxmlformats.org/officeDocument/2006/relationships/image" Target="/ppt/media/image3.jpeg" Id="R7b63c9976b534076" /><Relationship Type="http://schemas.openxmlformats.org/officeDocument/2006/relationships/notesSlide" Target="/ppt/notesSlides/notesSlide2.xml" Id="R02b4f538d7dc44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234cbf9313e44eb" /><Relationship Type="http://schemas.openxmlformats.org/officeDocument/2006/relationships/image" Target="/ppt/media/image4.jpeg" Id="R4a399257b2c54b12" /><Relationship Type="http://schemas.openxmlformats.org/officeDocument/2006/relationships/image" Target="/ppt/media/image5.png" Id="Rc80e6d2c9f1844df" /><Relationship Type="http://schemas.openxmlformats.org/officeDocument/2006/relationships/image" Target="/ppt/media/image6.png" Id="Rb7139f5337384b39" /><Relationship Type="http://schemas.openxmlformats.org/officeDocument/2006/relationships/image" Target="/ppt/media/image7.png" Id="R7a8c69db97754ca8" /><Relationship Type="http://schemas.openxmlformats.org/officeDocument/2006/relationships/notesSlide" Target="/ppt/notesSlides/notesSlide3.xml" Id="R7fc09a4a28e24e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64095adf8354137" /><Relationship Type="http://schemas.openxmlformats.org/officeDocument/2006/relationships/image" Target="/ppt/media/image5.jpeg" Id="R52fa1b1b779a4631" /><Relationship Type="http://schemas.openxmlformats.org/officeDocument/2006/relationships/image" Target="/ppt/media/image6.jpeg" Id="R2ac609fc68cc4324" /><Relationship Type="http://schemas.openxmlformats.org/officeDocument/2006/relationships/notesSlide" Target="/ppt/notesSlides/notesSlide4.xml" Id="Rbacd6c655bf347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1bbfaab65474d69" /><Relationship Type="http://schemas.openxmlformats.org/officeDocument/2006/relationships/image" Target="/ppt/media/image7.jpeg" Id="R7690d664d5ef484d" /><Relationship Type="http://schemas.openxmlformats.org/officeDocument/2006/relationships/image" Target="/ppt/media/image8.png" Id="Rb7b64456d16e4159" /><Relationship Type="http://schemas.openxmlformats.org/officeDocument/2006/relationships/image" Target="/ppt/media/image9.png" Id="R5a034307f8c241d1" /><Relationship Type="http://schemas.openxmlformats.org/officeDocument/2006/relationships/image" Target="/ppt/media/image10.png" Id="Rd3659b16bf844cad" /><Relationship Type="http://schemas.openxmlformats.org/officeDocument/2006/relationships/image" Target="/ppt/media/image11.png" Id="R7bc6794e872942a0" /><Relationship Type="http://schemas.openxmlformats.org/officeDocument/2006/relationships/image" Target="/ppt/media/image12.png" Id="Rd1501cfc60394c0c" /><Relationship Type="http://schemas.openxmlformats.org/officeDocument/2006/relationships/image" Target="/ppt/media/image13.png" Id="R0011cd58b2b74bbd" /><Relationship Type="http://schemas.openxmlformats.org/officeDocument/2006/relationships/image" Target="/ppt/media/image14.png" Id="R512321cfb9244051" /><Relationship Type="http://schemas.openxmlformats.org/officeDocument/2006/relationships/image" Target="/ppt/media/image15.png" Id="R840e043ace8547f5" /><Relationship Type="http://schemas.openxmlformats.org/officeDocument/2006/relationships/notesSlide" Target="/ppt/notesSlides/notesSlide5.xml" Id="R2e53f036d68844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6275cc586ca469b" /><Relationship Type="http://schemas.openxmlformats.org/officeDocument/2006/relationships/image" Target="/ppt/media/image8.jpeg" Id="R3720c0a72b444f54" /><Relationship Type="http://schemas.openxmlformats.org/officeDocument/2006/relationships/image" Target="/ppt/media/image9.jpeg" Id="R8f0eda14e4e847e3" /><Relationship Type="http://schemas.openxmlformats.org/officeDocument/2006/relationships/image" Target="/ppt/media/image10.jpeg" Id="Rf473178a833a49cd" /><Relationship Type="http://schemas.openxmlformats.org/officeDocument/2006/relationships/image" Target="/ppt/media/image11.jpeg" Id="R5f57f007b4a84e34" /><Relationship Type="http://schemas.openxmlformats.org/officeDocument/2006/relationships/notesSlide" Target="/ppt/notesSlides/notesSlide6.xml" Id="R1341054ea3944d2c" /></Relationships>
</file>

<file path=ppt/slides/slide1.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03b5cdab7454f81"/>
          <a:srcRect xmlns:a="http://schemas.openxmlformats.org/drawingml/2006/main" l="0" t="0" r="0" b="0"/>
          <a:stretch xmlns:a="http://schemas.openxmlformats.org/drawingml/2006/main">
            <a:fillRect l="0" t="0" r="0" b="0"/>
          </a:stretch>
        </p:blipFill>
        <p:spPr>
          <a:xfrm xmlns:a="http://schemas.openxmlformats.org/drawingml/2006/main" flipH="1">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EAB1418-77E6-4CB6-9785-2CE3E152B920}"/>
              </a:ext>
            </a:extLst>
          </p:cNvPr>
          <p:cNvSpPr>
            <a:spLocks xmlns:a="http://schemas.openxmlformats.org/drawingml/2006/main" noGrp="1"/>
          </p:cNvSpPr>
          <p:nvPr/>
        </p:nvSpPr>
        <p:spPr>
          <a:xfrm xmlns:a="http://schemas.openxmlformats.org/drawingml/2006/main">
            <a:off x="0" y="0"/>
            <a:ext cx="10001250" cy="10287000"/>
          </a:xfrm>
          <a:prstGeom xmlns:a="http://schemas.openxmlformats.org/drawingml/2006/main" prst="rect">
            <a:avLst/>
          </a:prstGeom>
          <a:gradFill xmlns:a="http://schemas.openxmlformats.org/drawingml/2006/main">
            <a:gsLst>
              <a:gs pos="0">
                <a:srgbClr val="071116">
                  <a:alpha val="92000"/>
                </a:srgbClr>
              </a:gs>
              <a:gs pos="55000">
                <a:srgbClr val="071116">
                  <a:alpha val="60000"/>
                </a:srgbClr>
              </a:gs>
              <a:gs pos="100000">
                <a:srgbClr val="071116">
                  <a:alpha val="0"/>
                </a:srgbClr>
              </a:gs>
            </a:gsLst>
            <a:lin ang="0"/>
          </a:gra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4e3e2de306d4472"/>
          <a:stretch xmlns:a="http://schemas.openxmlformats.org/drawingml/2006/main"/>
        </p:blipFill>
        <p:spPr>
          <a:xfrm xmlns:a="http://schemas.openxmlformats.org/drawingml/2006/main">
            <a:off x="647700" y="600075"/>
            <a:ext cx="6972300" cy="46482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BC3DA68-D6D3-46B2-9BBD-669826109107}"/>
              </a:ext>
            </a:extLst>
          </p:cNvPr>
          <p:cNvSpPr>
            <a:spLocks xmlns:a="http://schemas.openxmlformats.org/drawingml/2006/main" noGrp="1"/>
          </p:cNvSpPr>
          <p:nvPr/>
        </p:nvSpPr>
        <p:spPr>
          <a:xfrm xmlns:a="http://schemas.openxmlformats.org/drawingml/2006/main">
            <a:off x="17068800" y="590550"/>
            <a:ext cx="628650" cy="628650"/>
          </a:xfrm>
          <a:prstGeom xmlns:a="http://schemas.openxmlformats.org/drawingml/2006/main" prst="rect">
            <a:avLst/>
          </a:prstGeom>
          <a:solidFill xmlns:a="http://schemas.openxmlformats.org/drawingml/2006/main">
            <a:srgbClr val="F4E9D2"/>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0e2a1e9b803445b"/>
          <a:stretch xmlns:a="http://schemas.openxmlformats.org/drawingml/2006/main"/>
        </p:blipFill>
        <p:spPr>
          <a:xfrm xmlns:a="http://schemas.openxmlformats.org/drawingml/2006/main">
            <a:off x="17135475" y="657225"/>
            <a:ext cx="495300" cy="4953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21C9CF1-C854-48E4-85B4-E7A2240A4753}"/>
              </a:ext>
            </a:extLst>
          </p:cNvPr>
          <p:cNvSpPr>
            <a:spLocks xmlns:a="http://schemas.openxmlformats.org/drawingml/2006/main" noGrp="1"/>
          </p:cNvSpPr>
          <p:nvPr/>
        </p:nvSpPr>
        <p:spPr>
          <a:xfrm xmlns:a="http://schemas.openxmlformats.org/drawingml/2006/main">
            <a:off x="17068800" y="1552575"/>
            <a:ext cx="628650" cy="628650"/>
          </a:xfrm>
          <a:prstGeom xmlns:a="http://schemas.openxmlformats.org/drawingml/2006/main" prst="rect">
            <a:avLst/>
          </a:prstGeom>
          <a:solidFill xmlns:a="http://schemas.openxmlformats.org/drawingml/2006/main">
            <a:srgbClr val="F4E9D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82788a86e284a49"/>
          <a:stretch xmlns:a="http://schemas.openxmlformats.org/drawingml/2006/main"/>
        </p:blipFill>
        <p:spPr>
          <a:xfrm xmlns:a="http://schemas.openxmlformats.org/drawingml/2006/main">
            <a:off x="17135475" y="1619250"/>
            <a:ext cx="495300" cy="4953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302DCEE-E7AA-46D6-9C58-47C6058947F2}"/>
              </a:ext>
            </a:extLst>
          </p:cNvPr>
          <p:cNvSpPr>
            <a:spLocks xmlns:a="http://schemas.openxmlformats.org/drawingml/2006/main" noGrp="1"/>
          </p:cNvSpPr>
          <p:nvPr/>
        </p:nvSpPr>
        <p:spPr>
          <a:xfrm xmlns:a="http://schemas.openxmlformats.org/drawingml/2006/main">
            <a:off x="17068800" y="2514600"/>
            <a:ext cx="628650" cy="628650"/>
          </a:xfrm>
          <a:prstGeom xmlns:a="http://schemas.openxmlformats.org/drawingml/2006/main" prst="rect">
            <a:avLst/>
          </a:prstGeom>
          <a:solidFill xmlns:a="http://schemas.openxmlformats.org/drawingml/2006/main">
            <a:srgbClr val="F4E9D2"/>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5cbee78fede41b7"/>
          <a:stretch xmlns:a="http://schemas.openxmlformats.org/drawingml/2006/main"/>
        </p:blipFill>
        <p:spPr>
          <a:xfrm xmlns:a="http://schemas.openxmlformats.org/drawingml/2006/main">
            <a:off x="17135475" y="2581275"/>
            <a:ext cx="495300" cy="4953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0556DF5-6ACC-4DD5-9A6A-5A5E40B8037B}"/>
              </a:ext>
            </a:extLst>
          </p:cNvPr>
          <p:cNvSpPr>
            <a:spLocks xmlns:a="http://schemas.openxmlformats.org/drawingml/2006/main" noGrp="1"/>
          </p:cNvSpPr>
          <p:nvPr/>
        </p:nvSpPr>
        <p:spPr>
          <a:xfrm xmlns:a="http://schemas.openxmlformats.org/drawingml/2006/main">
            <a:off x="857250" y="6972300"/>
            <a:ext cx="742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2D SURVIVAL &amp; TOWER DEFENSE</a:t>
            </a:r>
          </a:p>
        </p:txBody>
      </p:sp>
      <p:sp>
        <p:nvSpPr>
          <p:cNvPr id="11" name="">
            <a:extLst xmlns:a="http://schemas.openxmlformats.org/drawingml/2006/main">
              <a:ext uri="{FF2B5EF4-FFF2-40B4-BE49-F238E27FC236}">
                <a16:creationId xmlns:a16="http://schemas.microsoft.com/office/drawing/2014/main" id="{FDE61FB8-5121-4575-B73C-95DF3FB4B42A}"/>
              </a:ext>
            </a:extLst>
          </p:cNvPr>
          <p:cNvSpPr>
            <a:spLocks xmlns:a="http://schemas.openxmlformats.org/drawingml/2006/main" noGrp="1"/>
          </p:cNvSpPr>
          <p:nvPr/>
        </p:nvSpPr>
        <p:spPr>
          <a:xfrm xmlns:a="http://schemas.openxmlformats.org/drawingml/2006/main">
            <a:off x="857250" y="7524750"/>
            <a:ext cx="83343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F4E9D2"/>
                </a:solidFill>
                <a:latin typeface="Georgia"/>
                <a:ea typeface="Georgia"/>
                <a:cs typeface="Georgia"/>
              </a:defRPr>
            </a:pPr>
            <a:r>
              <a:rPr sz="2550" b="0">
                <a:solidFill>
                  <a:srgbClr val="F4E9D2"/>
                </a:solidFill>
                <a:latin typeface="Georgia"/>
                <a:ea typeface="Georgia"/>
                <a:cs typeface="Georgia"/>
              </a:rPr>
              <a:t>Toxic fog erupted beneath a medieval kingdom.</a:t>
            </a:r>
          </a:p>
          <a:p xmlns:a="http://schemas.openxmlformats.org/drawingml/2006/main">
            <a:pPr>
              <a:defRPr sz="2550" b="0">
                <a:solidFill>
                  <a:srgbClr val="F4E9D2"/>
                </a:solidFill>
                <a:latin typeface="Georgia"/>
                <a:ea typeface="Georgia"/>
                <a:cs typeface="Georgia"/>
              </a:defRPr>
            </a:pPr>
            <a:r>
              <a:rPr sz="2550" b="0">
                <a:solidFill>
                  <a:srgbClr val="F4E9D2"/>
                </a:solidFill>
                <a:latin typeface="Georgia"/>
                <a:ea typeface="Georgia"/>
                <a:cs typeface="Georgia"/>
              </a:rPr>
              <a:t>The dead rose. Its cities fell.</a:t>
            </a:r>
          </a:p>
          <a:p xmlns:a="http://schemas.openxmlformats.org/drawingml/2006/main">
            <a:pPr>
              <a:defRPr sz="2550" b="0">
                <a:solidFill>
                  <a:srgbClr val="F4E9D2"/>
                </a:solidFill>
                <a:latin typeface="Georgia"/>
                <a:ea typeface="Georgia"/>
                <a:cs typeface="Georgia"/>
              </a:defRPr>
            </a:pPr>
            <a:r>
              <a:rPr sz="2550" b="0">
                <a:solidFill>
                  <a:srgbClr val="F4E9D2"/>
                </a:solidFill>
                <a:latin typeface="Georgia"/>
                <a:ea typeface="Georgia"/>
                <a:cs typeface="Georgia"/>
              </a:rPr>
              <a:t>One tower still holds back the poison.</a:t>
            </a:r>
          </a:p>
          <a:p xmlns:a="http://schemas.openxmlformats.org/drawingml/2006/main">
            <a:pPr>
              <a:defRPr sz="2550" b="0">
                <a:solidFill>
                  <a:srgbClr val="F4E9D2"/>
                </a:solidFill>
                <a:latin typeface="Georgia"/>
                <a:ea typeface="Georgia"/>
                <a:cs typeface="Georgia"/>
              </a:defRPr>
            </a:pPr>
            <a:r>
              <a:rPr sz="2550" b="0">
                <a:solidFill>
                  <a:srgbClr val="F4E9D2"/>
                </a:solidFill>
                <a:latin typeface="Georgia"/>
                <a:ea typeface="Georgia"/>
                <a:cs typeface="Georgia"/>
              </a:rPr>
              <a:t>You are its last defender.</a:t>
            </a:r>
          </a:p>
        </p:txBody>
      </p:sp>
      <p:sp>
        <p:nvSpPr>
          <p:cNvPr id="12" name="">
            <a:extLst xmlns:a="http://schemas.openxmlformats.org/drawingml/2006/main">
              <a:ext uri="{FF2B5EF4-FFF2-40B4-BE49-F238E27FC236}">
                <a16:creationId xmlns:a16="http://schemas.microsoft.com/office/drawing/2014/main" id="{1D1163A7-8338-4131-B729-738638F9AE6E}"/>
              </a:ext>
            </a:extLst>
          </p:cNvPr>
          <p:cNvSpPr>
            <a:spLocks xmlns:a="http://schemas.openxmlformats.org/drawingml/2006/main" noGrp="1"/>
          </p:cNvSpPr>
          <p:nvPr/>
        </p:nvSpPr>
        <p:spPr>
          <a:xfrm xmlns:a="http://schemas.openxmlformats.org/drawingml/2006/main">
            <a:off x="857250" y="9391650"/>
            <a:ext cx="733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E8B66B"/>
                </a:solidFill>
                <a:latin typeface="Arial"/>
                <a:ea typeface="Arial"/>
                <a:cs typeface="Arial"/>
              </a:defRPr>
            </a:pPr>
            <a:r>
              <a:rPr sz="1800">
                <a:solidFill>
                  <a:srgbClr val="E8B66B"/>
                </a:solidFill>
                <a:latin typeface="Arial"/>
                <a:ea typeface="Arial"/>
                <a:cs typeface="Arial"/>
                <a:hlinkClick xmlns:r="http://schemas.openxmlformats.org/officeDocument/2006/relationships" r:id="Rfc6204f24fb94850"/>
              </a:rPr>
              <a:t>github.com/JXia0/ToxicBarrier</a:t>
            </a:r>
          </a:p>
        </p:txBody>
      </p:sp>
    </p:spTree>
    <p:extLst>
      <p:ext uri="{BB962C8B-B14F-4D97-AF65-F5344CB8AC3E}">
        <p14:creationId xmlns:p14="http://schemas.microsoft.com/office/powerpoint/2010/main" val="1954885768"/>
      </p:ext>
    </p:extLst>
  </p:cSld>
</p:sld>
</file>

<file path=ppt/slides/slide2.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85e47efd8d741fb"/>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8F9324E-D5CF-49CD-9A39-A9CB7BAAA07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883AD6D-DBA2-40E3-802D-CE15E02EF0A4}"/>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AD031961-7C46-4DA9-B2A6-563EA0FC8440}"/>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02 / 06</a:t>
            </a:r>
          </a:p>
        </p:txBody>
      </p:sp>
      <p:sp>
        <p:nvSpPr>
          <p:cNvPr id="5" name="">
            <a:extLst xmlns:a="http://schemas.openxmlformats.org/drawingml/2006/main">
              <a:ext uri="{FF2B5EF4-FFF2-40B4-BE49-F238E27FC236}">
                <a16:creationId xmlns:a16="http://schemas.microsoft.com/office/drawing/2014/main" id="{87ECEF63-549F-49AC-9F71-5213728E6AED}"/>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How to play &amp; game flow</a:t>
            </a:r>
          </a:p>
        </p:txBody>
      </p:sp>
      <p:sp>
        <p:nvSpPr>
          <p:cNvPr id="6" name="">
            <a:extLst xmlns:a="http://schemas.openxmlformats.org/drawingml/2006/main">
              <a:ext uri="{FF2B5EF4-FFF2-40B4-BE49-F238E27FC236}">
                <a16:creationId xmlns:a16="http://schemas.microsoft.com/office/drawing/2014/main" id="{91D6F1F1-D903-4957-9B95-85C4FB35BE55}"/>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The player gathers and maneuvers. The allied tower attacks automatically.</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b63c9976b534076"/>
          <a:stretch xmlns:a="http://schemas.openxmlformats.org/drawingml/2006/main"/>
        </p:blipFill>
        <p:spPr>
          <a:xfrm xmlns:a="http://schemas.openxmlformats.org/drawingml/2006/main">
            <a:off x="647700" y="2553234"/>
            <a:ext cx="10287000" cy="5399608"/>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2B9D4FC-0D44-483E-B7B3-AFC722BD2616}"/>
              </a:ext>
            </a:extLst>
          </p:cNvPr>
          <p:cNvSpPr>
            <a:spLocks xmlns:a="http://schemas.openxmlformats.org/drawingml/2006/main" noGrp="1"/>
          </p:cNvSpPr>
          <p:nvPr/>
        </p:nvSpPr>
        <p:spPr>
          <a:xfrm xmlns:a="http://schemas.openxmlformats.org/drawingml/2006/main">
            <a:off x="11715750" y="2590800"/>
            <a:ext cx="5924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F4E9D2"/>
                </a:solidFill>
                <a:latin typeface="Georgia"/>
                <a:ea typeface="Georgia"/>
                <a:cs typeface="Georgia"/>
              </a:defRPr>
            </a:pPr>
            <a:r>
              <a:rPr sz="2925" b="0">
                <a:solidFill>
                  <a:srgbClr val="F4E9D2"/>
                </a:solidFill>
                <a:latin typeface="Georgia"/>
                <a:ea typeface="Georgia"/>
                <a:cs typeface="Georgia"/>
              </a:rPr>
              <a:t>Gather &amp; upgrade</a:t>
            </a:r>
          </a:p>
        </p:txBody>
      </p:sp>
      <p:sp>
        <p:nvSpPr>
          <p:cNvPr id="9" name="">
            <a:extLst xmlns:a="http://schemas.openxmlformats.org/drawingml/2006/main">
              <a:ext uri="{FF2B5EF4-FFF2-40B4-BE49-F238E27FC236}">
                <a16:creationId xmlns:a16="http://schemas.microsoft.com/office/drawing/2014/main" id="{FE5B5A54-93E9-4C4F-B18C-91D2ABCFCB5D}"/>
              </a:ext>
            </a:extLst>
          </p:cNvPr>
          <p:cNvSpPr>
            <a:spLocks xmlns:a="http://schemas.openxmlformats.org/drawingml/2006/main" noGrp="1"/>
          </p:cNvSpPr>
          <p:nvPr/>
        </p:nvSpPr>
        <p:spPr>
          <a:xfrm xmlns:a="http://schemas.openxmlformats.org/drawingml/2006/main">
            <a:off x="11715750" y="3286125"/>
            <a:ext cx="5810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Collect four resource types and invest them in the tower.</a:t>
            </a:r>
          </a:p>
        </p:txBody>
      </p:sp>
      <p:sp>
        <p:nvSpPr>
          <p:cNvPr id="10" name="">
            <a:extLst xmlns:a="http://schemas.openxmlformats.org/drawingml/2006/main">
              <a:ext uri="{FF2B5EF4-FFF2-40B4-BE49-F238E27FC236}">
                <a16:creationId xmlns:a16="http://schemas.microsoft.com/office/drawing/2014/main" id="{D7C9CED8-EA77-40AE-BA42-88192BC308A8}"/>
              </a:ext>
            </a:extLst>
          </p:cNvPr>
          <p:cNvSpPr>
            <a:spLocks xmlns:a="http://schemas.openxmlformats.org/drawingml/2006/main" noGrp="1"/>
          </p:cNvSpPr>
          <p:nvPr/>
        </p:nvSpPr>
        <p:spPr>
          <a:xfrm xmlns:a="http://schemas.openxmlformats.org/drawingml/2006/main">
            <a:off x="11715750" y="4429125"/>
            <a:ext cx="5924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F4E9D2"/>
                </a:solidFill>
                <a:latin typeface="Georgia"/>
                <a:ea typeface="Georgia"/>
                <a:cs typeface="Georgia"/>
              </a:defRPr>
            </a:pPr>
            <a:r>
              <a:rPr sz="2925" b="0">
                <a:solidFill>
                  <a:srgbClr val="F4E9D2"/>
                </a:solidFill>
                <a:latin typeface="Georgia"/>
                <a:ea typeface="Georgia"/>
                <a:cs typeface="Georgia"/>
              </a:rPr>
              <a:t>Lure &amp; survive</a:t>
            </a:r>
          </a:p>
        </p:txBody>
      </p:sp>
      <p:sp>
        <p:nvSpPr>
          <p:cNvPr id="11" name="">
            <a:extLst xmlns:a="http://schemas.openxmlformats.org/drawingml/2006/main">
              <a:ext uri="{FF2B5EF4-FFF2-40B4-BE49-F238E27FC236}">
                <a16:creationId xmlns:a16="http://schemas.microsoft.com/office/drawing/2014/main" id="{0890997B-CFDD-4FFB-BAF1-7FA772C38D31}"/>
              </a:ext>
            </a:extLst>
          </p:cNvPr>
          <p:cNvSpPr>
            <a:spLocks xmlns:a="http://schemas.openxmlformats.org/drawingml/2006/main" noGrp="1"/>
          </p:cNvSpPr>
          <p:nvPr/>
        </p:nvSpPr>
        <p:spPr>
          <a:xfrm xmlns:a="http://schemas.openxmlformats.org/drawingml/2006/main">
            <a:off x="11715750" y="5124450"/>
            <a:ext cx="5810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Bring enemies into tower range. Break pursuit with cover.</a:t>
            </a:r>
          </a:p>
        </p:txBody>
      </p:sp>
      <p:sp>
        <p:nvSpPr>
          <p:cNvPr id="12" name="">
            <a:extLst xmlns:a="http://schemas.openxmlformats.org/drawingml/2006/main">
              <a:ext uri="{FF2B5EF4-FFF2-40B4-BE49-F238E27FC236}">
                <a16:creationId xmlns:a16="http://schemas.microsoft.com/office/drawing/2014/main" id="{C7ACB346-E36A-41AD-8963-0CD483048663}"/>
              </a:ext>
            </a:extLst>
          </p:cNvPr>
          <p:cNvSpPr>
            <a:spLocks xmlns:a="http://schemas.openxmlformats.org/drawingml/2006/main" noGrp="1"/>
          </p:cNvSpPr>
          <p:nvPr/>
        </p:nvSpPr>
        <p:spPr>
          <a:xfrm xmlns:a="http://schemas.openxmlformats.org/drawingml/2006/main">
            <a:off x="11715750" y="6267450"/>
            <a:ext cx="5924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F4E9D2"/>
                </a:solidFill>
                <a:latin typeface="Georgia"/>
                <a:ea typeface="Georgia"/>
                <a:cs typeface="Georgia"/>
              </a:defRPr>
            </a:pPr>
            <a:r>
              <a:rPr sz="2925" b="0">
                <a:solidFill>
                  <a:srgbClr val="F4E9D2"/>
                </a:solidFill>
                <a:latin typeface="Georgia"/>
                <a:ea typeface="Georgia"/>
                <a:cs typeface="Georgia"/>
              </a:rPr>
              <a:t>Expand &amp; defend</a:t>
            </a:r>
          </a:p>
        </p:txBody>
      </p:sp>
      <p:sp>
        <p:nvSpPr>
          <p:cNvPr id="13" name="">
            <a:extLst xmlns:a="http://schemas.openxmlformats.org/drawingml/2006/main">
              <a:ext uri="{FF2B5EF4-FFF2-40B4-BE49-F238E27FC236}">
                <a16:creationId xmlns:a16="http://schemas.microsoft.com/office/drawing/2014/main" id="{E6D9247B-61D1-45EC-9418-8F97935B0C6D}"/>
              </a:ext>
            </a:extLst>
          </p:cNvPr>
          <p:cNvSpPr>
            <a:spLocks xmlns:a="http://schemas.openxmlformats.org/drawingml/2006/main" noGrp="1"/>
          </p:cNvSpPr>
          <p:nvPr/>
        </p:nvSpPr>
        <p:spPr>
          <a:xfrm xmlns:a="http://schemas.openxmlformats.org/drawingml/2006/main">
            <a:off x="11715750" y="6962775"/>
            <a:ext cx="5810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Upgrade to unlock regions and bring back repair supplies.</a:t>
            </a:r>
          </a:p>
        </p:txBody>
      </p:sp>
      <p:sp>
        <p:nvSpPr>
          <p:cNvPr id="14" name="">
            <a:extLst xmlns:a="http://schemas.openxmlformats.org/drawingml/2006/main">
              <a:ext uri="{FF2B5EF4-FFF2-40B4-BE49-F238E27FC236}">
                <a16:creationId xmlns:a16="http://schemas.microsoft.com/office/drawing/2014/main" id="{35CAE757-D759-4274-8118-A7981104976F}"/>
              </a:ext>
            </a:extLst>
          </p:cNvPr>
          <p:cNvSpPr>
            <a:spLocks xmlns:a="http://schemas.openxmlformats.org/drawingml/2006/main" noGrp="1"/>
          </p:cNvSpPr>
          <p:nvPr/>
        </p:nvSpPr>
        <p:spPr>
          <a:xfrm xmlns:a="http://schemas.openxmlformats.org/drawingml/2006/main">
            <a:off x="11715750" y="8353425"/>
            <a:ext cx="5924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VICTORY</a:t>
            </a:r>
          </a:p>
        </p:txBody>
      </p:sp>
      <p:sp>
        <p:nvSpPr>
          <p:cNvPr id="15" name="">
            <a:extLst xmlns:a="http://schemas.openxmlformats.org/drawingml/2006/main">
              <a:ext uri="{FF2B5EF4-FFF2-40B4-BE49-F238E27FC236}">
                <a16:creationId xmlns:a16="http://schemas.microsoft.com/office/drawing/2014/main" id="{DB211E39-81F1-4787-837C-CABE0B01CA62}"/>
              </a:ext>
            </a:extLst>
          </p:cNvPr>
          <p:cNvSpPr>
            <a:spLocks xmlns:a="http://schemas.openxmlformats.org/drawingml/2006/main" noGrp="1"/>
          </p:cNvSpPr>
          <p:nvPr/>
        </p:nvSpPr>
        <p:spPr>
          <a:xfrm xmlns:a="http://schemas.openxmlformats.org/drawingml/2006/main">
            <a:off x="11715750" y="8810625"/>
            <a:ext cx="5810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F4E9D2"/>
                </a:solidFill>
                <a:latin typeface="Arial"/>
                <a:ea typeface="Arial"/>
                <a:cs typeface="Arial"/>
              </a:defRPr>
            </a:pPr>
            <a:r>
              <a:rPr sz="2100" b="0">
                <a:solidFill>
                  <a:srgbClr val="F4E9D2"/>
                </a:solidFill>
                <a:latin typeface="Arial"/>
                <a:ea typeface="Arial"/>
                <a:cs typeface="Arial"/>
              </a:rPr>
              <a:t>Tower level 3. All regions and remaining enemies cleared.</a:t>
            </a:r>
          </a:p>
        </p:txBody>
      </p:sp>
      <p:sp>
        <p:nvSpPr>
          <p:cNvPr id="16" name="">
            <a:extLst xmlns:a="http://schemas.openxmlformats.org/drawingml/2006/main">
              <a:ext uri="{FF2B5EF4-FFF2-40B4-BE49-F238E27FC236}">
                <a16:creationId xmlns:a16="http://schemas.microsoft.com/office/drawing/2014/main" id="{CC11E92E-89D2-4CAD-8416-9FC6E750782C}"/>
              </a:ext>
            </a:extLst>
          </p:cNvPr>
          <p:cNvSpPr>
            <a:spLocks xmlns:a="http://schemas.openxmlformats.org/drawingml/2006/main" noGrp="1"/>
          </p:cNvSpPr>
          <p:nvPr/>
        </p:nvSpPr>
        <p:spPr>
          <a:xfrm xmlns:a="http://schemas.openxmlformats.org/drawingml/2006/main">
            <a:off x="647700" y="835342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KEYBOARD CONTROLS</a:t>
            </a:r>
          </a:p>
        </p:txBody>
      </p:sp>
      <p:sp>
        <p:nvSpPr>
          <p:cNvPr id="17" name="">
            <a:extLst xmlns:a="http://schemas.openxmlformats.org/drawingml/2006/main">
              <a:ext uri="{FF2B5EF4-FFF2-40B4-BE49-F238E27FC236}">
                <a16:creationId xmlns:a16="http://schemas.microsoft.com/office/drawing/2014/main" id="{DDEAD896-2FDC-43A6-8C6B-43FE204FEACB}"/>
              </a:ext>
            </a:extLst>
          </p:cNvPr>
          <p:cNvSpPr>
            <a:spLocks xmlns:a="http://schemas.openxmlformats.org/drawingml/2006/main" noGrp="1"/>
          </p:cNvSpPr>
          <p:nvPr/>
        </p:nvSpPr>
        <p:spPr>
          <a:xfrm xmlns:a="http://schemas.openxmlformats.org/drawingml/2006/main">
            <a:off x="647700" y="88582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F4E9D2"/>
                </a:solidFill>
                <a:latin typeface="Georgia"/>
                <a:ea typeface="Georgia"/>
                <a:cs typeface="Georgia"/>
              </a:defRPr>
            </a:pPr>
            <a:r>
              <a:rPr sz="2325" b="0">
                <a:solidFill>
                  <a:srgbClr val="F4E9D2"/>
                </a:solidFill>
                <a:latin typeface="Georgia"/>
                <a:ea typeface="Georgia"/>
                <a:cs typeface="Georgia"/>
              </a:rPr>
              <a:t>WASD / Arrows</a:t>
            </a:r>
          </a:p>
        </p:txBody>
      </p:sp>
      <p:sp>
        <p:nvSpPr>
          <p:cNvPr id="18" name="">
            <a:extLst xmlns:a="http://schemas.openxmlformats.org/drawingml/2006/main">
              <a:ext uri="{FF2B5EF4-FFF2-40B4-BE49-F238E27FC236}">
                <a16:creationId xmlns:a16="http://schemas.microsoft.com/office/drawing/2014/main" id="{98609C96-4E39-4E61-BBFE-7DA324F84479}"/>
              </a:ext>
            </a:extLst>
          </p:cNvPr>
          <p:cNvSpPr>
            <a:spLocks xmlns:a="http://schemas.openxmlformats.org/drawingml/2006/main" noGrp="1"/>
          </p:cNvSpPr>
          <p:nvPr/>
        </p:nvSpPr>
        <p:spPr>
          <a:xfrm xmlns:a="http://schemas.openxmlformats.org/drawingml/2006/main">
            <a:off x="647700" y="9439275"/>
            <a:ext cx="342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Move</a:t>
            </a:r>
          </a:p>
        </p:txBody>
      </p:sp>
      <p:sp>
        <p:nvSpPr>
          <p:cNvPr id="19" name="">
            <a:extLst xmlns:a="http://schemas.openxmlformats.org/drawingml/2006/main">
              <a:ext uri="{FF2B5EF4-FFF2-40B4-BE49-F238E27FC236}">
                <a16:creationId xmlns:a16="http://schemas.microsoft.com/office/drawing/2014/main" id="{AB2D66C5-91BB-4070-9A95-128C91F590A2}"/>
              </a:ext>
            </a:extLst>
          </p:cNvPr>
          <p:cNvSpPr>
            <a:spLocks xmlns:a="http://schemas.openxmlformats.org/drawingml/2006/main" noGrp="1"/>
          </p:cNvSpPr>
          <p:nvPr/>
        </p:nvSpPr>
        <p:spPr>
          <a:xfrm xmlns:a="http://schemas.openxmlformats.org/drawingml/2006/main">
            <a:off x="4524375" y="885825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F4E9D2"/>
                </a:solidFill>
                <a:latin typeface="Georgia"/>
                <a:ea typeface="Georgia"/>
                <a:cs typeface="Georgia"/>
              </a:defRPr>
            </a:pPr>
            <a:r>
              <a:rPr sz="2325" b="0">
                <a:solidFill>
                  <a:srgbClr val="F4E9D2"/>
                </a:solidFill>
                <a:latin typeface="Georgia"/>
                <a:ea typeface="Georgia"/>
                <a:cs typeface="Georgia"/>
              </a:rPr>
              <a:t>E</a:t>
            </a:r>
          </a:p>
        </p:txBody>
      </p:sp>
      <p:sp>
        <p:nvSpPr>
          <p:cNvPr id="20" name="">
            <a:extLst xmlns:a="http://schemas.openxmlformats.org/drawingml/2006/main">
              <a:ext uri="{FF2B5EF4-FFF2-40B4-BE49-F238E27FC236}">
                <a16:creationId xmlns:a16="http://schemas.microsoft.com/office/drawing/2014/main" id="{8FE4AE3E-ADA1-4700-AFDA-1918645ACFEF}"/>
              </a:ext>
            </a:extLst>
          </p:cNvPr>
          <p:cNvSpPr>
            <a:spLocks xmlns:a="http://schemas.openxmlformats.org/drawingml/2006/main" noGrp="1"/>
          </p:cNvSpPr>
          <p:nvPr/>
        </p:nvSpPr>
        <p:spPr>
          <a:xfrm xmlns:a="http://schemas.openxmlformats.org/drawingml/2006/main">
            <a:off x="4524375" y="9439275"/>
            <a:ext cx="4000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Upgrade / collect supplies</a:t>
            </a:r>
          </a:p>
        </p:txBody>
      </p:sp>
      <p:sp>
        <p:nvSpPr>
          <p:cNvPr id="21" name="">
            <a:extLst xmlns:a="http://schemas.openxmlformats.org/drawingml/2006/main">
              <a:ext uri="{FF2B5EF4-FFF2-40B4-BE49-F238E27FC236}">
                <a16:creationId xmlns:a16="http://schemas.microsoft.com/office/drawing/2014/main" id="{3DF11164-C8BD-4033-A42E-EE00405176D2}"/>
              </a:ext>
            </a:extLst>
          </p:cNvPr>
          <p:cNvSpPr>
            <a:spLocks xmlns:a="http://schemas.openxmlformats.org/drawingml/2006/main" noGrp="1"/>
          </p:cNvSpPr>
          <p:nvPr/>
        </p:nvSpPr>
        <p:spPr>
          <a:xfrm xmlns:a="http://schemas.openxmlformats.org/drawingml/2006/main">
            <a:off x="8782050" y="8858250"/>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F4E9D2"/>
                </a:solidFill>
                <a:latin typeface="Georgia"/>
                <a:ea typeface="Georgia"/>
                <a:cs typeface="Georgia"/>
              </a:defRPr>
            </a:pPr>
            <a:r>
              <a:rPr sz="2325" b="0">
                <a:solidFill>
                  <a:srgbClr val="F4E9D2"/>
                </a:solidFill>
                <a:latin typeface="Georgia"/>
                <a:ea typeface="Georgia"/>
                <a:cs typeface="Georgia"/>
              </a:rPr>
              <a:t>Esc</a:t>
            </a:r>
          </a:p>
        </p:txBody>
      </p:sp>
      <p:sp>
        <p:nvSpPr>
          <p:cNvPr id="22" name="">
            <a:extLst xmlns:a="http://schemas.openxmlformats.org/drawingml/2006/main">
              <a:ext uri="{FF2B5EF4-FFF2-40B4-BE49-F238E27FC236}">
                <a16:creationId xmlns:a16="http://schemas.microsoft.com/office/drawing/2014/main" id="{BC91C3EF-10BD-4003-B3A0-281361BBD8FD}"/>
              </a:ext>
            </a:extLst>
          </p:cNvPr>
          <p:cNvSpPr>
            <a:spLocks xmlns:a="http://schemas.openxmlformats.org/drawingml/2006/main" noGrp="1"/>
          </p:cNvSpPr>
          <p:nvPr/>
        </p:nvSpPr>
        <p:spPr>
          <a:xfrm xmlns:a="http://schemas.openxmlformats.org/drawingml/2006/main">
            <a:off x="8782050" y="9439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Pause</a:t>
            </a:r>
          </a:p>
        </p:txBody>
      </p:sp>
    </p:spTree>
    <p:extLst>
      <p:ext uri="{BB962C8B-B14F-4D97-AF65-F5344CB8AC3E}">
        <p14:creationId xmlns:p14="http://schemas.microsoft.com/office/powerpoint/2010/main" val="1692308713"/>
      </p:ext>
    </p:extLst>
  </p:cSld>
</p:sld>
</file>

<file path=ppt/slides/slide3.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a399257b2c54b12"/>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F9DAF56-0A0C-4F5C-AC5A-9DDF08D155F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C1DF969-6C32-4EEF-BC21-0E7096406B39}"/>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8F26D6CA-E2B1-4C30-9857-E147B6EAD4D3}"/>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03 / 06</a:t>
            </a:r>
          </a:p>
        </p:txBody>
      </p:sp>
      <p:sp>
        <p:nvSpPr>
          <p:cNvPr id="5" name="">
            <a:extLst xmlns:a="http://schemas.openxmlformats.org/drawingml/2006/main">
              <a:ext uri="{FF2B5EF4-FFF2-40B4-BE49-F238E27FC236}">
                <a16:creationId xmlns:a16="http://schemas.microsoft.com/office/drawing/2014/main" id="{E1672D06-4436-42FD-8D4D-FD66CC5636B7}"/>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Level design &amp; progression</a:t>
            </a:r>
          </a:p>
        </p:txBody>
      </p:sp>
      <p:sp>
        <p:nvSpPr>
          <p:cNvPr id="6" name="">
            <a:extLst xmlns:a="http://schemas.openxmlformats.org/drawingml/2006/main">
              <a:ext uri="{FF2B5EF4-FFF2-40B4-BE49-F238E27FC236}">
                <a16:creationId xmlns:a16="http://schemas.microsoft.com/office/drawing/2014/main" id="{A098F38F-73BD-4448-896E-439835FD4257}"/>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Three concentric regions keep the tower central while exploration becomes more demanding.</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80e6d2c9f1844df"/>
          <a:stretch xmlns:a="http://schemas.openxmlformats.org/drawingml/2006/main"/>
        </p:blipFill>
        <p:spPr>
          <a:xfrm xmlns:a="http://schemas.openxmlformats.org/drawingml/2006/main">
            <a:off x="742950" y="2619375"/>
            <a:ext cx="6572250" cy="6572250"/>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7139f5337384b39"/>
          <a:stretch xmlns:a="http://schemas.openxmlformats.org/drawingml/2006/main"/>
        </p:blipFill>
        <p:spPr>
          <a:xfrm xmlns:a="http://schemas.openxmlformats.org/drawingml/2006/main">
            <a:off x="2057400" y="3933825"/>
            <a:ext cx="3943350" cy="3943350"/>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a8c69db97754ca8"/>
          <a:stretch xmlns:a="http://schemas.openxmlformats.org/drawingml/2006/main"/>
        </p:blipFill>
        <p:spPr>
          <a:xfrm xmlns:a="http://schemas.openxmlformats.org/drawingml/2006/main">
            <a:off x="3207544" y="5083969"/>
            <a:ext cx="1643063" cy="164306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E2D61E6-E3D5-4944-ADD7-D46FFD75321E}"/>
              </a:ext>
            </a:extLst>
          </p:cNvPr>
          <p:cNvSpPr>
            <a:spLocks xmlns:a="http://schemas.openxmlformats.org/drawingml/2006/main" noGrp="1"/>
          </p:cNvSpPr>
          <p:nvPr/>
        </p:nvSpPr>
        <p:spPr>
          <a:xfrm xmlns:a="http://schemas.openxmlformats.org/drawingml/2006/main">
            <a:off x="742950" y="9458325"/>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Authored region radii: 12.5 / 30 / 50 units</a:t>
            </a:r>
          </a:p>
        </p:txBody>
      </p:sp>
      <p:sp>
        <p:nvSpPr>
          <p:cNvPr id="11" name="">
            <a:extLst xmlns:a="http://schemas.openxmlformats.org/drawingml/2006/main">
              <a:ext uri="{FF2B5EF4-FFF2-40B4-BE49-F238E27FC236}">
                <a16:creationId xmlns:a16="http://schemas.microsoft.com/office/drawing/2014/main" id="{3F6E6328-6BFD-48AC-975A-E31C64ADC1E4}"/>
              </a:ext>
            </a:extLst>
          </p:cNvPr>
          <p:cNvSpPr>
            <a:spLocks xmlns:a="http://schemas.openxmlformats.org/drawingml/2006/main" noGrp="1"/>
          </p:cNvSpPr>
          <p:nvPr/>
        </p:nvSpPr>
        <p:spPr>
          <a:xfrm xmlns:a="http://schemas.openxmlformats.org/drawingml/2006/main">
            <a:off x="8096250" y="2714625"/>
            <a:ext cx="942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01  LEARN THE LOOP</a:t>
            </a:r>
          </a:p>
        </p:txBody>
      </p:sp>
      <p:sp>
        <p:nvSpPr>
          <p:cNvPr id="12" name="">
            <a:extLst xmlns:a="http://schemas.openxmlformats.org/drawingml/2006/main">
              <a:ext uri="{FF2B5EF4-FFF2-40B4-BE49-F238E27FC236}">
                <a16:creationId xmlns:a16="http://schemas.microsoft.com/office/drawing/2014/main" id="{418A5345-05C1-4308-BBD6-B5C0ABC40F8C}"/>
              </a:ext>
            </a:extLst>
          </p:cNvPr>
          <p:cNvSpPr>
            <a:spLocks xmlns:a="http://schemas.openxmlformats.org/drawingml/2006/main" noGrp="1"/>
          </p:cNvSpPr>
          <p:nvPr/>
        </p:nvSpPr>
        <p:spPr>
          <a:xfrm xmlns:a="http://schemas.openxmlformats.org/drawingml/2006/main">
            <a:off x="8096250" y="3190875"/>
            <a:ext cx="93821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Gather near the tower and build your first upgrades. Six buildings introduce cover and alternate routes.</a:t>
            </a:r>
          </a:p>
        </p:txBody>
      </p:sp>
      <p:sp>
        <p:nvSpPr>
          <p:cNvPr id="13" name="">
            <a:extLst xmlns:a="http://schemas.openxmlformats.org/drawingml/2006/main">
              <a:ext uri="{FF2B5EF4-FFF2-40B4-BE49-F238E27FC236}">
                <a16:creationId xmlns:a16="http://schemas.microsoft.com/office/drawing/2014/main" id="{49067304-DDA6-470C-84F4-ADCFC29CB7C1}"/>
              </a:ext>
            </a:extLst>
          </p:cNvPr>
          <p:cNvSpPr>
            <a:spLocks xmlns:a="http://schemas.openxmlformats.org/drawingml/2006/main" noGrp="1"/>
          </p:cNvSpPr>
          <p:nvPr/>
        </p:nvSpPr>
        <p:spPr>
          <a:xfrm xmlns:a="http://schemas.openxmlformats.org/drawingml/2006/main">
            <a:off x="8096250" y="4505325"/>
            <a:ext cx="942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02  LEAVE THE REFUGE</a:t>
            </a:r>
          </a:p>
        </p:txBody>
      </p:sp>
      <p:sp>
        <p:nvSpPr>
          <p:cNvPr id="14" name="">
            <a:extLst xmlns:a="http://schemas.openxmlformats.org/drawingml/2006/main">
              <a:ext uri="{FF2B5EF4-FFF2-40B4-BE49-F238E27FC236}">
                <a16:creationId xmlns:a16="http://schemas.microsoft.com/office/drawing/2014/main" id="{C00D3137-2EA2-4178-A4ED-07C7BFF65466}"/>
              </a:ext>
            </a:extLst>
          </p:cNvPr>
          <p:cNvSpPr>
            <a:spLocks xmlns:a="http://schemas.openxmlformats.org/drawingml/2006/main" noGrp="1"/>
          </p:cNvSpPr>
          <p:nvPr/>
        </p:nvSpPr>
        <p:spPr>
          <a:xfrm xmlns:a="http://schemas.openxmlformats.org/drawingml/2006/main">
            <a:off x="8096250" y="4981575"/>
            <a:ext cx="93821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Tower level 2 opens the middle region. Ten buildings create routes around pursuing enemies.</a:t>
            </a:r>
          </a:p>
        </p:txBody>
      </p:sp>
      <p:sp>
        <p:nvSpPr>
          <p:cNvPr id="15" name="">
            <a:extLst xmlns:a="http://schemas.openxmlformats.org/drawingml/2006/main">
              <a:ext uri="{FF2B5EF4-FFF2-40B4-BE49-F238E27FC236}">
                <a16:creationId xmlns:a16="http://schemas.microsoft.com/office/drawing/2014/main" id="{C87F6BEC-49DA-4823-9451-6836870E031D}"/>
              </a:ext>
            </a:extLst>
          </p:cNvPr>
          <p:cNvSpPr>
            <a:spLocks xmlns:a="http://schemas.openxmlformats.org/drawingml/2006/main" noGrp="1"/>
          </p:cNvSpPr>
          <p:nvPr/>
        </p:nvSpPr>
        <p:spPr>
          <a:xfrm xmlns:a="http://schemas.openxmlformats.org/drawingml/2006/main">
            <a:off x="8096250" y="6296025"/>
            <a:ext cx="942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03  SURVIVE THE SIEGE</a:t>
            </a:r>
          </a:p>
        </p:txBody>
      </p:sp>
      <p:sp>
        <p:nvSpPr>
          <p:cNvPr id="16" name="">
            <a:extLst xmlns:a="http://schemas.openxmlformats.org/drawingml/2006/main">
              <a:ext uri="{FF2B5EF4-FFF2-40B4-BE49-F238E27FC236}">
                <a16:creationId xmlns:a16="http://schemas.microsoft.com/office/drawing/2014/main" id="{2B16DE78-F89C-46AB-844D-B4F6CD2C46E8}"/>
              </a:ext>
            </a:extLst>
          </p:cNvPr>
          <p:cNvSpPr>
            <a:spLocks xmlns:a="http://schemas.openxmlformats.org/drawingml/2006/main" noGrp="1"/>
          </p:cNvSpPr>
          <p:nvPr/>
        </p:nvSpPr>
        <p:spPr>
          <a:xfrm xmlns:a="http://schemas.openxmlformats.org/drawingml/2006/main">
            <a:off x="8096250" y="6772275"/>
            <a:ext cx="93821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Tower level 3 opens the final region. Fourteen buildings and three repair supplies support the last defense.</a:t>
            </a:r>
          </a:p>
        </p:txBody>
      </p:sp>
      <p:sp>
        <p:nvSpPr>
          <p:cNvPr id="17" name="">
            <a:extLst xmlns:a="http://schemas.openxmlformats.org/drawingml/2006/main">
              <a:ext uri="{FF2B5EF4-FFF2-40B4-BE49-F238E27FC236}">
                <a16:creationId xmlns:a16="http://schemas.microsoft.com/office/drawing/2014/main" id="{F7BC41D2-0DB9-46FE-9AF6-79CF74C169E5}"/>
              </a:ext>
            </a:extLst>
          </p:cNvPr>
          <p:cNvSpPr>
            <a:spLocks xmlns:a="http://schemas.openxmlformats.org/drawingml/2006/main" noGrp="1"/>
          </p:cNvSpPr>
          <p:nvPr/>
        </p:nvSpPr>
        <p:spPr>
          <a:xfrm xmlns:a="http://schemas.openxmlformats.org/drawingml/2006/main">
            <a:off x="8096250" y="8258175"/>
            <a:ext cx="942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PLAY FLOW</a:t>
            </a:r>
          </a:p>
        </p:txBody>
      </p:sp>
      <p:sp>
        <p:nvSpPr>
          <p:cNvPr id="18" name="">
            <a:extLst xmlns:a="http://schemas.openxmlformats.org/drawingml/2006/main">
              <a:ext uri="{FF2B5EF4-FFF2-40B4-BE49-F238E27FC236}">
                <a16:creationId xmlns:a16="http://schemas.microsoft.com/office/drawing/2014/main" id="{88EE0FD6-6D6B-4C08-83DA-82ECF8428DCC}"/>
              </a:ext>
            </a:extLst>
          </p:cNvPr>
          <p:cNvSpPr>
            <a:spLocks xmlns:a="http://schemas.openxmlformats.org/drawingml/2006/main" noGrp="1"/>
          </p:cNvSpPr>
          <p:nvPr/>
        </p:nvSpPr>
        <p:spPr>
          <a:xfrm xmlns:a="http://schemas.openxmlformats.org/drawingml/2006/main">
            <a:off x="8096250" y="8743950"/>
            <a:ext cx="9334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Upgrade to open the next region. Clear its waves, collect supplies and return to the tower. Defeat the final enemies to win.</a:t>
            </a:r>
          </a:p>
        </p:txBody>
      </p:sp>
    </p:spTree>
    <p:extLst>
      <p:ext uri="{BB962C8B-B14F-4D97-AF65-F5344CB8AC3E}">
        <p14:creationId xmlns:p14="http://schemas.microsoft.com/office/powerpoint/2010/main" val="1446324463"/>
      </p:ext>
    </p:extLst>
  </p:cSld>
</p:sld>
</file>

<file path=ppt/slides/slide4.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2fa1b1b779a4631"/>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507C383-43FA-4817-B852-E73CDADA261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F39738F-69BB-4A5B-989D-BDA6DE000F9E}"/>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8605372A-198D-40FD-A742-E8FE38127D3C}"/>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04 / 06</a:t>
            </a:r>
          </a:p>
        </p:txBody>
      </p:sp>
      <p:sp>
        <p:nvSpPr>
          <p:cNvPr id="5" name="">
            <a:extLst xmlns:a="http://schemas.openxmlformats.org/drawingml/2006/main">
              <a:ext uri="{FF2B5EF4-FFF2-40B4-BE49-F238E27FC236}">
                <a16:creationId xmlns:a16="http://schemas.microsoft.com/office/drawing/2014/main" id="{A341DB64-FFC6-4668-A199-76499AB97676}"/>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Code implementation: enemy pursuit</a:t>
            </a:r>
          </a:p>
        </p:txBody>
      </p:sp>
      <p:sp>
        <p:nvSpPr>
          <p:cNvPr id="6" name="">
            <a:extLst xmlns:a="http://schemas.openxmlformats.org/drawingml/2006/main">
              <a:ext uri="{FF2B5EF4-FFF2-40B4-BE49-F238E27FC236}">
                <a16:creationId xmlns:a16="http://schemas.microsoft.com/office/drawing/2014/main" id="{C5D3FC89-8B2A-4706-AF29-B154BAD81568}"/>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A visible player becomes the target. Breaking sight creates a short escape window.</a:t>
            </a:r>
          </a:p>
        </p:txBody>
      </p:sp>
      <p:sp>
        <p:nvSpPr>
          <p:cNvPr id="7" name="">
            <a:extLst xmlns:a="http://schemas.openxmlformats.org/drawingml/2006/main">
              <a:ext uri="{FF2B5EF4-FFF2-40B4-BE49-F238E27FC236}">
                <a16:creationId xmlns:a16="http://schemas.microsoft.com/office/drawing/2014/main" id="{1C50D1C1-61E5-40DD-8A4E-BAB4635D9362}"/>
              </a:ext>
            </a:extLst>
          </p:cNvPr>
          <p:cNvSpPr>
            <a:spLocks xmlns:a="http://schemas.openxmlformats.org/drawingml/2006/main" noGrp="1"/>
          </p:cNvSpPr>
          <p:nvPr/>
        </p:nvSpPr>
        <p:spPr>
          <a:xfrm xmlns:a="http://schemas.openxmlformats.org/drawingml/2006/main">
            <a:off x="647700" y="25336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SOURCE EXCERPT</a:t>
            </a:r>
          </a:p>
        </p:txBody>
      </p:sp>
      <p:sp>
        <p:nvSpPr>
          <p:cNvPr id="8" name="">
            <a:extLst xmlns:a="http://schemas.openxmlformats.org/drawingml/2006/main">
              <a:ext uri="{FF2B5EF4-FFF2-40B4-BE49-F238E27FC236}">
                <a16:creationId xmlns:a16="http://schemas.microsoft.com/office/drawing/2014/main" id="{3F07378B-1EAA-44C8-BE5D-9F30A4BFD633}"/>
              </a:ext>
            </a:extLst>
          </p:cNvPr>
          <p:cNvSpPr>
            <a:spLocks xmlns:a="http://schemas.openxmlformats.org/drawingml/2006/main" noGrp="1"/>
          </p:cNvSpPr>
          <p:nvPr/>
        </p:nvSpPr>
        <p:spPr>
          <a:xfrm xmlns:a="http://schemas.openxmlformats.org/drawingml/2006/main">
            <a:off x="647700" y="3076575"/>
            <a:ext cx="10668000" cy="5581650"/>
          </a:xfrm>
          <a:prstGeom xmlns:a="http://schemas.openxmlformats.org/drawingml/2006/main" prst="rect">
            <a:avLst/>
          </a:prstGeom>
          <a:solidFill xmlns:a="http://schemas.openxmlformats.org/drawingml/2006/main">
            <a:srgbClr val="0B1D23"/>
          </a:solidFill>
          <a:ln xmlns:a="http://schemas.openxmlformats.org/drawingml/2006/main" w="9525">
            <a:solidFill>
              <a:srgbClr val="53676B"/>
            </a:solidFill>
          </a:ln>
        </p:spPr>
      </p:sp>
      <p:sp>
        <p:nvSpPr>
          <p:cNvPr id="9" name="">
            <a:extLst xmlns:a="http://schemas.openxmlformats.org/drawingml/2006/main">
              <a:ext uri="{FF2B5EF4-FFF2-40B4-BE49-F238E27FC236}">
                <a16:creationId xmlns:a16="http://schemas.microsoft.com/office/drawing/2014/main" id="{A7AB793B-2AB6-4323-AE28-4247D6BC473F}"/>
              </a:ext>
            </a:extLst>
          </p:cNvPr>
          <p:cNvSpPr>
            <a:spLocks xmlns:a="http://schemas.openxmlformats.org/drawingml/2006/main" noGrp="1"/>
          </p:cNvSpPr>
          <p:nvPr/>
        </p:nvSpPr>
        <p:spPr>
          <a:xfrm xmlns:a="http://schemas.openxmlformats.org/drawingml/2006/main">
            <a:off x="914400" y="3333750"/>
            <a:ext cx="10134600" cy="512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if (playerInRange != null)</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_target = playerInRange;</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_lastSeenPosition = playerInRange.position;</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_lastSeenAt = Time.time;</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return;</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a:t>
            </a:r>
          </a:p>
          <a:p xmlns:a="http://schemas.openxmlformats.org/drawingml/2006/main">
            <a:r>
              <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var playerHealth = MapController.Instance != null</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 MapController.Instance.PlayerHealth : null;</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if (playerHealth != null &amp;&amp; playerHealth.CurrentHp &gt; 0</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&amp;&amp; Time.time - _lastSeenAt &lt; 1.6f)</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_target = null;</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_searchingLastSeen = true;</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    return;</a:t>
            </a:r>
          </a:p>
          <a:p xmlns:a="http://schemas.openxmlformats.org/drawingml/2006/main">
            <a:pPr>
              <a:defRPr sz="1875" b="0">
                <a:solidFill>
                  <a:srgbClr val="F4E9D2"/>
                </a:solidFill>
                <a:latin typeface="Consolas"/>
                <a:ea typeface="Consolas"/>
                <a:cs typeface="Consolas"/>
              </a:defRPr>
            </a:pPr>
            <a:r>
              <a:rPr sz="1875" b="0">
                <a:solidFill>
                  <a:srgbClr val="F4E9D2"/>
                </a:solidFill>
                <a:latin typeface="Consolas"/>
                <a:ea typeface="Consolas"/>
                <a:cs typeface="Consolas"/>
              </a:rPr>
              <a:t>}</a:t>
            </a:r>
          </a:p>
          <a:p xmlns:a="http://schemas.openxmlformats.org/drawingml/2006/main">
            <a:r>
              <a:t/>
            </a:r>
          </a:p>
        </p:txBody>
      </p:sp>
      <p:sp>
        <p:nvSpPr>
          <p:cNvPr id="10" name="">
            <a:extLst xmlns:a="http://schemas.openxmlformats.org/drawingml/2006/main">
              <a:ext uri="{FF2B5EF4-FFF2-40B4-BE49-F238E27FC236}">
                <a16:creationId xmlns:a16="http://schemas.microsoft.com/office/drawing/2014/main" id="{7F430A0B-C361-459B-99EA-DB26C6CFF599}"/>
              </a:ext>
            </a:extLst>
          </p:cNvPr>
          <p:cNvSpPr>
            <a:spLocks xmlns:a="http://schemas.openxmlformats.org/drawingml/2006/main" noGrp="1"/>
          </p:cNvSpPr>
          <p:nvPr/>
        </p:nvSpPr>
        <p:spPr>
          <a:xfrm xmlns:a="http://schemas.openxmlformats.org/drawingml/2006/main">
            <a:off x="647700" y="89249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EnemyAttackBehavior.cs / UpdateTarget()</a:t>
            </a:r>
          </a:p>
        </p:txBody>
      </p:sp>
      <p:sp>
        <p:nvSpPr>
          <p:cNvPr id="11" name="">
            <a:extLst xmlns:a="http://schemas.openxmlformats.org/drawingml/2006/main">
              <a:ext uri="{FF2B5EF4-FFF2-40B4-BE49-F238E27FC236}">
                <a16:creationId xmlns:a16="http://schemas.microsoft.com/office/drawing/2014/main" id="{A8021D03-B2C3-419D-ADE6-2C020A73F1B4}"/>
              </a:ext>
            </a:extLst>
          </p:cNvPr>
          <p:cNvSpPr>
            <a:spLocks xmlns:a="http://schemas.openxmlformats.org/drawingml/2006/main" noGrp="1"/>
          </p:cNvSpPr>
          <p:nvPr/>
        </p:nvSpPr>
        <p:spPr>
          <a:xfrm xmlns:a="http://schemas.openxmlformats.org/drawingml/2006/main">
            <a:off x="11963400" y="2667000"/>
            <a:ext cx="5676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PLAYER CONSEQUENCE</a:t>
            </a:r>
          </a:p>
        </p:txBody>
      </p:sp>
      <p:sp>
        <p:nvSpPr>
          <p:cNvPr id="12" name="">
            <a:extLst xmlns:a="http://schemas.openxmlformats.org/drawingml/2006/main">
              <a:ext uri="{FF2B5EF4-FFF2-40B4-BE49-F238E27FC236}">
                <a16:creationId xmlns:a16="http://schemas.microsoft.com/office/drawing/2014/main" id="{925DF67B-C71C-4A79-A796-56EC99E09A3C}"/>
              </a:ext>
            </a:extLst>
          </p:cNvPr>
          <p:cNvSpPr>
            <a:spLocks xmlns:a="http://schemas.openxmlformats.org/drawingml/2006/main" noGrp="1"/>
          </p:cNvSpPr>
          <p:nvPr/>
        </p:nvSpPr>
        <p:spPr>
          <a:xfrm xmlns:a="http://schemas.openxmlformats.org/drawingml/2006/main">
            <a:off x="11963400" y="3181350"/>
            <a:ext cx="56769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0">
                <a:solidFill>
                  <a:srgbClr val="F4E9D2"/>
                </a:solidFill>
                <a:latin typeface="Georgia"/>
                <a:ea typeface="Georgia"/>
                <a:cs typeface="Georgia"/>
              </a:defRPr>
            </a:pPr>
            <a:r>
              <a:rPr sz="3225" b="0">
                <a:solidFill>
                  <a:srgbClr val="F4E9D2"/>
                </a:solidFill>
                <a:latin typeface="Georgia"/>
                <a:ea typeface="Georgia"/>
                <a:cs typeface="Georgia"/>
              </a:rPr>
              <a:t>Cover changes the chase</a:t>
            </a:r>
          </a:p>
        </p:txBody>
      </p:sp>
      <p:sp>
        <p:nvSpPr>
          <p:cNvPr id="13" name="">
            <a:extLst xmlns:a="http://schemas.openxmlformats.org/drawingml/2006/main">
              <a:ext uri="{FF2B5EF4-FFF2-40B4-BE49-F238E27FC236}">
                <a16:creationId xmlns:a16="http://schemas.microsoft.com/office/drawing/2014/main" id="{B6B50C3C-9FBD-4525-A5EB-D7C2AF863F01}"/>
              </a:ext>
            </a:extLst>
          </p:cNvPr>
          <p:cNvSpPr>
            <a:spLocks xmlns:a="http://schemas.openxmlformats.org/drawingml/2006/main" noGrp="1"/>
          </p:cNvSpPr>
          <p:nvPr/>
        </p:nvSpPr>
        <p:spPr>
          <a:xfrm xmlns:a="http://schemas.openxmlformats.org/drawingml/2006/main">
            <a:off x="11963400" y="4562475"/>
            <a:ext cx="55435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F4E9D2"/>
                </a:solidFill>
                <a:latin typeface="Arial"/>
                <a:ea typeface="Arial"/>
                <a:cs typeface="Arial"/>
              </a:defRPr>
            </a:pPr>
            <a:r>
              <a:rPr sz="2250" b="0">
                <a:solidFill>
                  <a:srgbClr val="F4E9D2"/>
                </a:solidFill>
                <a:latin typeface="Arial"/>
                <a:ea typeface="Arial"/>
                <a:cs typeface="Arial"/>
              </a:rPr>
              <a:t>After losing sight, enemies search the last-seen position for 1.6 seconds before returning to the tower.</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2ac609fc68cc4324"/>
          <a:stretch xmlns:a="http://schemas.openxmlformats.org/drawingml/2006/main"/>
        </p:blipFill>
        <p:spPr>
          <a:xfrm xmlns:a="http://schemas.openxmlformats.org/drawingml/2006/main">
            <a:off x="11963400" y="6620646"/>
            <a:ext cx="5676900" cy="2979784"/>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768B3327-775D-4931-87B8-83181E988FCC}"/>
              </a:ext>
            </a:extLst>
          </p:cNvPr>
          <p:cNvSpPr>
            <a:spLocks xmlns:a="http://schemas.openxmlformats.org/drawingml/2006/main" noGrp="1"/>
          </p:cNvSpPr>
          <p:nvPr/>
        </p:nvSpPr>
        <p:spPr>
          <a:xfrm xmlns:a="http://schemas.openxmlformats.org/drawingml/2006/main">
            <a:off x="11963400" y="9734550"/>
            <a:ext cx="5676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Buildings block sight and create escape routes.</a:t>
            </a:r>
          </a:p>
        </p:txBody>
      </p:sp>
      <p:sp>
        <p:nvSpPr>
          <p:cNvPr id="16" name="">
            <a:extLst xmlns:a="http://schemas.openxmlformats.org/drawingml/2006/main">
              <a:ext uri="{FF2B5EF4-FFF2-40B4-BE49-F238E27FC236}">
                <a16:creationId xmlns:a16="http://schemas.microsoft.com/office/drawing/2014/main" id="{EF96176A-8383-4469-9E45-699C5AE81F0F}"/>
              </a:ext>
            </a:extLst>
          </p:cNvPr>
          <p:cNvSpPr>
            <a:spLocks xmlns:a="http://schemas.openxmlformats.org/drawingml/2006/main" noGrp="1"/>
          </p:cNvSpPr>
          <p:nvPr/>
        </p:nvSpPr>
        <p:spPr>
          <a:xfrm xmlns:a="http://schemas.openxmlformats.org/drawingml/2006/main">
            <a:off x="647700" y="94869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Verified: sight loss, pause, timeout and reacquisition.</a:t>
            </a:r>
          </a:p>
        </p:txBody>
      </p:sp>
    </p:spTree>
    <p:extLst>
      <p:ext uri="{BB962C8B-B14F-4D97-AF65-F5344CB8AC3E}">
        <p14:creationId xmlns:p14="http://schemas.microsoft.com/office/powerpoint/2010/main" val="1738979753"/>
      </p:ext>
    </p:extLst>
  </p:cSld>
</p:sld>
</file>

<file path=ppt/slides/slide5.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7690d664d5ef484d"/>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CB3BF1D-5D82-4914-9ED9-1928B534AA6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2A439CA-1DF8-4B34-A72D-80031B7F8C97}"/>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546CB1B8-666C-4EC6-BA1E-6489346DCFE8}"/>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05 / 06</a:t>
            </a:r>
          </a:p>
        </p:txBody>
      </p:sp>
      <p:sp>
        <p:nvSpPr>
          <p:cNvPr id="5" name="">
            <a:extLst xmlns:a="http://schemas.openxmlformats.org/drawingml/2006/main">
              <a:ext uri="{FF2B5EF4-FFF2-40B4-BE49-F238E27FC236}">
                <a16:creationId xmlns:a16="http://schemas.microsoft.com/office/drawing/2014/main" id="{14E70E85-5009-485F-8969-ACA95BAD92A2}"/>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Development &amp; visual integration</a:t>
            </a:r>
          </a:p>
        </p:txBody>
      </p:sp>
      <p:sp>
        <p:nvSpPr>
          <p:cNvPr id="6" name="">
            <a:extLst xmlns:a="http://schemas.openxmlformats.org/drawingml/2006/main">
              <a:ext uri="{FF2B5EF4-FFF2-40B4-BE49-F238E27FC236}">
                <a16:creationId xmlns:a16="http://schemas.microsoft.com/office/drawing/2014/main" id="{012C2E14-5C5A-46A2-8701-11A08C3A7BB5}"/>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Solo project. Game design and development, level design, balancing, art integration and UI.</a:t>
            </a:r>
          </a:p>
        </p:txBody>
      </p:sp>
      <p:sp>
        <p:nvSpPr>
          <p:cNvPr id="7" name="">
            <a:extLst xmlns:a="http://schemas.openxmlformats.org/drawingml/2006/main">
              <a:ext uri="{FF2B5EF4-FFF2-40B4-BE49-F238E27FC236}">
                <a16:creationId xmlns:a16="http://schemas.microsoft.com/office/drawing/2014/main" id="{70808B80-8EB6-4127-B0EF-BD8DE88F5329}"/>
              </a:ext>
            </a:extLst>
          </p:cNvPr>
          <p:cNvSpPr>
            <a:spLocks xmlns:a="http://schemas.openxmlformats.org/drawingml/2006/main" noGrp="1"/>
          </p:cNvSpPr>
          <p:nvPr/>
        </p:nvSpPr>
        <p:spPr>
          <a:xfrm xmlns:a="http://schemas.openxmlformats.org/drawingml/2006/main">
            <a:off x="647700" y="2476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DEC 2025 – PRESENT</a:t>
            </a:r>
          </a:p>
        </p:txBody>
      </p:sp>
      <p:sp>
        <p:nvSpPr>
          <p:cNvPr id="8" name="">
            <a:extLst xmlns:a="http://schemas.openxmlformats.org/drawingml/2006/main">
              <a:ext uri="{FF2B5EF4-FFF2-40B4-BE49-F238E27FC236}">
                <a16:creationId xmlns:a16="http://schemas.microsoft.com/office/drawing/2014/main" id="{FB3F3A88-CA86-4734-BD19-2D70D4C92D9F}"/>
              </a:ext>
            </a:extLst>
          </p:cNvPr>
          <p:cNvSpPr>
            <a:spLocks xmlns:a="http://schemas.openxmlformats.org/drawingml/2006/main" noGrp="1"/>
          </p:cNvSpPr>
          <p:nvPr/>
        </p:nvSpPr>
        <p:spPr>
          <a:xfrm xmlns:a="http://schemas.openxmlformats.org/drawingml/2006/main">
            <a:off x="11963400" y="2476500"/>
            <a:ext cx="5572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WINDOWS PC</a:t>
            </a:r>
          </a:p>
        </p:txBody>
      </p:sp>
      <p:sp>
        <p:nvSpPr>
          <p:cNvPr id="9" name="">
            <a:extLst xmlns:a="http://schemas.openxmlformats.org/drawingml/2006/main">
              <a:ext uri="{FF2B5EF4-FFF2-40B4-BE49-F238E27FC236}">
                <a16:creationId xmlns:a16="http://schemas.microsoft.com/office/drawing/2014/main" id="{6D04D8CA-0C72-4C6F-803C-C60C3D37FEA4}"/>
              </a:ext>
            </a:extLst>
          </p:cNvPr>
          <p:cNvSpPr>
            <a:spLocks xmlns:a="http://schemas.openxmlformats.org/drawingml/2006/main" noGrp="1"/>
          </p:cNvSpPr>
          <p:nvPr/>
        </p:nvSpPr>
        <p:spPr>
          <a:xfrm xmlns:a="http://schemas.openxmlformats.org/drawingml/2006/main">
            <a:off x="647700" y="33813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TOWER PROGRESSION</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b7b64456d16e4159"/>
          <a:stretch xmlns:a="http://schemas.openxmlformats.org/drawingml/2006/main"/>
        </p:blipFill>
        <p:spPr>
          <a:xfrm xmlns:a="http://schemas.openxmlformats.org/drawingml/2006/main">
            <a:off x="742950" y="4772025"/>
            <a:ext cx="1747838" cy="23812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A393AD27-B53F-4A93-99A0-290EE47236DB}"/>
              </a:ext>
            </a:extLst>
          </p:cNvPr>
          <p:cNvSpPr>
            <a:spLocks xmlns:a="http://schemas.openxmlformats.org/drawingml/2006/main" noGrp="1"/>
          </p:cNvSpPr>
          <p:nvPr/>
        </p:nvSpPr>
        <p:spPr>
          <a:xfrm xmlns:a="http://schemas.openxmlformats.org/drawingml/2006/main">
            <a:off x="742950" y="7410450"/>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LEVEL 0</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5a034307f8c241d1"/>
          <a:stretch xmlns:a="http://schemas.openxmlformats.org/drawingml/2006/main"/>
        </p:blipFill>
        <p:spPr>
          <a:xfrm xmlns:a="http://schemas.openxmlformats.org/drawingml/2006/main">
            <a:off x="3343275" y="4486275"/>
            <a:ext cx="1922907" cy="26670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59A0D054-AD70-4692-960C-5F4350EEF3AA}"/>
              </a:ext>
            </a:extLst>
          </p:cNvPr>
          <p:cNvSpPr>
            <a:spLocks xmlns:a="http://schemas.openxmlformats.org/drawingml/2006/main" noGrp="1"/>
          </p:cNvSpPr>
          <p:nvPr/>
        </p:nvSpPr>
        <p:spPr>
          <a:xfrm xmlns:a="http://schemas.openxmlformats.org/drawingml/2006/main">
            <a:off x="3343275" y="7410450"/>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LEVEL 1</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d3659b16bf844cad"/>
          <a:stretch xmlns:a="http://schemas.openxmlformats.org/drawingml/2006/main"/>
        </p:blipFill>
        <p:spPr>
          <a:xfrm xmlns:a="http://schemas.openxmlformats.org/drawingml/2006/main">
            <a:off x="5943600" y="4200525"/>
            <a:ext cx="2081689" cy="29527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FE53098-DCC2-483F-BE03-824D14E42207}"/>
              </a:ext>
            </a:extLst>
          </p:cNvPr>
          <p:cNvSpPr>
            <a:spLocks xmlns:a="http://schemas.openxmlformats.org/drawingml/2006/main" noGrp="1"/>
          </p:cNvSpPr>
          <p:nvPr/>
        </p:nvSpPr>
        <p:spPr>
          <a:xfrm xmlns:a="http://schemas.openxmlformats.org/drawingml/2006/main">
            <a:off x="5943600" y="7410450"/>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LEVEL 2</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7bc6794e872942a0"/>
          <a:stretch xmlns:a="http://schemas.openxmlformats.org/drawingml/2006/main"/>
        </p:blipFill>
        <p:spPr>
          <a:xfrm xmlns:a="http://schemas.openxmlformats.org/drawingml/2006/main">
            <a:off x="8543925" y="3914775"/>
            <a:ext cx="2464499" cy="32385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51EA3F1B-48B2-4E10-95FC-745BF95EF6B6}"/>
              </a:ext>
            </a:extLst>
          </p:cNvPr>
          <p:cNvSpPr>
            <a:spLocks xmlns:a="http://schemas.openxmlformats.org/drawingml/2006/main" noGrp="1"/>
          </p:cNvSpPr>
          <p:nvPr/>
        </p:nvSpPr>
        <p:spPr>
          <a:xfrm xmlns:a="http://schemas.openxmlformats.org/drawingml/2006/main">
            <a:off x="8543925" y="7410450"/>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LEVEL 3</a:t>
            </a:r>
          </a:p>
        </p:txBody>
      </p:sp>
      <p:sp>
        <p:nvSpPr>
          <p:cNvPr id="18" name="">
            <a:extLst xmlns:a="http://schemas.openxmlformats.org/drawingml/2006/main">
              <a:ext uri="{FF2B5EF4-FFF2-40B4-BE49-F238E27FC236}">
                <a16:creationId xmlns:a16="http://schemas.microsoft.com/office/drawing/2014/main" id="{9A7AB051-A447-4F01-B898-1CDF69867373}"/>
              </a:ext>
            </a:extLst>
          </p:cNvPr>
          <p:cNvSpPr>
            <a:spLocks xmlns:a="http://schemas.openxmlformats.org/drawingml/2006/main" noGrp="1"/>
          </p:cNvSpPr>
          <p:nvPr/>
        </p:nvSpPr>
        <p:spPr>
          <a:xfrm xmlns:a="http://schemas.openxmlformats.org/drawingml/2006/main">
            <a:off x="647700" y="82200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RESOURCE READABILITY</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d1501cfc60394c0c"/>
          <a:stretch xmlns:a="http://schemas.openxmlformats.org/drawingml/2006/main"/>
        </p:blipFill>
        <p:spPr>
          <a:xfrm xmlns:a="http://schemas.openxmlformats.org/drawingml/2006/main">
            <a:off x="742950" y="8902802"/>
            <a:ext cx="952500" cy="768145"/>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E2123E90-E824-400C-9324-AC71FEBB66FC}"/>
              </a:ext>
            </a:extLst>
          </p:cNvPr>
          <p:cNvSpPr>
            <a:spLocks xmlns:a="http://schemas.openxmlformats.org/drawingml/2006/main" noGrp="1"/>
          </p:cNvSpPr>
          <p:nvPr/>
        </p:nvSpPr>
        <p:spPr>
          <a:xfrm xmlns:a="http://schemas.openxmlformats.org/drawingml/2006/main">
            <a:off x="1847850" y="9096375"/>
            <a:ext cx="1457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Georgia"/>
                <a:ea typeface="Georgia"/>
                <a:cs typeface="Georgia"/>
              </a:defRPr>
            </a:pPr>
            <a:r>
              <a:rPr sz="2175" b="0">
                <a:solidFill>
                  <a:srgbClr val="F4E9D2"/>
                </a:solidFill>
                <a:latin typeface="Georgia"/>
                <a:ea typeface="Georgia"/>
                <a:cs typeface="Georgia"/>
              </a:rPr>
              <a:t>Wood</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0011cd58b2b74bbd"/>
          <a:stretch xmlns:a="http://schemas.openxmlformats.org/drawingml/2006/main"/>
        </p:blipFill>
        <p:spPr>
          <a:xfrm xmlns:a="http://schemas.openxmlformats.org/drawingml/2006/main">
            <a:off x="3392073" y="8810625"/>
            <a:ext cx="950154" cy="9525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6440A5C1-A552-4B61-BC2E-23EDB50C274D}"/>
              </a:ext>
            </a:extLst>
          </p:cNvPr>
          <p:cNvSpPr>
            <a:spLocks xmlns:a="http://schemas.openxmlformats.org/drawingml/2006/main" noGrp="1"/>
          </p:cNvSpPr>
          <p:nvPr/>
        </p:nvSpPr>
        <p:spPr>
          <a:xfrm xmlns:a="http://schemas.openxmlformats.org/drawingml/2006/main">
            <a:off x="4495800" y="9096375"/>
            <a:ext cx="1457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Georgia"/>
                <a:ea typeface="Georgia"/>
                <a:cs typeface="Georgia"/>
              </a:defRPr>
            </a:pPr>
            <a:r>
              <a:rPr sz="2175" b="0">
                <a:solidFill>
                  <a:srgbClr val="F4E9D2"/>
                </a:solidFill>
                <a:latin typeface="Georgia"/>
                <a:ea typeface="Georgia"/>
                <a:cs typeface="Georgia"/>
              </a:rPr>
              <a:t>Stone</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512321cfb9244051"/>
          <a:stretch xmlns:a="http://schemas.openxmlformats.org/drawingml/2006/main"/>
        </p:blipFill>
        <p:spPr>
          <a:xfrm xmlns:a="http://schemas.openxmlformats.org/drawingml/2006/main">
            <a:off x="6038850" y="8921289"/>
            <a:ext cx="952500" cy="731172"/>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B409E07B-A981-4AB6-BC13-1BC746D2D646}"/>
              </a:ext>
            </a:extLst>
          </p:cNvPr>
          <p:cNvSpPr>
            <a:spLocks xmlns:a="http://schemas.openxmlformats.org/drawingml/2006/main" noGrp="1"/>
          </p:cNvSpPr>
          <p:nvPr/>
        </p:nvSpPr>
        <p:spPr>
          <a:xfrm xmlns:a="http://schemas.openxmlformats.org/drawingml/2006/main">
            <a:off x="7143750" y="9096375"/>
            <a:ext cx="1457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Georgia"/>
                <a:ea typeface="Georgia"/>
                <a:cs typeface="Georgia"/>
              </a:defRPr>
            </a:pPr>
            <a:r>
              <a:rPr sz="2175" b="0">
                <a:solidFill>
                  <a:srgbClr val="F4E9D2"/>
                </a:solidFill>
                <a:latin typeface="Georgia"/>
                <a:ea typeface="Georgia"/>
                <a:cs typeface="Georgia"/>
              </a:rPr>
              <a:t>Gel</a:t>
            </a:r>
          </a:p>
        </p:txBody>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840e043ace8547f5"/>
          <a:stretch xmlns:a="http://schemas.openxmlformats.org/drawingml/2006/main"/>
        </p:blipFill>
        <p:spPr>
          <a:xfrm xmlns:a="http://schemas.openxmlformats.org/drawingml/2006/main">
            <a:off x="8686800" y="8832582"/>
            <a:ext cx="952500" cy="908587"/>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78DE3C91-B47D-4088-9F97-93504CF4F7CD}"/>
              </a:ext>
            </a:extLst>
          </p:cNvPr>
          <p:cNvSpPr>
            <a:spLocks xmlns:a="http://schemas.openxmlformats.org/drawingml/2006/main" noGrp="1"/>
          </p:cNvSpPr>
          <p:nvPr/>
        </p:nvSpPr>
        <p:spPr>
          <a:xfrm xmlns:a="http://schemas.openxmlformats.org/drawingml/2006/main">
            <a:off x="9791700" y="9096375"/>
            <a:ext cx="1457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Georgia"/>
                <a:ea typeface="Georgia"/>
                <a:cs typeface="Georgia"/>
              </a:defRPr>
            </a:pPr>
            <a:r>
              <a:rPr sz="2175" b="0">
                <a:solidFill>
                  <a:srgbClr val="F4E9D2"/>
                </a:solidFill>
                <a:latin typeface="Georgia"/>
                <a:ea typeface="Georgia"/>
                <a:cs typeface="Georgia"/>
              </a:rPr>
              <a:t>Teeth</a:t>
            </a:r>
          </a:p>
        </p:txBody>
      </p:sp>
      <p:sp>
        <p:nvSpPr>
          <p:cNvPr id="27" name="">
            <a:extLst xmlns:a="http://schemas.openxmlformats.org/drawingml/2006/main">
              <a:ext uri="{FF2B5EF4-FFF2-40B4-BE49-F238E27FC236}">
                <a16:creationId xmlns:a16="http://schemas.microsoft.com/office/drawing/2014/main" id="{79F07226-C30A-4409-B7FF-4E3B0F77FE7C}"/>
              </a:ext>
            </a:extLst>
          </p:cNvPr>
          <p:cNvSpPr>
            <a:spLocks xmlns:a="http://schemas.openxmlformats.org/drawingml/2006/main" noGrp="1"/>
          </p:cNvSpPr>
          <p:nvPr/>
        </p:nvSpPr>
        <p:spPr>
          <a:xfrm xmlns:a="http://schemas.openxmlformats.org/drawingml/2006/main">
            <a:off x="11963400" y="3381375"/>
            <a:ext cx="5572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DEVELOPMENT PROCESS</a:t>
            </a:r>
          </a:p>
        </p:txBody>
      </p:sp>
      <p:sp>
        <p:nvSpPr>
          <p:cNvPr id="28" name="">
            <a:extLst xmlns:a="http://schemas.openxmlformats.org/drawingml/2006/main">
              <a:ext uri="{FF2B5EF4-FFF2-40B4-BE49-F238E27FC236}">
                <a16:creationId xmlns:a16="http://schemas.microsoft.com/office/drawing/2014/main" id="{D6AC2832-DAFD-466B-9ED7-B5FC44A98DD9}"/>
              </a:ext>
            </a:extLst>
          </p:cNvPr>
          <p:cNvSpPr>
            <a:spLocks xmlns:a="http://schemas.openxmlformats.org/drawingml/2006/main" noGrp="1"/>
          </p:cNvSpPr>
          <p:nvPr/>
        </p:nvSpPr>
        <p:spPr>
          <a:xfrm xmlns:a="http://schemas.openxmlformats.org/drawingml/2006/main">
            <a:off x="11963400" y="4000500"/>
            <a:ext cx="5619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0">
                <a:solidFill>
                  <a:srgbClr val="F4E9D2"/>
                </a:solidFill>
                <a:latin typeface="Georgia"/>
                <a:ea typeface="Georgia"/>
                <a:cs typeface="Georgia"/>
              </a:defRPr>
            </a:pPr>
            <a:r>
              <a:rPr sz="2700" b="0">
                <a:solidFill>
                  <a:srgbClr val="F4E9D2"/>
                </a:solidFill>
                <a:latin typeface="Georgia"/>
                <a:ea typeface="Georgia"/>
                <a:cs typeface="Georgia"/>
              </a:rPr>
              <a:t>01  Prototype</a:t>
            </a:r>
          </a:p>
        </p:txBody>
      </p:sp>
      <p:sp>
        <p:nvSpPr>
          <p:cNvPr id="29" name="">
            <a:extLst xmlns:a="http://schemas.openxmlformats.org/drawingml/2006/main">
              <a:ext uri="{FF2B5EF4-FFF2-40B4-BE49-F238E27FC236}">
                <a16:creationId xmlns:a16="http://schemas.microsoft.com/office/drawing/2014/main" id="{A439320C-D4EF-4FFD-B9D4-85E76D7E2AC3}"/>
              </a:ext>
            </a:extLst>
          </p:cNvPr>
          <p:cNvSpPr>
            <a:spLocks xmlns:a="http://schemas.openxmlformats.org/drawingml/2006/main" noGrp="1"/>
          </p:cNvSpPr>
          <p:nvPr/>
        </p:nvSpPr>
        <p:spPr>
          <a:xfrm xmlns:a="http://schemas.openxmlformats.org/drawingml/2006/main">
            <a:off x="11963400" y="4657725"/>
            <a:ext cx="5524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Arial"/>
                <a:ea typeface="Arial"/>
                <a:cs typeface="Arial"/>
              </a:defRPr>
            </a:pPr>
            <a:r>
              <a:rPr sz="2175" b="0">
                <a:solidFill>
                  <a:srgbClr val="F4E9D2"/>
                </a:solidFill>
                <a:latin typeface="Arial"/>
                <a:ea typeface="Arial"/>
                <a:cs typeface="Arial"/>
              </a:rPr>
              <a:t>Movement, resources, tower upgrades and authored enemy waves.</a:t>
            </a:r>
          </a:p>
        </p:txBody>
      </p:sp>
      <p:sp>
        <p:nvSpPr>
          <p:cNvPr id="30" name="">
            <a:extLst xmlns:a="http://schemas.openxmlformats.org/drawingml/2006/main">
              <a:ext uri="{FF2B5EF4-FFF2-40B4-BE49-F238E27FC236}">
                <a16:creationId xmlns:a16="http://schemas.microsoft.com/office/drawing/2014/main" id="{CC566FBD-EC18-4954-A038-1F0A92CBCAA3}"/>
              </a:ext>
            </a:extLst>
          </p:cNvPr>
          <p:cNvSpPr>
            <a:spLocks xmlns:a="http://schemas.openxmlformats.org/drawingml/2006/main" noGrp="1"/>
          </p:cNvSpPr>
          <p:nvPr/>
        </p:nvSpPr>
        <p:spPr>
          <a:xfrm xmlns:a="http://schemas.openxmlformats.org/drawingml/2006/main">
            <a:off x="11963400" y="5819775"/>
            <a:ext cx="5619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0">
                <a:solidFill>
                  <a:srgbClr val="F4E9D2"/>
                </a:solidFill>
                <a:latin typeface="Georgia"/>
                <a:ea typeface="Georgia"/>
                <a:cs typeface="Georgia"/>
              </a:defRPr>
            </a:pPr>
            <a:r>
              <a:rPr sz="2700" b="0">
                <a:solidFill>
                  <a:srgbClr val="F4E9D2"/>
                </a:solidFill>
                <a:latin typeface="Georgia"/>
                <a:ea typeface="Georgia"/>
                <a:cs typeface="Georgia"/>
              </a:rPr>
              <a:t>02  Integrate</a:t>
            </a:r>
          </a:p>
        </p:txBody>
      </p:sp>
      <p:sp>
        <p:nvSpPr>
          <p:cNvPr id="31" name="">
            <a:extLst xmlns:a="http://schemas.openxmlformats.org/drawingml/2006/main">
              <a:ext uri="{FF2B5EF4-FFF2-40B4-BE49-F238E27FC236}">
                <a16:creationId xmlns:a16="http://schemas.microsoft.com/office/drawing/2014/main" id="{1C09A7ED-3197-45D4-894A-425FD5D59846}"/>
              </a:ext>
            </a:extLst>
          </p:cNvPr>
          <p:cNvSpPr>
            <a:spLocks xmlns:a="http://schemas.openxmlformats.org/drawingml/2006/main" noGrp="1"/>
          </p:cNvSpPr>
          <p:nvPr/>
        </p:nvSpPr>
        <p:spPr>
          <a:xfrm xmlns:a="http://schemas.openxmlformats.org/drawingml/2006/main">
            <a:off x="11963400" y="6477000"/>
            <a:ext cx="5524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Arial"/>
                <a:ea typeface="Arial"/>
                <a:cs typeface="Arial"/>
              </a:defRPr>
            </a:pPr>
            <a:r>
              <a:rPr sz="2175" b="0">
                <a:solidFill>
                  <a:srgbClr val="F4E9D2"/>
                </a:solidFill>
                <a:latin typeface="Arial"/>
                <a:ea typeface="Arial"/>
                <a:cs typeface="Arial"/>
              </a:rPr>
              <a:t>Import transparent sprites. Align tower pivots and keep pixel filtering consistent.</a:t>
            </a:r>
          </a:p>
        </p:txBody>
      </p:sp>
      <p:sp>
        <p:nvSpPr>
          <p:cNvPr id="32" name="">
            <a:extLst xmlns:a="http://schemas.openxmlformats.org/drawingml/2006/main">
              <a:ext uri="{FF2B5EF4-FFF2-40B4-BE49-F238E27FC236}">
                <a16:creationId xmlns:a16="http://schemas.microsoft.com/office/drawing/2014/main" id="{1E3D54E1-7854-43C1-90F5-C8B6F5074C3F}"/>
              </a:ext>
            </a:extLst>
          </p:cNvPr>
          <p:cNvSpPr>
            <a:spLocks xmlns:a="http://schemas.openxmlformats.org/drawingml/2006/main" noGrp="1"/>
          </p:cNvSpPr>
          <p:nvPr/>
        </p:nvSpPr>
        <p:spPr>
          <a:xfrm xmlns:a="http://schemas.openxmlformats.org/drawingml/2006/main">
            <a:off x="11963400" y="7639050"/>
            <a:ext cx="5619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0">
                <a:solidFill>
                  <a:srgbClr val="F4E9D2"/>
                </a:solidFill>
                <a:latin typeface="Georgia"/>
                <a:ea typeface="Georgia"/>
                <a:cs typeface="Georgia"/>
              </a:defRPr>
            </a:pPr>
            <a:r>
              <a:rPr sz="2700" b="0">
                <a:solidFill>
                  <a:srgbClr val="F4E9D2"/>
                </a:solidFill>
                <a:latin typeface="Georgia"/>
                <a:ea typeface="Georgia"/>
                <a:cs typeface="Georgia"/>
              </a:rPr>
              <a:t>03  Refine</a:t>
            </a:r>
          </a:p>
        </p:txBody>
      </p:sp>
      <p:sp>
        <p:nvSpPr>
          <p:cNvPr id="33" name="">
            <a:extLst xmlns:a="http://schemas.openxmlformats.org/drawingml/2006/main">
              <a:ext uri="{FF2B5EF4-FFF2-40B4-BE49-F238E27FC236}">
                <a16:creationId xmlns:a16="http://schemas.microsoft.com/office/drawing/2014/main" id="{822C13DC-8586-49A7-84F4-F7A413D7C90C}"/>
              </a:ext>
            </a:extLst>
          </p:cNvPr>
          <p:cNvSpPr>
            <a:spLocks xmlns:a="http://schemas.openxmlformats.org/drawingml/2006/main" noGrp="1"/>
          </p:cNvSpPr>
          <p:nvPr/>
        </p:nvSpPr>
        <p:spPr>
          <a:xfrm xmlns:a="http://schemas.openxmlformats.org/drawingml/2006/main">
            <a:off x="11963400" y="8296275"/>
            <a:ext cx="5524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4E9D2"/>
                </a:solidFill>
                <a:latin typeface="Arial"/>
                <a:ea typeface="Arial"/>
                <a:cs typeface="Arial"/>
              </a:defRPr>
            </a:pPr>
            <a:r>
              <a:rPr sz="2175" b="0">
                <a:solidFill>
                  <a:srgbClr val="F4E9D2"/>
                </a:solidFill>
                <a:latin typeface="Arial"/>
                <a:ea typeface="Arial"/>
                <a:cs typeface="Arial"/>
              </a:rPr>
              <a:t>Tune navigation, warning effects, bilingual UI and the full game loop.</a:t>
            </a:r>
          </a:p>
        </p:txBody>
      </p:sp>
    </p:spTree>
    <p:extLst>
      <p:ext uri="{BB962C8B-B14F-4D97-AF65-F5344CB8AC3E}">
        <p14:creationId xmlns:p14="http://schemas.microsoft.com/office/powerpoint/2010/main" val="1430562761"/>
      </p:ext>
    </p:extLst>
  </p:cSld>
</p:sld>
</file>

<file path=ppt/slides/slide6.xml><?xml version="1.0" encoding="utf-8"?>
<p:sld xmlns:p="http://schemas.openxmlformats.org/presentationml/2006/main">
  <p:cSld>
    <p:bg>
      <p:bgPr>
        <a:solidFill xmlns:a="http://schemas.openxmlformats.org/drawingml/2006/main">
          <a:srgbClr val="071116"/>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720c0a72b444f54"/>
          <a:srcRect xmlns:a="http://schemas.openxmlformats.org/drawingml/2006/main" l="0" t="0" r="0" b="0"/>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FD42F75-1371-45F0-BBBF-BD88A3B2543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71116">
              <a:alpha val="95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D795F5D-C9FB-484B-AD4B-7C9D2FCF391F}"/>
              </a:ext>
            </a:extLst>
          </p:cNvPr>
          <p:cNvSpPr>
            <a:spLocks xmlns:a="http://schemas.openxmlformats.org/drawingml/2006/main" noGrp="1"/>
          </p:cNvSpPr>
          <p:nvPr/>
        </p:nvSpPr>
        <p:spPr>
          <a:xfrm xmlns:a="http://schemas.openxmlformats.org/drawingml/2006/main">
            <a:off x="647700" y="3429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TOXICBARRIER / PERSONAL PORTFOLIO</a:t>
            </a:r>
          </a:p>
        </p:txBody>
      </p:sp>
      <p:sp>
        <p:nvSpPr>
          <p:cNvPr id="4" name="">
            <a:extLst xmlns:a="http://schemas.openxmlformats.org/drawingml/2006/main">
              <a:ext uri="{FF2B5EF4-FFF2-40B4-BE49-F238E27FC236}">
                <a16:creationId xmlns:a16="http://schemas.microsoft.com/office/drawing/2014/main" id="{0E0DAA13-F308-48F6-88C1-FF69EBA29A23}"/>
              </a:ext>
            </a:extLst>
          </p:cNvPr>
          <p:cNvSpPr>
            <a:spLocks xmlns:a="http://schemas.openxmlformats.org/drawingml/2006/main" noGrp="1"/>
          </p:cNvSpPr>
          <p:nvPr/>
        </p:nvSpPr>
        <p:spPr>
          <a:xfrm xmlns:a="http://schemas.openxmlformats.org/drawingml/2006/main">
            <a:off x="16097250" y="3429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E8B66B"/>
                </a:solidFill>
                <a:latin typeface="Arial"/>
                <a:ea typeface="Arial"/>
                <a:cs typeface="Arial"/>
              </a:defRPr>
            </a:pPr>
            <a:r>
              <a:rPr sz="1725" b="0">
                <a:solidFill>
                  <a:srgbClr val="E8B66B"/>
                </a:solidFill>
                <a:latin typeface="Arial"/>
                <a:ea typeface="Arial"/>
                <a:cs typeface="Arial"/>
              </a:rPr>
              <a:t>06 / 06</a:t>
            </a:r>
          </a:p>
        </p:txBody>
      </p:sp>
      <p:sp>
        <p:nvSpPr>
          <p:cNvPr id="5" name="">
            <a:extLst xmlns:a="http://schemas.openxmlformats.org/drawingml/2006/main">
              <a:ext uri="{FF2B5EF4-FFF2-40B4-BE49-F238E27FC236}">
                <a16:creationId xmlns:a16="http://schemas.microsoft.com/office/drawing/2014/main" id="{AE97ED34-537F-463E-8D0F-9645641D730E}"/>
              </a:ext>
            </a:extLst>
          </p:cNvPr>
          <p:cNvSpPr>
            <a:spLocks xmlns:a="http://schemas.openxmlformats.org/drawingml/2006/main" noGrp="1"/>
          </p:cNvSpPr>
          <p:nvPr/>
        </p:nvSpPr>
        <p:spPr>
          <a:xfrm xmlns:a="http://schemas.openxmlformats.org/drawingml/2006/main">
            <a:off x="647700" y="885825"/>
            <a:ext cx="1666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0">
                <a:solidFill>
                  <a:srgbClr val="F4E9D2"/>
                </a:solidFill>
                <a:latin typeface="Georgia"/>
                <a:ea typeface="Georgia"/>
                <a:cs typeface="Georgia"/>
              </a:defRPr>
            </a:pPr>
            <a:r>
              <a:rPr sz="4575" b="0">
                <a:solidFill>
                  <a:srgbClr val="F4E9D2"/>
                </a:solidFill>
                <a:latin typeface="Georgia"/>
                <a:ea typeface="Georgia"/>
                <a:cs typeface="Georgia"/>
              </a:rPr>
              <a:t>Game gallery &amp; presentation</a:t>
            </a:r>
          </a:p>
        </p:txBody>
      </p:sp>
      <p:sp>
        <p:nvSpPr>
          <p:cNvPr id="6" name="">
            <a:extLst xmlns:a="http://schemas.openxmlformats.org/drawingml/2006/main">
              <a:ext uri="{FF2B5EF4-FFF2-40B4-BE49-F238E27FC236}">
                <a16:creationId xmlns:a16="http://schemas.microsoft.com/office/drawing/2014/main" id="{8406D227-644E-40DF-AA3B-C5C4B7E1F97C}"/>
              </a:ext>
            </a:extLst>
          </p:cNvPr>
          <p:cNvSpPr>
            <a:spLocks xmlns:a="http://schemas.openxmlformats.org/drawingml/2006/main" noGrp="1"/>
          </p:cNvSpPr>
          <p:nvPr/>
        </p:nvSpPr>
        <p:spPr>
          <a:xfrm xmlns:a="http://schemas.openxmlformats.org/drawingml/2006/main">
            <a:off x="647700" y="1762125"/>
            <a:ext cx="1666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From the first menu to the final defense. English and Chinese interface settings remain available.</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8f0eda14e4e847e3"/>
          <a:stretch xmlns:a="http://schemas.openxmlformats.org/drawingml/2006/main"/>
        </p:blipFill>
        <p:spPr>
          <a:xfrm xmlns:a="http://schemas.openxmlformats.org/drawingml/2006/main">
            <a:off x="647700" y="2509166"/>
            <a:ext cx="5410200" cy="2839794"/>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2505EEB-53F5-456C-93E6-0AD394E60592}"/>
              </a:ext>
            </a:extLst>
          </p:cNvPr>
          <p:cNvSpPr>
            <a:spLocks xmlns:a="http://schemas.openxmlformats.org/drawingml/2006/main" noGrp="1"/>
          </p:cNvSpPr>
          <p:nvPr/>
        </p:nvSpPr>
        <p:spPr>
          <a:xfrm xmlns:a="http://schemas.openxmlformats.org/drawingml/2006/main">
            <a:off x="647700" y="5543550"/>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Main menu</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f473178a833a49cd"/>
          <a:stretch xmlns:a="http://schemas.openxmlformats.org/drawingml/2006/main"/>
        </p:blipFill>
        <p:spPr>
          <a:xfrm xmlns:a="http://schemas.openxmlformats.org/drawingml/2006/main">
            <a:off x="6419850" y="2509166"/>
            <a:ext cx="5410200" cy="2839794"/>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A1DB049-ADF5-4017-9D06-81AD70410D4A}"/>
              </a:ext>
            </a:extLst>
          </p:cNvPr>
          <p:cNvSpPr>
            <a:spLocks xmlns:a="http://schemas.openxmlformats.org/drawingml/2006/main" noGrp="1"/>
          </p:cNvSpPr>
          <p:nvPr/>
        </p:nvSpPr>
        <p:spPr>
          <a:xfrm xmlns:a="http://schemas.openxmlformats.org/drawingml/2006/main">
            <a:off x="6419850" y="5543550"/>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Upgrade feedback</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f57f007b4a84e34"/>
          <a:stretch xmlns:a="http://schemas.openxmlformats.org/drawingml/2006/main"/>
        </p:blipFill>
        <p:spPr>
          <a:xfrm xmlns:a="http://schemas.openxmlformats.org/drawingml/2006/main">
            <a:off x="12192000" y="2509166"/>
            <a:ext cx="5410200" cy="2839794"/>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5D85973-A2E4-4F66-BB2A-2A8D5D489F79}"/>
              </a:ext>
            </a:extLst>
          </p:cNvPr>
          <p:cNvSpPr>
            <a:spLocks xmlns:a="http://schemas.openxmlformats.org/drawingml/2006/main" noGrp="1"/>
          </p:cNvSpPr>
          <p:nvPr/>
        </p:nvSpPr>
        <p:spPr>
          <a:xfrm xmlns:a="http://schemas.openxmlformats.org/drawingml/2006/main">
            <a:off x="12192000" y="5543550"/>
            <a:ext cx="5410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All three regions reclaimed</a:t>
            </a:r>
          </a:p>
        </p:txBody>
      </p:sp>
      <p:sp>
        <p:nvSpPr>
          <p:cNvPr id="13" name="">
            <a:extLst xmlns:a="http://schemas.openxmlformats.org/drawingml/2006/main">
              <a:ext uri="{FF2B5EF4-FFF2-40B4-BE49-F238E27FC236}">
                <a16:creationId xmlns:a16="http://schemas.microsoft.com/office/drawing/2014/main" id="{EA2971A5-A6D5-41F3-AED3-82C884322E3A}"/>
              </a:ext>
            </a:extLst>
          </p:cNvPr>
          <p:cNvSpPr>
            <a:spLocks xmlns:a="http://schemas.openxmlformats.org/drawingml/2006/main" noGrp="1"/>
          </p:cNvSpPr>
          <p:nvPr/>
        </p:nvSpPr>
        <p:spPr>
          <a:xfrm xmlns:a="http://schemas.openxmlformats.org/drawingml/2006/main">
            <a:off x="647700" y="6057900"/>
            <a:ext cx="657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PROMOTIONAL VIDEO / 1–2 MIN</a:t>
            </a:r>
          </a:p>
        </p:txBody>
      </p:sp>
      <p:sp>
        <p:nvSpPr>
          <p:cNvPr id="14" name="">
            <a:extLst xmlns:a="http://schemas.openxmlformats.org/drawingml/2006/main">
              <a:ext uri="{FF2B5EF4-FFF2-40B4-BE49-F238E27FC236}">
                <a16:creationId xmlns:a16="http://schemas.microsoft.com/office/drawing/2014/main" id="{31E10834-D58C-48FB-A440-0724FAF36617}"/>
              </a:ext>
            </a:extLst>
          </p:cNvPr>
          <p:cNvSpPr>
            <a:spLocks xmlns:a="http://schemas.openxmlformats.org/drawingml/2006/main" noGrp="1"/>
          </p:cNvSpPr>
          <p:nvPr/>
        </p:nvSpPr>
        <p:spPr>
          <a:xfrm xmlns:a="http://schemas.openxmlformats.org/drawingml/2006/main">
            <a:off x="647700" y="6562725"/>
            <a:ext cx="6096000" cy="3429000"/>
          </a:xfrm>
          <a:prstGeom xmlns:a="http://schemas.openxmlformats.org/drawingml/2006/main" prst="rect">
            <a:avLst/>
          </a:prstGeom>
          <a:solidFill xmlns:a="http://schemas.openxmlformats.org/drawingml/2006/main">
            <a:srgbClr val="071116">
              <a:alpha val="70000"/>
            </a:srgbClr>
          </a:solidFill>
          <a:ln xmlns:a="http://schemas.openxmlformats.org/drawingml/2006/main" w="11430">
            <a:solidFill>
              <a:srgbClr val="53676B"/>
            </a:solidFill>
          </a:ln>
        </p:spPr>
      </p:sp>
      <p:sp>
        <p:nvSpPr>
          <p:cNvPr id="15" name="">
            <a:extLst xmlns:a="http://schemas.openxmlformats.org/drawingml/2006/main">
              <a:ext uri="{FF2B5EF4-FFF2-40B4-BE49-F238E27FC236}">
                <a16:creationId xmlns:a16="http://schemas.microsoft.com/office/drawing/2014/main" id="{06DA981C-784E-45A1-B58E-EEEAF12E3640}"/>
              </a:ext>
            </a:extLst>
          </p:cNvPr>
          <p:cNvSpPr>
            <a:spLocks xmlns:a="http://schemas.openxmlformats.org/drawingml/2006/main" noGrp="1"/>
          </p:cNvSpPr>
          <p:nvPr/>
        </p:nvSpPr>
        <p:spPr>
          <a:xfrm xmlns:a="http://schemas.openxmlformats.org/drawingml/2006/main">
            <a:off x="3048000" y="80676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Video slot</a:t>
            </a:r>
          </a:p>
        </p:txBody>
      </p:sp>
      <p:sp>
        <p:nvSpPr>
          <p:cNvPr id="16" name="">
            <a:extLst xmlns:a="http://schemas.openxmlformats.org/drawingml/2006/main">
              <a:ext uri="{FF2B5EF4-FFF2-40B4-BE49-F238E27FC236}">
                <a16:creationId xmlns:a16="http://schemas.microsoft.com/office/drawing/2014/main" id="{118D3023-70B9-4D2F-AD49-77EE5384B3FF}"/>
              </a:ext>
            </a:extLst>
          </p:cNvPr>
          <p:cNvSpPr>
            <a:spLocks xmlns:a="http://schemas.openxmlformats.org/drawingml/2006/main" noGrp="1"/>
          </p:cNvSpPr>
          <p:nvPr/>
        </p:nvSpPr>
        <p:spPr>
          <a:xfrm xmlns:a="http://schemas.openxmlformats.org/drawingml/2006/main">
            <a:off x="7524750" y="6057900"/>
            <a:ext cx="10115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PLAYER PLAYTEST</a:t>
            </a:r>
          </a:p>
        </p:txBody>
      </p:sp>
      <p:sp>
        <p:nvSpPr>
          <p:cNvPr id="17" name="">
            <a:extLst xmlns:a="http://schemas.openxmlformats.org/drawingml/2006/main">
              <a:ext uri="{FF2B5EF4-FFF2-40B4-BE49-F238E27FC236}">
                <a16:creationId xmlns:a16="http://schemas.microsoft.com/office/drawing/2014/main" id="{2825219D-086A-47E4-A4DE-8EC7E3F4B800}"/>
              </a:ext>
            </a:extLst>
          </p:cNvPr>
          <p:cNvSpPr>
            <a:spLocks xmlns:a="http://schemas.openxmlformats.org/drawingml/2006/main" noGrp="1"/>
          </p:cNvSpPr>
          <p:nvPr/>
        </p:nvSpPr>
        <p:spPr>
          <a:xfrm xmlns:a="http://schemas.openxmlformats.org/drawingml/2006/main">
            <a:off x="7524750" y="6562725"/>
            <a:ext cx="10115550" cy="2190750"/>
          </a:xfrm>
          <a:prstGeom xmlns:a="http://schemas.openxmlformats.org/drawingml/2006/main" prst="rect">
            <a:avLst/>
          </a:prstGeom>
          <a:solidFill xmlns:a="http://schemas.openxmlformats.org/drawingml/2006/main">
            <a:srgbClr val="071116">
              <a:alpha val="70000"/>
            </a:srgbClr>
          </a:solidFill>
          <a:ln xmlns:a="http://schemas.openxmlformats.org/drawingml/2006/main" w="11430">
            <a:solidFill>
              <a:srgbClr val="53676B"/>
            </a:solidFill>
          </a:ln>
        </p:spPr>
      </p:sp>
      <p:sp>
        <p:nvSpPr>
          <p:cNvPr id="18" name="">
            <a:extLst xmlns:a="http://schemas.openxmlformats.org/drawingml/2006/main">
              <a:ext uri="{FF2B5EF4-FFF2-40B4-BE49-F238E27FC236}">
                <a16:creationId xmlns:a16="http://schemas.microsoft.com/office/drawing/2014/main" id="{CF915BAA-7612-4D06-AF1F-12318488E4DC}"/>
              </a:ext>
            </a:extLst>
          </p:cNvPr>
          <p:cNvSpPr>
            <a:spLocks xmlns:a="http://schemas.openxmlformats.org/drawingml/2006/main" noGrp="1"/>
          </p:cNvSpPr>
          <p:nvPr/>
        </p:nvSpPr>
        <p:spPr>
          <a:xfrm xmlns:a="http://schemas.openxmlformats.org/drawingml/2006/main">
            <a:off x="7524750" y="9286875"/>
            <a:ext cx="2905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8B66B"/>
                </a:solidFill>
                <a:latin typeface="Arial"/>
                <a:ea typeface="Arial"/>
                <a:cs typeface="Arial"/>
              </a:defRPr>
            </a:pPr>
            <a:r>
              <a:rPr sz="1800" b="1">
                <a:solidFill>
                  <a:srgbClr val="E8B66B"/>
                </a:solidFill>
                <a:latin typeface="Arial"/>
                <a:ea typeface="Arial"/>
                <a:cs typeface="Arial"/>
              </a:rPr>
              <a:t>THE ROOKIES</a:t>
            </a:r>
          </a:p>
        </p:txBody>
      </p:sp>
      <p:sp>
        <p:nvSpPr>
          <p:cNvPr id="19" name="">
            <a:extLst xmlns:a="http://schemas.openxmlformats.org/drawingml/2006/main">
              <a:ext uri="{FF2B5EF4-FFF2-40B4-BE49-F238E27FC236}">
                <a16:creationId xmlns:a16="http://schemas.microsoft.com/office/drawing/2014/main" id="{66F200FD-D2BF-4A65-9D11-43E640F80C02}"/>
              </a:ext>
            </a:extLst>
          </p:cNvPr>
          <p:cNvSpPr>
            <a:spLocks xmlns:a="http://schemas.openxmlformats.org/drawingml/2006/main" noGrp="1"/>
          </p:cNvSpPr>
          <p:nvPr/>
        </p:nvSpPr>
        <p:spPr>
          <a:xfrm xmlns:a="http://schemas.openxmlformats.org/drawingml/2006/main">
            <a:off x="10953750" y="9286875"/>
            <a:ext cx="666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B9C4C5"/>
                </a:solidFill>
                <a:latin typeface="Arial"/>
                <a:ea typeface="Arial"/>
                <a:cs typeface="Arial"/>
              </a:defRPr>
            </a:pPr>
            <a:r>
              <a:rPr sz="1875" b="0">
                <a:solidFill>
                  <a:srgbClr val="B9C4C5"/>
                </a:solidFill>
                <a:latin typeface="Arial"/>
                <a:ea typeface="Arial"/>
                <a:cs typeface="Arial"/>
              </a:rPr>
              <a:t>Project page pending</a:t>
            </a:r>
          </a:p>
        </p:txBody>
      </p:sp>
    </p:spTree>
    <p:extLst>
      <p:ext uri="{BB962C8B-B14F-4D97-AF65-F5344CB8AC3E}">
        <p14:creationId xmlns:p14="http://schemas.microsoft.com/office/powerpoint/2010/main" val="17604282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2026-09-20T14:38:32.8170000Z</dcterms:created>
  <dcterms:modified xsi:type="dcterms:W3CDTF">2026-09-20T14:38:32.8170000Z</dcterms:modified>
</coreProperties>
</file>
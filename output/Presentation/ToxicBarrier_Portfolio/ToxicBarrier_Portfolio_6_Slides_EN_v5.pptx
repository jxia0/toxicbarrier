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094df3574d4136" /><Relationship Type="http://schemas.openxmlformats.org/officeDocument/2006/relationships/extended-properties" Target="/docProps/app.xml" Id="R4f2776ba83294c8c" /><Relationship Type="http://schemas.openxmlformats.org/officeDocument/2006/relationships/officeDocument" Target="/ppt/presentation.xml" Id="Re786364c87da42c9" /></Relationships>
</file>

<file path=ppt/presentation.xml><?xml version="1.0" encoding="utf-8"?>
<p:presentation xmlns:p="http://schemas.openxmlformats.org/presentationml/2006/main">
  <p:sldMasterIdLst>
    <p:sldMasterId xmlns:r="http://schemas.openxmlformats.org/officeDocument/2006/relationships" id="2147483648" r:id="Rdea98d16b58e4323"/>
  </p:sldMasterIdLst>
  <p:notesMasterIdLst>
    <p:notesMasterId xmlns:r="http://schemas.openxmlformats.org/officeDocument/2006/relationships" r:id="R46bccc63f6aa44b4"/>
  </p:notesMasterIdLst>
  <p:sldIdLst>
    <p:sldId xmlns:r="http://schemas.openxmlformats.org/officeDocument/2006/relationships" id="256" r:id="Rd181f30f28a147d6"/>
    <p:sldId xmlns:r="http://schemas.openxmlformats.org/officeDocument/2006/relationships" id="257" r:id="R8cb0b8808cc94ab2"/>
    <p:sldId xmlns:r="http://schemas.openxmlformats.org/officeDocument/2006/relationships" id="258" r:id="R4693121947f647f4"/>
    <p:sldId xmlns:r="http://schemas.openxmlformats.org/officeDocument/2006/relationships" id="259" r:id="R1d0ba86449014bc9"/>
    <p:sldId xmlns:r="http://schemas.openxmlformats.org/officeDocument/2006/relationships" id="260" r:id="R2c55f5d83f3f48ed"/>
    <p:sldId xmlns:r="http://schemas.openxmlformats.org/officeDocument/2006/relationships" id="261" r:id="R3b1932a3a2d9468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bf79e5ac4e43a6" /><Relationship Type="http://schemas.openxmlformats.org/officeDocument/2006/relationships/slideMaster" Target="/ppt/slideMasters/slideMaster1.xml" Id="Rdea98d16b58e4323" /><Relationship Type="http://schemas.openxmlformats.org/officeDocument/2006/relationships/notesMaster" Target="/ppt/notesMasters/notesMaster1.xml" Id="R46bccc63f6aa44b4" /><Relationship Type="http://schemas.openxmlformats.org/officeDocument/2006/relationships/presProps" Target="/ppt/presProps.xml" Id="R0ccfc0e1ede5416d" /><Relationship Type="http://schemas.openxmlformats.org/officeDocument/2006/relationships/tableStyles" Target="/ppt/tableStyles.xml" Id="Re6a7882234f54b4f" /><Relationship Type="http://schemas.openxmlformats.org/officeDocument/2006/relationships/slide" Target="/ppt/slides/slide1.xml" Id="Rd181f30f28a147d6" /><Relationship Type="http://schemas.openxmlformats.org/officeDocument/2006/relationships/slide" Target="/ppt/slides/slide2.xml" Id="R8cb0b8808cc94ab2" /><Relationship Type="http://schemas.openxmlformats.org/officeDocument/2006/relationships/slide" Target="/ppt/slides/slide3.xml" Id="R4693121947f647f4" /><Relationship Type="http://schemas.openxmlformats.org/officeDocument/2006/relationships/slide" Target="/ppt/slides/slide4.xml" Id="R1d0ba86449014bc9" /><Relationship Type="http://schemas.openxmlformats.org/officeDocument/2006/relationships/slide" Target="/ppt/slides/slide5.xml" Id="R2c55f5d83f3f48ed" /><Relationship Type="http://schemas.openxmlformats.org/officeDocument/2006/relationships/slide" Target="/ppt/slides/slide6.xml" Id="R3b1932a3a2d946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c46c73fa2549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6813e90b484c84" /><Relationship Type="http://schemas.openxmlformats.org/officeDocument/2006/relationships/notesMaster" Target="/ppt/notesMasters/notesMaster1.xml" Id="R1a63850a83d447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3bf7d101194526" /><Relationship Type="http://schemas.openxmlformats.org/officeDocument/2006/relationships/notesMaster" Target="/ppt/notesMasters/notesMaster1.xml" Id="Rbb8df138305440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5fe18cc78a4422" /><Relationship Type="http://schemas.openxmlformats.org/officeDocument/2006/relationships/notesMaster" Target="/ppt/notesMasters/notesMaster1.xml" Id="R56b6450a151f43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2f9fb0f7584c89" /><Relationship Type="http://schemas.openxmlformats.org/officeDocument/2006/relationships/notesMaster" Target="/ppt/notesMasters/notesMaster1.xml" Id="Rcc2335f3f69b41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4642ef3bd646d1" /><Relationship Type="http://schemas.openxmlformats.org/officeDocument/2006/relationships/notesMaster" Target="/ppt/notesMasters/notesMaster1.xml" Id="R9e5155be7cb842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243813af3f4027" /><Relationship Type="http://schemas.openxmlformats.org/officeDocument/2006/relationships/notesMaster" Target="/ppt/notesMasters/notesMaster1.xml" Id="Rc02ef554f31b4c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ToxicBarrier is a 2D survival and tower-defense game. A lone defender gathers resources to strengthen an allied tower and protect it from waves of enemies. This cover introduces the world and its central relationship. Gameplay, development information and screenshots appear on the following pages.</a:t>
            </a:r>
          </a:p>
          <a:p xmlns:a="http://schemas.openxmlformats.org/drawingml/2006/main">
            <a:r>
              <a:t/>
            </a:r>
          </a:p>
          <a:p xmlns:a="http://schemas.openxmlformats.org/drawingml/2006/main">
            <a:r>
              <a:t>Sources: Cover composition follows the user-supplied Candle Castle image. Original 1920×1080 reference canvas and theme preserved. Promotional image: output/Promo/2026-09-19/ToxicBarrier_Background_1920x1080.png, horizontally reflected only in the slide layout to place the tower and defender on the right. Not a gameplay screenshot. Tool icons: https://github.com/devicons/devicon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loop links resource collection to survival. Each trip away from the tower supports the next upgrade, but leaves defense less controlled. Progress through three regions ends only when the tower reaches level three and all waves and enemies are cleared. Player or tower death ends the run. E is contextual: upgrades require proximity and enough resources. Ordinary exploration supplies can be collected manually with E. Repair cargo loads by proximity.</a:t>
            </a:r>
          </a:p>
          <a:p xmlns:a="http://schemas.openxmlformats.org/drawingml/2006/main">
            <a:r>
              <a:t/>
            </a:r>
          </a:p>
          <a:p xmlns:a="http://schemas.openxmlformats.org/drawingml/2006/main">
            <a:r>
              <a:t>Sources: Assets/Scripts/Loot/Enemies/Tower.cs; Assets/Scripts/Core/PlayerController2D.cs; Assets/Scripts/Map/ExplorationSupply.cs; Assets/Scripts/Player/TowerRepairCargo.cs; Assets/Documentation/FlowReview.md.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game’s current three-layer circular map, assembled from the actual imported sprites at their authored radius ratios. The inner region establishes the loop. Outer areas increase exposure and reward movement away from the tower. Thirty building obstacles form staggered pairs rather than sealing routes. Ground-level colliders and matching navigation obstacles make the visible cover usable. These buildings are separate scene objects and are not included in the terrain-only overview shown here.</a:t>
            </a:r>
          </a:p>
          <a:p xmlns:a="http://schemas.openxmlformats.org/drawingml/2006/main">
            <a:r>
              <a:t/>
            </a:r>
          </a:p>
          <a:p xmlns:a="http://schemas.openxmlformats.org/drawingml/2006/main">
            <a:r>
              <a:t>Sources: Assets/Sprites/Sprites_map_1.png, Sprites_map_2.png, Sprites_map_3.png; output/Review/2026-09-20/ExpandedRoutes.md and expanded-navigation.txt. Assets/Editor/WorldLayoutPolishTool.cs.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left-hand excerpt is copied directly from the project source. When the player is visible, the enemy stores their position and the current time. If sight is lost, the enemy temporarily clears the live target and searches the stored point. After 1.6 seconds, the rest of the method chooses the nearest living tower again. GetPlayerInAgroRange also requires line of sight. The movement branch handles the stored point rather than tracking the hidden player through walls.</a:t>
            </a:r>
          </a:p>
          <a:p xmlns:a="http://schemas.openxmlformats.org/drawingml/2006/main">
            <a:r>
              <a:t/>
            </a:r>
          </a:p>
          <a:p xmlns:a="http://schemas.openxmlformats.org/drawingml/2006/main">
            <a:r>
              <a:t>Sources: Assets/Scripts/Loot/Enemies/EnemyAttackBehavior.cs, UpdateTarget and GetPlayerInAgroRange. output/Review/2026-09-20/route-gameplay-regression.txt. Source excerpt preserves logic, with line breaks adjusted for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shows the sprites currently used by the project, including the level-zero tower and all three upgrades. The work presented here is art direction and integration: coherent materials, readable silhouettes, real alpha, point filtering and consistent base pivots. Resource types remain distinct at pickup size. The production process moves from the core loop to visual integration and then to navigation, interface and balance refinement. Existing character and building asset packs are part of the project’s visual asset integration; this page does not claim all source art was hand-drawn.</a:t>
            </a:r>
          </a:p>
          <a:p xmlns:a="http://schemas.openxmlformats.org/drawingml/2006/main">
            <a:r>
              <a:t/>
            </a:r>
          </a:p>
          <a:p xmlns:a="http://schemas.openxmlformats.org/drawingml/2006/main">
            <a:r>
              <a:t>Sources: User confirmed solo project and game development responsibility. Git initial commit 9111d0f is dated 2025-12-27, matching Unity project creation. Assets/Sprites/Sprites_tower0.png, Sprites_tower.png, Sprites_tower2.png, Sprites_tower3.png, Sprites_stone.png, Sprites_gel.png, Sprites_teeth.png. Wood: Assets/PeterRadiant/Tiny Swords/UI Elements/Icons/Icon_02.png, referenced by Assets/Resources/Presentation/WoodPickup.asset (texture GUID 859e44a7cf53f4e889017843532b11d2). output/ArtIntegration/README.md; output/ArtDirection/ArtOnlyBrief.md; output/Review/2026-09-20/ExpandedRoutes.md.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gallery shows the actual menu, upgrade feedback and victory screen. The space under Player Playtest is intentionally empty for future player photos, observations and feedback. The 16:9 promotional-video area is reserved for a recording and contains no video yet. The Rookies page has not been created. A shorter one-minute video can still be inserted if a timed presentation is needed later.</a:t>
            </a:r>
          </a:p>
          <a:p xmlns:a="http://schemas.openxmlformats.org/drawingml/2006/main">
            <a:r>
              <a:t/>
            </a:r>
          </a:p>
          <a:p xmlns:a="http://schemas.openxmlformats.org/drawingml/2006/main">
            <a:r>
              <a:t>Sources: .utmp/ui-checks/01-main-menu.png and 04-upgrade.png. output/Review/2026-09-20/ExpandedRoutesVictory.png is a completed automated full-flow run, not a human playtest. User explicitly requested leaving playtesting blank and confirmed The Rookies is not set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56c08c94ff44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db9019822b4adf" /><Relationship Type="http://schemas.openxmlformats.org/officeDocument/2006/relationships/slideLayout" Target="/ppt/slideLayouts/slideLayout1.xml" Id="R5a76e48ad27f4b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76e48ad27f4b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cfb9246c534656" /><Relationship Type="http://schemas.openxmlformats.org/officeDocument/2006/relationships/image" Target="/ppt/media/image.jpeg" Id="R5d29a63feff64abe" /><Relationship Type="http://schemas.openxmlformats.org/officeDocument/2006/relationships/image" Target="/ppt/media/image.png" Id="R5e0cb88d7ca24249" /><Relationship Type="http://schemas.openxmlformats.org/officeDocument/2006/relationships/image" Target="/ppt/media/image2.png" Id="R8ef8b7a13d6d4114" /><Relationship Type="http://schemas.openxmlformats.org/officeDocument/2006/relationships/image" Target="/ppt/media/image3.png" Id="R2de267b190c74491" /><Relationship Type="http://schemas.openxmlformats.org/officeDocument/2006/relationships/image" Target="/ppt/media/image4.png" Id="R6da14a4caa2649d7" /><Relationship Type="http://schemas.openxmlformats.org/officeDocument/2006/relationships/hyperlink" Target="https://github.com/JXia0/ToxicBarrier" TargetMode="External" Id="R96f478d6431047de" /><Relationship Type="http://schemas.openxmlformats.org/officeDocument/2006/relationships/notesSlide" Target="/ppt/notesSlides/notesSlide1.xml" Id="R2db691a9bdba4d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b2eb22cef04a5a" /><Relationship Type="http://schemas.openxmlformats.org/officeDocument/2006/relationships/image" Target="/ppt/media/image2.jpeg" Id="R79250c1fd0ae484a" /><Relationship Type="http://schemas.openxmlformats.org/officeDocument/2006/relationships/image" Target="/ppt/media/image3.jpeg" Id="R71759ea2984a40a2" /><Relationship Type="http://schemas.openxmlformats.org/officeDocument/2006/relationships/notesSlide" Target="/ppt/notesSlides/notesSlide2.xml" Id="R3be8fa3db9434a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db8a7d2e6c4060" /><Relationship Type="http://schemas.openxmlformats.org/officeDocument/2006/relationships/image" Target="/ppt/media/image4.jpeg" Id="R4f18bba2ad814a6b" /><Relationship Type="http://schemas.openxmlformats.org/officeDocument/2006/relationships/image" Target="/ppt/media/image5.png" Id="R6a8c3c74cc234fb2" /><Relationship Type="http://schemas.openxmlformats.org/officeDocument/2006/relationships/image" Target="/ppt/media/image6.png" Id="Rcf5bf87f95554c74" /><Relationship Type="http://schemas.openxmlformats.org/officeDocument/2006/relationships/image" Target="/ppt/media/image7.png" Id="R690dec712d8b48a5" /><Relationship Type="http://schemas.openxmlformats.org/officeDocument/2006/relationships/notesSlide" Target="/ppt/notesSlides/notesSlide3.xml" Id="Rc93491c5ac5d4c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a95367239545d7" /><Relationship Type="http://schemas.openxmlformats.org/officeDocument/2006/relationships/image" Target="/ppt/media/image5.jpeg" Id="Rd5f67c8b2e5b4051" /><Relationship Type="http://schemas.openxmlformats.org/officeDocument/2006/relationships/image" Target="/ppt/media/image6.jpeg" Id="Rfde5988e6f2e41f8" /><Relationship Type="http://schemas.openxmlformats.org/officeDocument/2006/relationships/notesSlide" Target="/ppt/notesSlides/notesSlide4.xml" Id="R85d04e2b50614b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f8c7b632de4ff8" /><Relationship Type="http://schemas.openxmlformats.org/officeDocument/2006/relationships/image" Target="/ppt/media/image7.jpeg" Id="R3c17d4e00241467b" /><Relationship Type="http://schemas.openxmlformats.org/officeDocument/2006/relationships/image" Target="/ppt/media/image8.png" Id="R5696b50b5dac4ec5" /><Relationship Type="http://schemas.openxmlformats.org/officeDocument/2006/relationships/image" Target="/ppt/media/image9.png" Id="R86bc644c4ae144a2" /><Relationship Type="http://schemas.openxmlformats.org/officeDocument/2006/relationships/image" Target="/ppt/media/image10.png" Id="Rf8a41d4fe3494b13" /><Relationship Type="http://schemas.openxmlformats.org/officeDocument/2006/relationships/image" Target="/ppt/media/image11.png" Id="R58a9c644411c426d" /><Relationship Type="http://schemas.openxmlformats.org/officeDocument/2006/relationships/image" Target="/ppt/media/image12.png" Id="R766f1dea4d4746ab" /><Relationship Type="http://schemas.openxmlformats.org/officeDocument/2006/relationships/image" Target="/ppt/media/image13.png" Id="R73d4928792674432" /><Relationship Type="http://schemas.openxmlformats.org/officeDocument/2006/relationships/image" Target="/ppt/media/image14.png" Id="R349efea542f94163" /><Relationship Type="http://schemas.openxmlformats.org/officeDocument/2006/relationships/image" Target="/ppt/media/image15.png" Id="Rbcdf088819534795" /><Relationship Type="http://schemas.openxmlformats.org/officeDocument/2006/relationships/notesSlide" Target="/ppt/notesSlides/notesSlide5.xml" Id="R3fa9038bae144f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7341e8db77449f" /><Relationship Type="http://schemas.openxmlformats.org/officeDocument/2006/relationships/image" Target="/ppt/media/image8.jpeg" Id="R38c04738724e4c0c" /><Relationship Type="http://schemas.openxmlformats.org/officeDocument/2006/relationships/image" Target="/ppt/media/image9.jpeg" Id="R205fecf9e9ea4013" /><Relationship Type="http://schemas.openxmlformats.org/officeDocument/2006/relationships/image" Target="/ppt/media/image10.jpeg" Id="R879c3e5b77e140e6" /><Relationship Type="http://schemas.openxmlformats.org/officeDocument/2006/relationships/image" Target="/ppt/media/image11.jpeg" Id="Rddfb7491de864bdd" /><Relationship Type="http://schemas.openxmlformats.org/officeDocument/2006/relationships/notesSlide" Target="/ppt/notesSlides/notesSlide6.xml" Id="R512c5aa56c4a4162" /></Relationships>
</file>

<file path=ppt/slides/slide1.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d29a63feff64abe"/>
          <a:srcRect xmlns:a="http://schemas.openxmlformats.org/drawingml/2006/main" l="0" t="0" r="0" b="0"/>
          <a:stretch xmlns:a="http://schemas.openxmlformats.org/drawingml/2006/main">
            <a:fillRect l="0" t="0" r="0" b="0"/>
          </a:stretch>
        </p:blipFill>
        <p:spPr>
          <a:xfrm xmlns:a="http://schemas.openxmlformats.org/drawingml/2006/main" flipH="1">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890C52-46F0-4340-8E71-8E9A35C7E54B}"/>
              </a:ext>
            </a:extLst>
          </p:cNvPr>
          <p:cNvSpPr>
            <a:spLocks xmlns:a="http://schemas.openxmlformats.org/drawingml/2006/main" noGrp="1"/>
          </p:cNvSpPr>
          <p:nvPr/>
        </p:nvSpPr>
        <p:spPr>
          <a:xfrm xmlns:a="http://schemas.openxmlformats.org/drawingml/2006/main">
            <a:off x="0" y="0"/>
            <a:ext cx="10001250" cy="10287000"/>
          </a:xfrm>
          <a:prstGeom xmlns:a="http://schemas.openxmlformats.org/drawingml/2006/main" prst="rect">
            <a:avLst/>
          </a:prstGeom>
          <a:gradFill xmlns:a="http://schemas.openxmlformats.org/drawingml/2006/main">
            <a:gsLst>
              <a:gs pos="0">
                <a:srgbClr val="071116">
                  <a:alpha val="92000"/>
                </a:srgbClr>
              </a:gs>
              <a:gs pos="55000">
                <a:srgbClr val="071116">
                  <a:alpha val="60000"/>
                </a:srgbClr>
              </a:gs>
              <a:gs pos="100000">
                <a:srgbClr val="071116">
                  <a:alpha val="0"/>
                </a:srgbClr>
              </a:gs>
            </a:gsLst>
            <a:lin ang="0"/>
          </a:gra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e0cb88d7ca24249"/>
          <a:stretch xmlns:a="http://schemas.openxmlformats.org/drawingml/2006/main"/>
        </p:blipFill>
        <p:spPr>
          <a:xfrm xmlns:a="http://schemas.openxmlformats.org/drawingml/2006/main">
            <a:off x="647700" y="600075"/>
            <a:ext cx="6972300" cy="4648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213821-8DB1-4F93-9A8E-9ED572C7CEC3}"/>
              </a:ext>
            </a:extLst>
          </p:cNvPr>
          <p:cNvSpPr>
            <a:spLocks xmlns:a="http://schemas.openxmlformats.org/drawingml/2006/main" noGrp="1"/>
          </p:cNvSpPr>
          <p:nvPr/>
        </p:nvSpPr>
        <p:spPr>
          <a:xfrm xmlns:a="http://schemas.openxmlformats.org/drawingml/2006/main">
            <a:off x="17068800" y="590550"/>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ef8b7a13d6d4114"/>
          <a:stretch xmlns:a="http://schemas.openxmlformats.org/drawingml/2006/main"/>
        </p:blipFill>
        <p:spPr>
          <a:xfrm xmlns:a="http://schemas.openxmlformats.org/drawingml/2006/main">
            <a:off x="17135475" y="657225"/>
            <a:ext cx="495300" cy="49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C63463C-E27E-4313-9444-2EF9836DE5EC}"/>
              </a:ext>
            </a:extLst>
          </p:cNvPr>
          <p:cNvSpPr>
            <a:spLocks xmlns:a="http://schemas.openxmlformats.org/drawingml/2006/main" noGrp="1"/>
          </p:cNvSpPr>
          <p:nvPr/>
        </p:nvSpPr>
        <p:spPr>
          <a:xfrm xmlns:a="http://schemas.openxmlformats.org/drawingml/2006/main">
            <a:off x="17068800" y="1552575"/>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de267b190c74491"/>
          <a:stretch xmlns:a="http://schemas.openxmlformats.org/drawingml/2006/main"/>
        </p:blipFill>
        <p:spPr>
          <a:xfrm xmlns:a="http://schemas.openxmlformats.org/drawingml/2006/main">
            <a:off x="17135475" y="1619250"/>
            <a:ext cx="495300" cy="495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255B3BF-9DD2-4270-ADE7-E090B9488FFF}"/>
              </a:ext>
            </a:extLst>
          </p:cNvPr>
          <p:cNvSpPr>
            <a:spLocks xmlns:a="http://schemas.openxmlformats.org/drawingml/2006/main" noGrp="1"/>
          </p:cNvSpPr>
          <p:nvPr/>
        </p:nvSpPr>
        <p:spPr>
          <a:xfrm xmlns:a="http://schemas.openxmlformats.org/drawingml/2006/main">
            <a:off x="17068800" y="2514600"/>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da14a4caa2649d7"/>
          <a:stretch xmlns:a="http://schemas.openxmlformats.org/drawingml/2006/main"/>
        </p:blipFill>
        <p:spPr>
          <a:xfrm xmlns:a="http://schemas.openxmlformats.org/drawingml/2006/main">
            <a:off x="17135475" y="2581275"/>
            <a:ext cx="495300" cy="495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CAA0A1C-4BE1-4209-A339-85CC3B43BEEC}"/>
              </a:ext>
            </a:extLst>
          </p:cNvPr>
          <p:cNvSpPr>
            <a:spLocks xmlns:a="http://schemas.openxmlformats.org/drawingml/2006/main" noGrp="1"/>
          </p:cNvSpPr>
          <p:nvPr/>
        </p:nvSpPr>
        <p:spPr>
          <a:xfrm xmlns:a="http://schemas.openxmlformats.org/drawingml/2006/main">
            <a:off x="857250" y="697230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2D SURVIVAL &amp; TOWER DEFENSE</a:t>
            </a:r>
          </a:p>
        </p:txBody>
      </p:sp>
      <p:sp>
        <p:nvSpPr>
          <p:cNvPr id="11" name="">
            <a:extLst xmlns:a="http://schemas.openxmlformats.org/drawingml/2006/main">
              <a:ext uri="{FF2B5EF4-FFF2-40B4-BE49-F238E27FC236}">
                <a16:creationId xmlns:a16="http://schemas.microsoft.com/office/drawing/2014/main" id="{F6DABC58-26FA-4849-A2D8-44F98CB59A90}"/>
              </a:ext>
            </a:extLst>
          </p:cNvPr>
          <p:cNvSpPr>
            <a:spLocks xmlns:a="http://schemas.openxmlformats.org/drawingml/2006/main" noGrp="1"/>
          </p:cNvSpPr>
          <p:nvPr/>
        </p:nvSpPr>
        <p:spPr>
          <a:xfrm xmlns:a="http://schemas.openxmlformats.org/drawingml/2006/main">
            <a:off x="857250" y="7629525"/>
            <a:ext cx="83343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Gather resources, upgrade your tower</a:t>
            </a:r>
          </a:p>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and defend it against the siege.</a:t>
            </a:r>
          </a:p>
        </p:txBody>
      </p:sp>
      <p:sp>
        <p:nvSpPr>
          <p:cNvPr id="12" name="">
            <a:extLst xmlns:a="http://schemas.openxmlformats.org/drawingml/2006/main">
              <a:ext uri="{FF2B5EF4-FFF2-40B4-BE49-F238E27FC236}">
                <a16:creationId xmlns:a16="http://schemas.microsoft.com/office/drawing/2014/main" id="{A92750FE-9101-478D-946D-544BD1549A91}"/>
              </a:ext>
            </a:extLst>
          </p:cNvPr>
          <p:cNvSpPr>
            <a:spLocks xmlns:a="http://schemas.openxmlformats.org/drawingml/2006/main" noGrp="1"/>
          </p:cNvSpPr>
          <p:nvPr/>
        </p:nvSpPr>
        <p:spPr>
          <a:xfrm xmlns:a="http://schemas.openxmlformats.org/drawingml/2006/main">
            <a:off x="857250" y="9391650"/>
            <a:ext cx="733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E8B66B"/>
                </a:solidFill>
                <a:latin typeface="Arial"/>
                <a:ea typeface="Arial"/>
                <a:cs typeface="Arial"/>
              </a:defRPr>
            </a:pPr>
            <a:r>
              <a:rPr sz="1800">
                <a:solidFill>
                  <a:srgbClr val="E8B66B"/>
                </a:solidFill>
                <a:latin typeface="Arial"/>
                <a:ea typeface="Arial"/>
                <a:cs typeface="Arial"/>
                <a:hlinkClick xmlns:r="http://schemas.openxmlformats.org/officeDocument/2006/relationships" r:id="R96f478d6431047de"/>
              </a:rPr>
              <a:t>github.com/JXia0/ToxicBarrier</a:t>
            </a:r>
          </a:p>
        </p:txBody>
      </p:sp>
    </p:spTree>
    <p:extLst>
      <p:ext uri="{BB962C8B-B14F-4D97-AF65-F5344CB8AC3E}">
        <p14:creationId xmlns:p14="http://schemas.microsoft.com/office/powerpoint/2010/main" val="1954885768"/>
      </p:ext>
    </p:extLst>
  </p:cSld>
</p:sld>
</file>

<file path=ppt/slides/slide2.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9250c1fd0ae484a"/>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F1E6DF-9976-4AE4-B107-72FF6FE5FDE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4C47E5-8873-4A10-88E7-3FE90719B116}"/>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587B9346-A45C-4C1C-91B9-B32BA8F801D2}"/>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02 / 06</a:t>
            </a:r>
          </a:p>
        </p:txBody>
      </p:sp>
      <p:sp>
        <p:nvSpPr>
          <p:cNvPr id="5" name="">
            <a:extLst xmlns:a="http://schemas.openxmlformats.org/drawingml/2006/main">
              <a:ext uri="{FF2B5EF4-FFF2-40B4-BE49-F238E27FC236}">
                <a16:creationId xmlns:a16="http://schemas.microsoft.com/office/drawing/2014/main" id="{BEF5BA12-15FA-4253-97B1-FBF73B063514}"/>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How to play &amp; game flow</a:t>
            </a:r>
          </a:p>
        </p:txBody>
      </p:sp>
      <p:sp>
        <p:nvSpPr>
          <p:cNvPr id="6" name="">
            <a:extLst xmlns:a="http://schemas.openxmlformats.org/drawingml/2006/main">
              <a:ext uri="{FF2B5EF4-FFF2-40B4-BE49-F238E27FC236}">
                <a16:creationId xmlns:a16="http://schemas.microsoft.com/office/drawing/2014/main" id="{CA3536FD-F9AB-4C37-97A5-0FC004F8709E}"/>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The player gathers and maneuvers. The allied tower attacks automatically.</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1759ea2984a40a2"/>
          <a:stretch xmlns:a="http://schemas.openxmlformats.org/drawingml/2006/main"/>
        </p:blipFill>
        <p:spPr>
          <a:xfrm xmlns:a="http://schemas.openxmlformats.org/drawingml/2006/main">
            <a:off x="647700" y="2553234"/>
            <a:ext cx="10287000" cy="539960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DF8EFA0-23CC-4A70-AAE1-8978239C5937}"/>
              </a:ext>
            </a:extLst>
          </p:cNvPr>
          <p:cNvSpPr>
            <a:spLocks xmlns:a="http://schemas.openxmlformats.org/drawingml/2006/main" noGrp="1"/>
          </p:cNvSpPr>
          <p:nvPr/>
        </p:nvSpPr>
        <p:spPr>
          <a:xfrm xmlns:a="http://schemas.openxmlformats.org/drawingml/2006/main">
            <a:off x="11715750" y="2590800"/>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Gather &amp; upgrade</a:t>
            </a:r>
          </a:p>
        </p:txBody>
      </p:sp>
      <p:sp>
        <p:nvSpPr>
          <p:cNvPr id="9" name="">
            <a:extLst xmlns:a="http://schemas.openxmlformats.org/drawingml/2006/main">
              <a:ext uri="{FF2B5EF4-FFF2-40B4-BE49-F238E27FC236}">
                <a16:creationId xmlns:a16="http://schemas.microsoft.com/office/drawing/2014/main" id="{0295D93F-A76A-4204-B4C9-B96BC45378D3}"/>
              </a:ext>
            </a:extLst>
          </p:cNvPr>
          <p:cNvSpPr>
            <a:spLocks xmlns:a="http://schemas.openxmlformats.org/drawingml/2006/main" noGrp="1"/>
          </p:cNvSpPr>
          <p:nvPr/>
        </p:nvSpPr>
        <p:spPr>
          <a:xfrm xmlns:a="http://schemas.openxmlformats.org/drawingml/2006/main">
            <a:off x="11715750" y="328612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Collect four resource types and invest them in the tower.</a:t>
            </a:r>
          </a:p>
        </p:txBody>
      </p:sp>
      <p:sp>
        <p:nvSpPr>
          <p:cNvPr id="10" name="">
            <a:extLst xmlns:a="http://schemas.openxmlformats.org/drawingml/2006/main">
              <a:ext uri="{FF2B5EF4-FFF2-40B4-BE49-F238E27FC236}">
                <a16:creationId xmlns:a16="http://schemas.microsoft.com/office/drawing/2014/main" id="{28CDB6B1-38CD-4DFF-8362-80050F26DDCC}"/>
              </a:ext>
            </a:extLst>
          </p:cNvPr>
          <p:cNvSpPr>
            <a:spLocks xmlns:a="http://schemas.openxmlformats.org/drawingml/2006/main" noGrp="1"/>
          </p:cNvSpPr>
          <p:nvPr/>
        </p:nvSpPr>
        <p:spPr>
          <a:xfrm xmlns:a="http://schemas.openxmlformats.org/drawingml/2006/main">
            <a:off x="11715750" y="4429125"/>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Lure &amp; survive</a:t>
            </a:r>
          </a:p>
        </p:txBody>
      </p:sp>
      <p:sp>
        <p:nvSpPr>
          <p:cNvPr id="11" name="">
            <a:extLst xmlns:a="http://schemas.openxmlformats.org/drawingml/2006/main">
              <a:ext uri="{FF2B5EF4-FFF2-40B4-BE49-F238E27FC236}">
                <a16:creationId xmlns:a16="http://schemas.microsoft.com/office/drawing/2014/main" id="{E43145F1-E747-42E7-9211-A972BA0EDABF}"/>
              </a:ext>
            </a:extLst>
          </p:cNvPr>
          <p:cNvSpPr>
            <a:spLocks xmlns:a="http://schemas.openxmlformats.org/drawingml/2006/main" noGrp="1"/>
          </p:cNvSpPr>
          <p:nvPr/>
        </p:nvSpPr>
        <p:spPr>
          <a:xfrm xmlns:a="http://schemas.openxmlformats.org/drawingml/2006/main">
            <a:off x="11715750" y="5124450"/>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Bring enemies into tower range. Break pursuit with cover.</a:t>
            </a:r>
          </a:p>
        </p:txBody>
      </p:sp>
      <p:sp>
        <p:nvSpPr>
          <p:cNvPr id="12" name="">
            <a:extLst xmlns:a="http://schemas.openxmlformats.org/drawingml/2006/main">
              <a:ext uri="{FF2B5EF4-FFF2-40B4-BE49-F238E27FC236}">
                <a16:creationId xmlns:a16="http://schemas.microsoft.com/office/drawing/2014/main" id="{46962D2B-6C77-43F5-A88C-6D30CFCE0448}"/>
              </a:ext>
            </a:extLst>
          </p:cNvPr>
          <p:cNvSpPr>
            <a:spLocks xmlns:a="http://schemas.openxmlformats.org/drawingml/2006/main" noGrp="1"/>
          </p:cNvSpPr>
          <p:nvPr/>
        </p:nvSpPr>
        <p:spPr>
          <a:xfrm xmlns:a="http://schemas.openxmlformats.org/drawingml/2006/main">
            <a:off x="11715750" y="6267450"/>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Expand &amp; defend</a:t>
            </a:r>
          </a:p>
        </p:txBody>
      </p:sp>
      <p:sp>
        <p:nvSpPr>
          <p:cNvPr id="13" name="">
            <a:extLst xmlns:a="http://schemas.openxmlformats.org/drawingml/2006/main">
              <a:ext uri="{FF2B5EF4-FFF2-40B4-BE49-F238E27FC236}">
                <a16:creationId xmlns:a16="http://schemas.microsoft.com/office/drawing/2014/main" id="{029D5C2D-F98D-486A-9A59-9C5A387B469F}"/>
              </a:ext>
            </a:extLst>
          </p:cNvPr>
          <p:cNvSpPr>
            <a:spLocks xmlns:a="http://schemas.openxmlformats.org/drawingml/2006/main" noGrp="1"/>
          </p:cNvSpPr>
          <p:nvPr/>
        </p:nvSpPr>
        <p:spPr>
          <a:xfrm xmlns:a="http://schemas.openxmlformats.org/drawingml/2006/main">
            <a:off x="11715750" y="696277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Upgrade to unlock regions and bring back repair supplies.</a:t>
            </a:r>
          </a:p>
        </p:txBody>
      </p:sp>
      <p:sp>
        <p:nvSpPr>
          <p:cNvPr id="14" name="">
            <a:extLst xmlns:a="http://schemas.openxmlformats.org/drawingml/2006/main">
              <a:ext uri="{FF2B5EF4-FFF2-40B4-BE49-F238E27FC236}">
                <a16:creationId xmlns:a16="http://schemas.microsoft.com/office/drawing/2014/main" id="{883F9C84-0BDE-49C2-A599-8CD2452B0E80}"/>
              </a:ext>
            </a:extLst>
          </p:cNvPr>
          <p:cNvSpPr>
            <a:spLocks xmlns:a="http://schemas.openxmlformats.org/drawingml/2006/main" noGrp="1"/>
          </p:cNvSpPr>
          <p:nvPr/>
        </p:nvSpPr>
        <p:spPr>
          <a:xfrm xmlns:a="http://schemas.openxmlformats.org/drawingml/2006/main">
            <a:off x="11715750" y="8353425"/>
            <a:ext cx="592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VICTORY</a:t>
            </a:r>
          </a:p>
        </p:txBody>
      </p:sp>
      <p:sp>
        <p:nvSpPr>
          <p:cNvPr id="15" name="">
            <a:extLst xmlns:a="http://schemas.openxmlformats.org/drawingml/2006/main">
              <a:ext uri="{FF2B5EF4-FFF2-40B4-BE49-F238E27FC236}">
                <a16:creationId xmlns:a16="http://schemas.microsoft.com/office/drawing/2014/main" id="{BF5C8CF7-61B3-4900-BB64-65803F188176}"/>
              </a:ext>
            </a:extLst>
          </p:cNvPr>
          <p:cNvSpPr>
            <a:spLocks xmlns:a="http://schemas.openxmlformats.org/drawingml/2006/main" noGrp="1"/>
          </p:cNvSpPr>
          <p:nvPr/>
        </p:nvSpPr>
        <p:spPr>
          <a:xfrm xmlns:a="http://schemas.openxmlformats.org/drawingml/2006/main">
            <a:off x="11715750" y="881062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F4E9D2"/>
                </a:solidFill>
                <a:latin typeface="Arial"/>
                <a:ea typeface="Arial"/>
                <a:cs typeface="Arial"/>
              </a:defRPr>
            </a:pPr>
            <a:r>
              <a:rPr sz="2100" b="0">
                <a:solidFill>
                  <a:srgbClr val="F4E9D2"/>
                </a:solidFill>
                <a:latin typeface="Arial"/>
                <a:ea typeface="Arial"/>
                <a:cs typeface="Arial"/>
              </a:rPr>
              <a:t>Tower level 3. All regions and remaining enemies cleared.</a:t>
            </a:r>
          </a:p>
        </p:txBody>
      </p:sp>
      <p:sp>
        <p:nvSpPr>
          <p:cNvPr id="16" name="">
            <a:extLst xmlns:a="http://schemas.openxmlformats.org/drawingml/2006/main">
              <a:ext uri="{FF2B5EF4-FFF2-40B4-BE49-F238E27FC236}">
                <a16:creationId xmlns:a16="http://schemas.microsoft.com/office/drawing/2014/main" id="{6F381065-31A5-4065-983C-227218C7BDC6}"/>
              </a:ext>
            </a:extLst>
          </p:cNvPr>
          <p:cNvSpPr>
            <a:spLocks xmlns:a="http://schemas.openxmlformats.org/drawingml/2006/main" noGrp="1"/>
          </p:cNvSpPr>
          <p:nvPr/>
        </p:nvSpPr>
        <p:spPr>
          <a:xfrm xmlns:a="http://schemas.openxmlformats.org/drawingml/2006/main">
            <a:off x="647700" y="83534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KEYBOARD CONTROLS</a:t>
            </a:r>
          </a:p>
        </p:txBody>
      </p:sp>
      <p:sp>
        <p:nvSpPr>
          <p:cNvPr id="17" name="">
            <a:extLst xmlns:a="http://schemas.openxmlformats.org/drawingml/2006/main">
              <a:ext uri="{FF2B5EF4-FFF2-40B4-BE49-F238E27FC236}">
                <a16:creationId xmlns:a16="http://schemas.microsoft.com/office/drawing/2014/main" id="{CB69B530-9F8B-4FA2-B9FB-D4E39DCA158B}"/>
              </a:ext>
            </a:extLst>
          </p:cNvPr>
          <p:cNvSpPr>
            <a:spLocks xmlns:a="http://schemas.openxmlformats.org/drawingml/2006/main" noGrp="1"/>
          </p:cNvSpPr>
          <p:nvPr/>
        </p:nvSpPr>
        <p:spPr>
          <a:xfrm xmlns:a="http://schemas.openxmlformats.org/drawingml/2006/main">
            <a:off x="647700" y="8858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WASD / Arrows</a:t>
            </a:r>
          </a:p>
        </p:txBody>
      </p:sp>
      <p:sp>
        <p:nvSpPr>
          <p:cNvPr id="18" name="">
            <a:extLst xmlns:a="http://schemas.openxmlformats.org/drawingml/2006/main">
              <a:ext uri="{FF2B5EF4-FFF2-40B4-BE49-F238E27FC236}">
                <a16:creationId xmlns:a16="http://schemas.microsoft.com/office/drawing/2014/main" id="{25C42F17-0969-44E6-8A2E-E15C7096AB83}"/>
              </a:ext>
            </a:extLst>
          </p:cNvPr>
          <p:cNvSpPr>
            <a:spLocks xmlns:a="http://schemas.openxmlformats.org/drawingml/2006/main" noGrp="1"/>
          </p:cNvSpPr>
          <p:nvPr/>
        </p:nvSpPr>
        <p:spPr>
          <a:xfrm xmlns:a="http://schemas.openxmlformats.org/drawingml/2006/main">
            <a:off x="647700" y="9439275"/>
            <a:ext cx="342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Move</a:t>
            </a:r>
          </a:p>
        </p:txBody>
      </p:sp>
      <p:sp>
        <p:nvSpPr>
          <p:cNvPr id="19" name="">
            <a:extLst xmlns:a="http://schemas.openxmlformats.org/drawingml/2006/main">
              <a:ext uri="{FF2B5EF4-FFF2-40B4-BE49-F238E27FC236}">
                <a16:creationId xmlns:a16="http://schemas.microsoft.com/office/drawing/2014/main" id="{2B979159-456A-4DB3-B25B-7973C8C81B2E}"/>
              </a:ext>
            </a:extLst>
          </p:cNvPr>
          <p:cNvSpPr>
            <a:spLocks xmlns:a="http://schemas.openxmlformats.org/drawingml/2006/main" noGrp="1"/>
          </p:cNvSpPr>
          <p:nvPr/>
        </p:nvSpPr>
        <p:spPr>
          <a:xfrm xmlns:a="http://schemas.openxmlformats.org/drawingml/2006/main">
            <a:off x="4524375" y="88582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E</a:t>
            </a:r>
          </a:p>
        </p:txBody>
      </p:sp>
      <p:sp>
        <p:nvSpPr>
          <p:cNvPr id="20" name="">
            <a:extLst xmlns:a="http://schemas.openxmlformats.org/drawingml/2006/main">
              <a:ext uri="{FF2B5EF4-FFF2-40B4-BE49-F238E27FC236}">
                <a16:creationId xmlns:a16="http://schemas.microsoft.com/office/drawing/2014/main" id="{E5432EAB-8C8F-4E2B-873D-56F83BD192BE}"/>
              </a:ext>
            </a:extLst>
          </p:cNvPr>
          <p:cNvSpPr>
            <a:spLocks xmlns:a="http://schemas.openxmlformats.org/drawingml/2006/main" noGrp="1"/>
          </p:cNvSpPr>
          <p:nvPr/>
        </p:nvSpPr>
        <p:spPr>
          <a:xfrm xmlns:a="http://schemas.openxmlformats.org/drawingml/2006/main">
            <a:off x="4524375" y="9439275"/>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 collect supplies</a:t>
            </a:r>
          </a:p>
        </p:txBody>
      </p:sp>
      <p:sp>
        <p:nvSpPr>
          <p:cNvPr id="21" name="">
            <a:extLst xmlns:a="http://schemas.openxmlformats.org/drawingml/2006/main">
              <a:ext uri="{FF2B5EF4-FFF2-40B4-BE49-F238E27FC236}">
                <a16:creationId xmlns:a16="http://schemas.microsoft.com/office/drawing/2014/main" id="{19EAD111-2383-40C2-9B71-0E56D020F9CF}"/>
              </a:ext>
            </a:extLst>
          </p:cNvPr>
          <p:cNvSpPr>
            <a:spLocks xmlns:a="http://schemas.openxmlformats.org/drawingml/2006/main" noGrp="1"/>
          </p:cNvSpPr>
          <p:nvPr/>
        </p:nvSpPr>
        <p:spPr>
          <a:xfrm xmlns:a="http://schemas.openxmlformats.org/drawingml/2006/main">
            <a:off x="8782050" y="885825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Esc</a:t>
            </a:r>
          </a:p>
        </p:txBody>
      </p:sp>
      <p:sp>
        <p:nvSpPr>
          <p:cNvPr id="22" name="">
            <a:extLst xmlns:a="http://schemas.openxmlformats.org/drawingml/2006/main">
              <a:ext uri="{FF2B5EF4-FFF2-40B4-BE49-F238E27FC236}">
                <a16:creationId xmlns:a16="http://schemas.microsoft.com/office/drawing/2014/main" id="{F35F5BB2-8805-4505-B3B0-70450FF962B2}"/>
              </a:ext>
            </a:extLst>
          </p:cNvPr>
          <p:cNvSpPr>
            <a:spLocks xmlns:a="http://schemas.openxmlformats.org/drawingml/2006/main" noGrp="1"/>
          </p:cNvSpPr>
          <p:nvPr/>
        </p:nvSpPr>
        <p:spPr>
          <a:xfrm xmlns:a="http://schemas.openxmlformats.org/drawingml/2006/main">
            <a:off x="8782050" y="9439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Pause</a:t>
            </a:r>
          </a:p>
        </p:txBody>
      </p:sp>
    </p:spTree>
    <p:extLst>
      <p:ext uri="{BB962C8B-B14F-4D97-AF65-F5344CB8AC3E}">
        <p14:creationId xmlns:p14="http://schemas.microsoft.com/office/powerpoint/2010/main" val="414283033"/>
      </p:ext>
    </p:extLst>
  </p:cSld>
</p:sld>
</file>

<file path=ppt/slides/slide3.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f18bba2ad814a6b"/>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604B6E-D19A-4825-8E40-8B62FBF9A3E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FD5ED0-4E1F-4D94-B229-B3CECBED46F4}"/>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18E4A4DD-0F21-494B-B1F2-D76BC20DE7ED}"/>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03 / 06</a:t>
            </a:r>
          </a:p>
        </p:txBody>
      </p:sp>
      <p:sp>
        <p:nvSpPr>
          <p:cNvPr id="5" name="">
            <a:extLst xmlns:a="http://schemas.openxmlformats.org/drawingml/2006/main">
              <a:ext uri="{FF2B5EF4-FFF2-40B4-BE49-F238E27FC236}">
                <a16:creationId xmlns:a16="http://schemas.microsoft.com/office/drawing/2014/main" id="{059511DE-000D-41C2-A82C-6D9EDA0895FA}"/>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Level design &amp; progression</a:t>
            </a:r>
          </a:p>
        </p:txBody>
      </p:sp>
      <p:sp>
        <p:nvSpPr>
          <p:cNvPr id="6" name="">
            <a:extLst xmlns:a="http://schemas.openxmlformats.org/drawingml/2006/main">
              <a:ext uri="{FF2B5EF4-FFF2-40B4-BE49-F238E27FC236}">
                <a16:creationId xmlns:a16="http://schemas.microsoft.com/office/drawing/2014/main" id="{A3C49311-9FBC-4F70-95CA-65757AC8E13D}"/>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Three concentric regions keep the tower central while exploration becomes more demanding.</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a8c3c74cc234fb2"/>
          <a:stretch xmlns:a="http://schemas.openxmlformats.org/drawingml/2006/main"/>
        </p:blipFill>
        <p:spPr>
          <a:xfrm xmlns:a="http://schemas.openxmlformats.org/drawingml/2006/main">
            <a:off x="742950" y="2619375"/>
            <a:ext cx="6572250" cy="65722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f5bf87f95554c74"/>
          <a:stretch xmlns:a="http://schemas.openxmlformats.org/drawingml/2006/main"/>
        </p:blipFill>
        <p:spPr>
          <a:xfrm xmlns:a="http://schemas.openxmlformats.org/drawingml/2006/main">
            <a:off x="2057400" y="3933825"/>
            <a:ext cx="3943350" cy="39433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90dec712d8b48a5"/>
          <a:stretch xmlns:a="http://schemas.openxmlformats.org/drawingml/2006/main"/>
        </p:blipFill>
        <p:spPr>
          <a:xfrm xmlns:a="http://schemas.openxmlformats.org/drawingml/2006/main">
            <a:off x="3207544" y="5083969"/>
            <a:ext cx="1643063" cy="16430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C4F12B0-5C1A-422C-B485-2CB3F14C55B5}"/>
              </a:ext>
            </a:extLst>
          </p:cNvPr>
          <p:cNvSpPr>
            <a:spLocks xmlns:a="http://schemas.openxmlformats.org/drawingml/2006/main" noGrp="1"/>
          </p:cNvSpPr>
          <p:nvPr/>
        </p:nvSpPr>
        <p:spPr>
          <a:xfrm xmlns:a="http://schemas.openxmlformats.org/drawingml/2006/main">
            <a:off x="742950" y="945832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Authored region radii: 12.5 / 30 / 50 units</a:t>
            </a:r>
          </a:p>
        </p:txBody>
      </p:sp>
      <p:sp>
        <p:nvSpPr>
          <p:cNvPr id="11" name="">
            <a:extLst xmlns:a="http://schemas.openxmlformats.org/drawingml/2006/main">
              <a:ext uri="{FF2B5EF4-FFF2-40B4-BE49-F238E27FC236}">
                <a16:creationId xmlns:a16="http://schemas.microsoft.com/office/drawing/2014/main" id="{8E2EC9DE-BAE8-4B45-87DC-702B0D9DA4EF}"/>
              </a:ext>
            </a:extLst>
          </p:cNvPr>
          <p:cNvSpPr>
            <a:spLocks xmlns:a="http://schemas.openxmlformats.org/drawingml/2006/main" noGrp="1"/>
          </p:cNvSpPr>
          <p:nvPr/>
        </p:nvSpPr>
        <p:spPr>
          <a:xfrm xmlns:a="http://schemas.openxmlformats.org/drawingml/2006/main">
            <a:off x="8096250" y="27146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01  LEARN THE LOOP</a:t>
            </a:r>
          </a:p>
        </p:txBody>
      </p:sp>
      <p:sp>
        <p:nvSpPr>
          <p:cNvPr id="12" name="">
            <a:extLst xmlns:a="http://schemas.openxmlformats.org/drawingml/2006/main">
              <a:ext uri="{FF2B5EF4-FFF2-40B4-BE49-F238E27FC236}">
                <a16:creationId xmlns:a16="http://schemas.microsoft.com/office/drawing/2014/main" id="{D80F9900-7055-4559-8862-934690987C3D}"/>
              </a:ext>
            </a:extLst>
          </p:cNvPr>
          <p:cNvSpPr>
            <a:spLocks xmlns:a="http://schemas.openxmlformats.org/drawingml/2006/main" noGrp="1"/>
          </p:cNvSpPr>
          <p:nvPr/>
        </p:nvSpPr>
        <p:spPr>
          <a:xfrm xmlns:a="http://schemas.openxmlformats.org/drawingml/2006/main">
            <a:off x="8096250" y="31908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Gather near the tower and build your first upgrades. Six buildings introduce cover and alternate routes.</a:t>
            </a:r>
          </a:p>
        </p:txBody>
      </p:sp>
      <p:sp>
        <p:nvSpPr>
          <p:cNvPr id="13" name="">
            <a:extLst xmlns:a="http://schemas.openxmlformats.org/drawingml/2006/main">
              <a:ext uri="{FF2B5EF4-FFF2-40B4-BE49-F238E27FC236}">
                <a16:creationId xmlns:a16="http://schemas.microsoft.com/office/drawing/2014/main" id="{3CB0ADF8-7408-43A8-8E94-69F033D41094}"/>
              </a:ext>
            </a:extLst>
          </p:cNvPr>
          <p:cNvSpPr>
            <a:spLocks xmlns:a="http://schemas.openxmlformats.org/drawingml/2006/main" noGrp="1"/>
          </p:cNvSpPr>
          <p:nvPr/>
        </p:nvSpPr>
        <p:spPr>
          <a:xfrm xmlns:a="http://schemas.openxmlformats.org/drawingml/2006/main">
            <a:off x="8096250" y="45053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02  LEAVE THE REFUGE</a:t>
            </a:r>
          </a:p>
        </p:txBody>
      </p:sp>
      <p:sp>
        <p:nvSpPr>
          <p:cNvPr id="14" name="">
            <a:extLst xmlns:a="http://schemas.openxmlformats.org/drawingml/2006/main">
              <a:ext uri="{FF2B5EF4-FFF2-40B4-BE49-F238E27FC236}">
                <a16:creationId xmlns:a16="http://schemas.microsoft.com/office/drawing/2014/main" id="{9121D3FE-DEB5-403E-A362-03EB98865D80}"/>
              </a:ext>
            </a:extLst>
          </p:cNvPr>
          <p:cNvSpPr>
            <a:spLocks xmlns:a="http://schemas.openxmlformats.org/drawingml/2006/main" noGrp="1"/>
          </p:cNvSpPr>
          <p:nvPr/>
        </p:nvSpPr>
        <p:spPr>
          <a:xfrm xmlns:a="http://schemas.openxmlformats.org/drawingml/2006/main">
            <a:off x="8096250" y="49815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Tower level 2 opens the middle region. Ten buildings create routes around pursuing enemies.</a:t>
            </a:r>
          </a:p>
        </p:txBody>
      </p:sp>
      <p:sp>
        <p:nvSpPr>
          <p:cNvPr id="15" name="">
            <a:extLst xmlns:a="http://schemas.openxmlformats.org/drawingml/2006/main">
              <a:ext uri="{FF2B5EF4-FFF2-40B4-BE49-F238E27FC236}">
                <a16:creationId xmlns:a16="http://schemas.microsoft.com/office/drawing/2014/main" id="{F19D62D5-6F57-4240-8C68-FF546E831C79}"/>
              </a:ext>
            </a:extLst>
          </p:cNvPr>
          <p:cNvSpPr>
            <a:spLocks xmlns:a="http://schemas.openxmlformats.org/drawingml/2006/main" noGrp="1"/>
          </p:cNvSpPr>
          <p:nvPr/>
        </p:nvSpPr>
        <p:spPr>
          <a:xfrm xmlns:a="http://schemas.openxmlformats.org/drawingml/2006/main">
            <a:off x="8096250" y="62960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03  SURVIVE THE SIEGE</a:t>
            </a:r>
          </a:p>
        </p:txBody>
      </p:sp>
      <p:sp>
        <p:nvSpPr>
          <p:cNvPr id="16" name="">
            <a:extLst xmlns:a="http://schemas.openxmlformats.org/drawingml/2006/main">
              <a:ext uri="{FF2B5EF4-FFF2-40B4-BE49-F238E27FC236}">
                <a16:creationId xmlns:a16="http://schemas.microsoft.com/office/drawing/2014/main" id="{77882C24-F886-48D5-BEA2-A63338F778B2}"/>
              </a:ext>
            </a:extLst>
          </p:cNvPr>
          <p:cNvSpPr>
            <a:spLocks xmlns:a="http://schemas.openxmlformats.org/drawingml/2006/main" noGrp="1"/>
          </p:cNvSpPr>
          <p:nvPr/>
        </p:nvSpPr>
        <p:spPr>
          <a:xfrm xmlns:a="http://schemas.openxmlformats.org/drawingml/2006/main">
            <a:off x="8096250" y="67722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Tower level 3 opens the final region. Fourteen buildings and three repair supplies support the last defense.</a:t>
            </a:r>
          </a:p>
        </p:txBody>
      </p:sp>
      <p:sp>
        <p:nvSpPr>
          <p:cNvPr id="17" name="">
            <a:extLst xmlns:a="http://schemas.openxmlformats.org/drawingml/2006/main">
              <a:ext uri="{FF2B5EF4-FFF2-40B4-BE49-F238E27FC236}">
                <a16:creationId xmlns:a16="http://schemas.microsoft.com/office/drawing/2014/main" id="{BF082372-2FDC-4CCA-B2B7-DCA3508A9F3F}"/>
              </a:ext>
            </a:extLst>
          </p:cNvPr>
          <p:cNvSpPr>
            <a:spLocks xmlns:a="http://schemas.openxmlformats.org/drawingml/2006/main" noGrp="1"/>
          </p:cNvSpPr>
          <p:nvPr/>
        </p:nvSpPr>
        <p:spPr>
          <a:xfrm xmlns:a="http://schemas.openxmlformats.org/drawingml/2006/main">
            <a:off x="8096250" y="825817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 FLOW</a:t>
            </a:r>
          </a:p>
        </p:txBody>
      </p:sp>
      <p:sp>
        <p:nvSpPr>
          <p:cNvPr id="18" name="">
            <a:extLst xmlns:a="http://schemas.openxmlformats.org/drawingml/2006/main">
              <a:ext uri="{FF2B5EF4-FFF2-40B4-BE49-F238E27FC236}">
                <a16:creationId xmlns:a16="http://schemas.microsoft.com/office/drawing/2014/main" id="{AEB36BCD-8020-43B7-9459-66AA66DF4569}"/>
              </a:ext>
            </a:extLst>
          </p:cNvPr>
          <p:cNvSpPr>
            <a:spLocks xmlns:a="http://schemas.openxmlformats.org/drawingml/2006/main" noGrp="1"/>
          </p:cNvSpPr>
          <p:nvPr/>
        </p:nvSpPr>
        <p:spPr>
          <a:xfrm xmlns:a="http://schemas.openxmlformats.org/drawingml/2006/main">
            <a:off x="8096250" y="8743950"/>
            <a:ext cx="9334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to open the next region. Clear its waves, collect supplies and return to the tower. Defeat the final enemies to win.</a:t>
            </a:r>
          </a:p>
        </p:txBody>
      </p:sp>
    </p:spTree>
    <p:extLst>
      <p:ext uri="{BB962C8B-B14F-4D97-AF65-F5344CB8AC3E}">
        <p14:creationId xmlns:p14="http://schemas.microsoft.com/office/powerpoint/2010/main" val="1835329986"/>
      </p:ext>
    </p:extLst>
  </p:cSld>
</p:sld>
</file>

<file path=ppt/slides/slide4.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5f67c8b2e5b4051"/>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1C7ADC-6734-46A3-B96B-99D895DB38B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34CB19-AE6F-411E-A4F6-B046194FC00E}"/>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93287DF3-89FE-4B00-93E1-DBF12D925391}"/>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04 / 06</a:t>
            </a:r>
          </a:p>
        </p:txBody>
      </p:sp>
      <p:sp>
        <p:nvSpPr>
          <p:cNvPr id="5" name="">
            <a:extLst xmlns:a="http://schemas.openxmlformats.org/drawingml/2006/main">
              <a:ext uri="{FF2B5EF4-FFF2-40B4-BE49-F238E27FC236}">
                <a16:creationId xmlns:a16="http://schemas.microsoft.com/office/drawing/2014/main" id="{B01FE6C9-EAA9-4452-9469-F02ED873B52C}"/>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Code implementation: enemy pursuit</a:t>
            </a:r>
          </a:p>
        </p:txBody>
      </p:sp>
      <p:sp>
        <p:nvSpPr>
          <p:cNvPr id="6" name="">
            <a:extLst xmlns:a="http://schemas.openxmlformats.org/drawingml/2006/main">
              <a:ext uri="{FF2B5EF4-FFF2-40B4-BE49-F238E27FC236}">
                <a16:creationId xmlns:a16="http://schemas.microsoft.com/office/drawing/2014/main" id="{5F8B9C1A-F33D-4F85-9666-3F2F16CB6067}"/>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 visible player becomes the target. Breaking sight creates a short escape window.</a:t>
            </a:r>
          </a:p>
        </p:txBody>
      </p:sp>
      <p:sp>
        <p:nvSpPr>
          <p:cNvPr id="7" name="">
            <a:extLst xmlns:a="http://schemas.openxmlformats.org/drawingml/2006/main">
              <a:ext uri="{FF2B5EF4-FFF2-40B4-BE49-F238E27FC236}">
                <a16:creationId xmlns:a16="http://schemas.microsoft.com/office/drawing/2014/main" id="{792281A6-8A4E-4D29-ABCE-6C5D4B6EC354}"/>
              </a:ext>
            </a:extLst>
          </p:cNvPr>
          <p:cNvSpPr>
            <a:spLocks xmlns:a="http://schemas.openxmlformats.org/drawingml/2006/main" noGrp="1"/>
          </p:cNvSpPr>
          <p:nvPr/>
        </p:nvSpPr>
        <p:spPr>
          <a:xfrm xmlns:a="http://schemas.openxmlformats.org/drawingml/2006/main">
            <a:off x="647700" y="25336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SOURCE EXCERPT</a:t>
            </a:r>
          </a:p>
        </p:txBody>
      </p:sp>
      <p:sp>
        <p:nvSpPr>
          <p:cNvPr id="8" name="">
            <a:extLst xmlns:a="http://schemas.openxmlformats.org/drawingml/2006/main">
              <a:ext uri="{FF2B5EF4-FFF2-40B4-BE49-F238E27FC236}">
                <a16:creationId xmlns:a16="http://schemas.microsoft.com/office/drawing/2014/main" id="{DA333A44-0BEE-4CD4-BF97-5BE4BDC878D8}"/>
              </a:ext>
            </a:extLst>
          </p:cNvPr>
          <p:cNvSpPr>
            <a:spLocks xmlns:a="http://schemas.openxmlformats.org/drawingml/2006/main" noGrp="1"/>
          </p:cNvSpPr>
          <p:nvPr/>
        </p:nvSpPr>
        <p:spPr>
          <a:xfrm xmlns:a="http://schemas.openxmlformats.org/drawingml/2006/main">
            <a:off x="647700" y="3076575"/>
            <a:ext cx="10668000" cy="5581650"/>
          </a:xfrm>
          <a:prstGeom xmlns:a="http://schemas.openxmlformats.org/drawingml/2006/main" prst="rect">
            <a:avLst/>
          </a:prstGeom>
          <a:solidFill xmlns:a="http://schemas.openxmlformats.org/drawingml/2006/main">
            <a:srgbClr val="0B1D23"/>
          </a:solidFill>
          <a:ln xmlns:a="http://schemas.openxmlformats.org/drawingml/2006/main" w="9525">
            <a:solidFill>
              <a:srgbClr val="53676B"/>
            </a:solidFill>
          </a:ln>
        </p:spPr>
      </p:sp>
      <p:sp>
        <p:nvSpPr>
          <p:cNvPr id="9" name="">
            <a:extLst xmlns:a="http://schemas.openxmlformats.org/drawingml/2006/main">
              <a:ext uri="{FF2B5EF4-FFF2-40B4-BE49-F238E27FC236}">
                <a16:creationId xmlns:a16="http://schemas.microsoft.com/office/drawing/2014/main" id="{53CD74E1-2ECE-49CC-9673-F5632A574C22}"/>
              </a:ext>
            </a:extLst>
          </p:cNvPr>
          <p:cNvSpPr>
            <a:spLocks xmlns:a="http://schemas.openxmlformats.org/drawingml/2006/main" noGrp="1"/>
          </p:cNvSpPr>
          <p:nvPr/>
        </p:nvSpPr>
        <p:spPr>
          <a:xfrm xmlns:a="http://schemas.openxmlformats.org/drawingml/2006/main">
            <a:off x="914400" y="3333750"/>
            <a:ext cx="10134600" cy="512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(playerInRange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playerInRange;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_lastSeenPosition = playerInRange.position;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_lastSeenAt = Time.time;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var playerHealth = MapController.Instance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 MapController.Instance.PlayerHealth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(playerHealth != null &amp;&amp; playerHealth.CurrentHp &gt; 0</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&amp;&amp; Time.time - _lastSeenAt &lt; 1.6f)</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_searchingLastSeen = true;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p:txBody>
      </p:sp>
      <p:sp>
        <p:nvSpPr>
          <p:cNvPr id="10" name="">
            <a:extLst xmlns:a="http://schemas.openxmlformats.org/drawingml/2006/main">
              <a:ext uri="{FF2B5EF4-FFF2-40B4-BE49-F238E27FC236}">
                <a16:creationId xmlns:a16="http://schemas.microsoft.com/office/drawing/2014/main" id="{1B30355F-8A8A-4C60-811A-24E0DF644760}"/>
              </a:ext>
            </a:extLst>
          </p:cNvPr>
          <p:cNvSpPr>
            <a:spLocks xmlns:a="http://schemas.openxmlformats.org/drawingml/2006/main" noGrp="1"/>
          </p:cNvSpPr>
          <p:nvPr/>
        </p:nvSpPr>
        <p:spPr>
          <a:xfrm xmlns:a="http://schemas.openxmlformats.org/drawingml/2006/main">
            <a:off x="647700" y="8924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EnemyAttackBehavior.cs / UpdateTarget()</a:t>
            </a:r>
          </a:p>
        </p:txBody>
      </p:sp>
      <p:sp>
        <p:nvSpPr>
          <p:cNvPr id="11" name="">
            <a:extLst xmlns:a="http://schemas.openxmlformats.org/drawingml/2006/main">
              <a:ext uri="{FF2B5EF4-FFF2-40B4-BE49-F238E27FC236}">
                <a16:creationId xmlns:a16="http://schemas.microsoft.com/office/drawing/2014/main" id="{0E471A48-FF3B-4C1D-A4A3-4E946AA6E63D}"/>
              </a:ext>
            </a:extLst>
          </p:cNvPr>
          <p:cNvSpPr>
            <a:spLocks xmlns:a="http://schemas.openxmlformats.org/drawingml/2006/main" noGrp="1"/>
          </p:cNvSpPr>
          <p:nvPr/>
        </p:nvSpPr>
        <p:spPr>
          <a:xfrm xmlns:a="http://schemas.openxmlformats.org/drawingml/2006/main">
            <a:off x="11963400" y="2667000"/>
            <a:ext cx="567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CONSEQUENCE</a:t>
            </a:r>
          </a:p>
        </p:txBody>
      </p:sp>
      <p:sp>
        <p:nvSpPr>
          <p:cNvPr id="12" name="">
            <a:extLst xmlns:a="http://schemas.openxmlformats.org/drawingml/2006/main">
              <a:ext uri="{FF2B5EF4-FFF2-40B4-BE49-F238E27FC236}">
                <a16:creationId xmlns:a16="http://schemas.microsoft.com/office/drawing/2014/main" id="{B97B48CC-76BF-4DCC-8158-6C4B1B07315B}"/>
              </a:ext>
            </a:extLst>
          </p:cNvPr>
          <p:cNvSpPr>
            <a:spLocks xmlns:a="http://schemas.openxmlformats.org/drawingml/2006/main" noGrp="1"/>
          </p:cNvSpPr>
          <p:nvPr/>
        </p:nvSpPr>
        <p:spPr>
          <a:xfrm xmlns:a="http://schemas.openxmlformats.org/drawingml/2006/main">
            <a:off x="11963400" y="3181350"/>
            <a:ext cx="56769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0">
                <a:solidFill>
                  <a:srgbClr val="F4E9D2"/>
                </a:solidFill>
                <a:latin typeface="Georgia"/>
                <a:ea typeface="Georgia"/>
                <a:cs typeface="Georgia"/>
              </a:defRPr>
            </a:pPr>
            <a:r>
              <a:rPr sz="3225" b="0">
                <a:solidFill>
                  <a:srgbClr val="F4E9D2"/>
                </a:solidFill>
                <a:latin typeface="Georgia"/>
                <a:ea typeface="Georgia"/>
                <a:cs typeface="Georgia"/>
              </a:rPr>
              <a:t>Cover changes the chase</a:t>
            </a:r>
          </a:p>
        </p:txBody>
      </p:sp>
      <p:sp>
        <p:nvSpPr>
          <p:cNvPr id="13" name="">
            <a:extLst xmlns:a="http://schemas.openxmlformats.org/drawingml/2006/main">
              <a:ext uri="{FF2B5EF4-FFF2-40B4-BE49-F238E27FC236}">
                <a16:creationId xmlns:a16="http://schemas.microsoft.com/office/drawing/2014/main" id="{CBEFBD82-261D-4208-940F-B398A5EEDC4E}"/>
              </a:ext>
            </a:extLst>
          </p:cNvPr>
          <p:cNvSpPr>
            <a:spLocks xmlns:a="http://schemas.openxmlformats.org/drawingml/2006/main" noGrp="1"/>
          </p:cNvSpPr>
          <p:nvPr/>
        </p:nvSpPr>
        <p:spPr>
          <a:xfrm xmlns:a="http://schemas.openxmlformats.org/drawingml/2006/main">
            <a:off x="11963400" y="4562475"/>
            <a:ext cx="55435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After losing sight, enemies search the last-seen position for 1.6 seconds before returning to the tower.</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de5988e6f2e41f8"/>
          <a:stretch xmlns:a="http://schemas.openxmlformats.org/drawingml/2006/main"/>
        </p:blipFill>
        <p:spPr>
          <a:xfrm xmlns:a="http://schemas.openxmlformats.org/drawingml/2006/main">
            <a:off x="11963400" y="6620646"/>
            <a:ext cx="5676900" cy="2979784"/>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C447BC0-3769-4CEF-87A1-A88799DCCD5A}"/>
              </a:ext>
            </a:extLst>
          </p:cNvPr>
          <p:cNvSpPr>
            <a:spLocks xmlns:a="http://schemas.openxmlformats.org/drawingml/2006/main" noGrp="1"/>
          </p:cNvSpPr>
          <p:nvPr/>
        </p:nvSpPr>
        <p:spPr>
          <a:xfrm xmlns:a="http://schemas.openxmlformats.org/drawingml/2006/main">
            <a:off x="11963400" y="9734550"/>
            <a:ext cx="5676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Buildings block sight and create escape routes.</a:t>
            </a:r>
          </a:p>
        </p:txBody>
      </p:sp>
      <p:sp>
        <p:nvSpPr>
          <p:cNvPr id="16" name="">
            <a:extLst xmlns:a="http://schemas.openxmlformats.org/drawingml/2006/main">
              <a:ext uri="{FF2B5EF4-FFF2-40B4-BE49-F238E27FC236}">
                <a16:creationId xmlns:a16="http://schemas.microsoft.com/office/drawing/2014/main" id="{C419B7A0-C4C6-4119-98B3-A203C35353E6}"/>
              </a:ext>
            </a:extLst>
          </p:cNvPr>
          <p:cNvSpPr>
            <a:spLocks xmlns:a="http://schemas.openxmlformats.org/drawingml/2006/main" noGrp="1"/>
          </p:cNvSpPr>
          <p:nvPr/>
        </p:nvSpPr>
        <p:spPr>
          <a:xfrm xmlns:a="http://schemas.openxmlformats.org/drawingml/2006/main">
            <a:off x="647700" y="9486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Verified: sight loss, pause, timeout and reacquisition.</a:t>
            </a:r>
          </a:p>
        </p:txBody>
      </p:sp>
    </p:spTree>
    <p:extLst>
      <p:ext uri="{BB962C8B-B14F-4D97-AF65-F5344CB8AC3E}">
        <p14:creationId xmlns:p14="http://schemas.microsoft.com/office/powerpoint/2010/main" val="116943590"/>
      </p:ext>
    </p:extLst>
  </p:cSld>
</p:sld>
</file>

<file path=ppt/slides/slide5.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c17d4e00241467b"/>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F078C-8DB7-4391-B57D-6D6B3CC5AAD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8643D8-A8C1-4124-B0CC-3770CEBF69F2}"/>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AB47B3E1-4775-4665-8F04-13B59E5B5679}"/>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05 / 06</a:t>
            </a:r>
          </a:p>
        </p:txBody>
      </p:sp>
      <p:sp>
        <p:nvSpPr>
          <p:cNvPr id="5" name="">
            <a:extLst xmlns:a="http://schemas.openxmlformats.org/drawingml/2006/main">
              <a:ext uri="{FF2B5EF4-FFF2-40B4-BE49-F238E27FC236}">
                <a16:creationId xmlns:a16="http://schemas.microsoft.com/office/drawing/2014/main" id="{0B367A3C-A4CA-4A5A-9688-58DF7BC34D17}"/>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Development &amp; visual integration</a:t>
            </a:r>
          </a:p>
        </p:txBody>
      </p:sp>
      <p:sp>
        <p:nvSpPr>
          <p:cNvPr id="6" name="">
            <a:extLst xmlns:a="http://schemas.openxmlformats.org/drawingml/2006/main">
              <a:ext uri="{FF2B5EF4-FFF2-40B4-BE49-F238E27FC236}">
                <a16:creationId xmlns:a16="http://schemas.microsoft.com/office/drawing/2014/main" id="{226F8ED1-564B-4277-963F-AFDD5484A785}"/>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Solo project. Game design and development, level design, balancing, art integration and UI.</a:t>
            </a:r>
          </a:p>
        </p:txBody>
      </p:sp>
      <p:sp>
        <p:nvSpPr>
          <p:cNvPr id="7" name="">
            <a:extLst xmlns:a="http://schemas.openxmlformats.org/drawingml/2006/main">
              <a:ext uri="{FF2B5EF4-FFF2-40B4-BE49-F238E27FC236}">
                <a16:creationId xmlns:a16="http://schemas.microsoft.com/office/drawing/2014/main" id="{33EBAE5F-B8C4-4955-AED4-08561A728E53}"/>
              </a:ext>
            </a:extLst>
          </p:cNvPr>
          <p:cNvSpPr>
            <a:spLocks xmlns:a="http://schemas.openxmlformats.org/drawingml/2006/main" noGrp="1"/>
          </p:cNvSpPr>
          <p:nvPr/>
        </p:nvSpPr>
        <p:spPr>
          <a:xfrm xmlns:a="http://schemas.openxmlformats.org/drawingml/2006/main">
            <a:off x="647700" y="2476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DEC 2025 – PRESENT</a:t>
            </a:r>
          </a:p>
        </p:txBody>
      </p:sp>
      <p:sp>
        <p:nvSpPr>
          <p:cNvPr id="8" name="">
            <a:extLst xmlns:a="http://schemas.openxmlformats.org/drawingml/2006/main">
              <a:ext uri="{FF2B5EF4-FFF2-40B4-BE49-F238E27FC236}">
                <a16:creationId xmlns:a16="http://schemas.microsoft.com/office/drawing/2014/main" id="{B9338FA8-4E7C-4749-9F9F-FA1EB389C373}"/>
              </a:ext>
            </a:extLst>
          </p:cNvPr>
          <p:cNvSpPr>
            <a:spLocks xmlns:a="http://schemas.openxmlformats.org/drawingml/2006/main" noGrp="1"/>
          </p:cNvSpPr>
          <p:nvPr/>
        </p:nvSpPr>
        <p:spPr>
          <a:xfrm xmlns:a="http://schemas.openxmlformats.org/drawingml/2006/main">
            <a:off x="11963400" y="2476500"/>
            <a:ext cx="557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WINDOWS PC</a:t>
            </a:r>
          </a:p>
        </p:txBody>
      </p:sp>
      <p:sp>
        <p:nvSpPr>
          <p:cNvPr id="9" name="">
            <a:extLst xmlns:a="http://schemas.openxmlformats.org/drawingml/2006/main">
              <a:ext uri="{FF2B5EF4-FFF2-40B4-BE49-F238E27FC236}">
                <a16:creationId xmlns:a16="http://schemas.microsoft.com/office/drawing/2014/main" id="{2EBF6487-39C6-4772-9FF9-A02047816B6F}"/>
              </a:ext>
            </a:extLst>
          </p:cNvPr>
          <p:cNvSpPr>
            <a:spLocks xmlns:a="http://schemas.openxmlformats.org/drawingml/2006/main" noGrp="1"/>
          </p:cNvSpPr>
          <p:nvPr/>
        </p:nvSpPr>
        <p:spPr>
          <a:xfrm xmlns:a="http://schemas.openxmlformats.org/drawingml/2006/main">
            <a:off x="647700" y="3381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TOWER PROGRESSION</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5696b50b5dac4ec5"/>
          <a:stretch xmlns:a="http://schemas.openxmlformats.org/drawingml/2006/main"/>
        </p:blipFill>
        <p:spPr>
          <a:xfrm xmlns:a="http://schemas.openxmlformats.org/drawingml/2006/main">
            <a:off x="742950" y="4772025"/>
            <a:ext cx="1747838" cy="2381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6F66528-092A-4AB6-A89F-C77DC5AB6F70}"/>
              </a:ext>
            </a:extLst>
          </p:cNvPr>
          <p:cNvSpPr>
            <a:spLocks xmlns:a="http://schemas.openxmlformats.org/drawingml/2006/main" noGrp="1"/>
          </p:cNvSpPr>
          <p:nvPr/>
        </p:nvSpPr>
        <p:spPr>
          <a:xfrm xmlns:a="http://schemas.openxmlformats.org/drawingml/2006/main">
            <a:off x="742950"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0</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86bc644c4ae144a2"/>
          <a:stretch xmlns:a="http://schemas.openxmlformats.org/drawingml/2006/main"/>
        </p:blipFill>
        <p:spPr>
          <a:xfrm xmlns:a="http://schemas.openxmlformats.org/drawingml/2006/main">
            <a:off x="3343275" y="4486275"/>
            <a:ext cx="1922907" cy="2667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583B0BB-6072-44C2-98C6-59D963CDB7B6}"/>
              </a:ext>
            </a:extLst>
          </p:cNvPr>
          <p:cNvSpPr>
            <a:spLocks xmlns:a="http://schemas.openxmlformats.org/drawingml/2006/main" noGrp="1"/>
          </p:cNvSpPr>
          <p:nvPr/>
        </p:nvSpPr>
        <p:spPr>
          <a:xfrm xmlns:a="http://schemas.openxmlformats.org/drawingml/2006/main">
            <a:off x="3343275"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1</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8a41d4fe3494b13"/>
          <a:stretch xmlns:a="http://schemas.openxmlformats.org/drawingml/2006/main"/>
        </p:blipFill>
        <p:spPr>
          <a:xfrm xmlns:a="http://schemas.openxmlformats.org/drawingml/2006/main">
            <a:off x="5943600" y="4200525"/>
            <a:ext cx="2081689" cy="2952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33B01A9-E90C-4484-86D1-315F893AF226}"/>
              </a:ext>
            </a:extLst>
          </p:cNvPr>
          <p:cNvSpPr>
            <a:spLocks xmlns:a="http://schemas.openxmlformats.org/drawingml/2006/main" noGrp="1"/>
          </p:cNvSpPr>
          <p:nvPr/>
        </p:nvSpPr>
        <p:spPr>
          <a:xfrm xmlns:a="http://schemas.openxmlformats.org/drawingml/2006/main">
            <a:off x="5943600"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2</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58a9c644411c426d"/>
          <a:stretch xmlns:a="http://schemas.openxmlformats.org/drawingml/2006/main"/>
        </p:blipFill>
        <p:spPr>
          <a:xfrm xmlns:a="http://schemas.openxmlformats.org/drawingml/2006/main">
            <a:off x="8543925" y="3914775"/>
            <a:ext cx="2464499" cy="3238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D437F495-91DF-4FAF-A935-2ABBC6A6015F}"/>
              </a:ext>
            </a:extLst>
          </p:cNvPr>
          <p:cNvSpPr>
            <a:spLocks xmlns:a="http://schemas.openxmlformats.org/drawingml/2006/main" noGrp="1"/>
          </p:cNvSpPr>
          <p:nvPr/>
        </p:nvSpPr>
        <p:spPr>
          <a:xfrm xmlns:a="http://schemas.openxmlformats.org/drawingml/2006/main">
            <a:off x="8543925"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3</a:t>
            </a:r>
          </a:p>
        </p:txBody>
      </p:sp>
      <p:sp>
        <p:nvSpPr>
          <p:cNvPr id="18" name="">
            <a:extLst xmlns:a="http://schemas.openxmlformats.org/drawingml/2006/main">
              <a:ext uri="{FF2B5EF4-FFF2-40B4-BE49-F238E27FC236}">
                <a16:creationId xmlns:a16="http://schemas.microsoft.com/office/drawing/2014/main" id="{079C8952-703A-4567-B172-1B63F44ABC20}"/>
              </a:ext>
            </a:extLst>
          </p:cNvPr>
          <p:cNvSpPr>
            <a:spLocks xmlns:a="http://schemas.openxmlformats.org/drawingml/2006/main" noGrp="1"/>
          </p:cNvSpPr>
          <p:nvPr/>
        </p:nvSpPr>
        <p:spPr>
          <a:xfrm xmlns:a="http://schemas.openxmlformats.org/drawingml/2006/main">
            <a:off x="647700" y="82200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RESOURCE READABILITY</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766f1dea4d4746ab"/>
          <a:stretch xmlns:a="http://schemas.openxmlformats.org/drawingml/2006/main"/>
        </p:blipFill>
        <p:spPr>
          <a:xfrm xmlns:a="http://schemas.openxmlformats.org/drawingml/2006/main">
            <a:off x="742950" y="8902802"/>
            <a:ext cx="952500" cy="76814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05D74650-CE58-402E-8D9F-39D94AF55BBA}"/>
              </a:ext>
            </a:extLst>
          </p:cNvPr>
          <p:cNvSpPr>
            <a:spLocks xmlns:a="http://schemas.openxmlformats.org/drawingml/2006/main" noGrp="1"/>
          </p:cNvSpPr>
          <p:nvPr/>
        </p:nvSpPr>
        <p:spPr>
          <a:xfrm xmlns:a="http://schemas.openxmlformats.org/drawingml/2006/main">
            <a:off x="1847850" y="9096375"/>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Georgia"/>
                <a:ea typeface="Georgia"/>
                <a:cs typeface="Georgia"/>
              </a:defRPr>
            </a:pPr>
            <a:r>
              <a:rPr sz="2175" b="0">
                <a:solidFill>
                  <a:srgbClr val="F4E9D2"/>
                </a:solidFill>
                <a:latin typeface="Georgia"/>
                <a:ea typeface="Georgia"/>
                <a:cs typeface="Georgia"/>
              </a:rPr>
              <a:t>Wood</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73d4928792674432"/>
          <a:stretch xmlns:a="http://schemas.openxmlformats.org/drawingml/2006/main"/>
        </p:blipFill>
        <p:spPr>
          <a:xfrm xmlns:a="http://schemas.openxmlformats.org/drawingml/2006/main">
            <a:off x="3392073" y="8810625"/>
            <a:ext cx="950154" cy="9525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795844AC-D545-436B-ABDD-5ABFAFB40C7D}"/>
              </a:ext>
            </a:extLst>
          </p:cNvPr>
          <p:cNvSpPr>
            <a:spLocks xmlns:a="http://schemas.openxmlformats.org/drawingml/2006/main" noGrp="1"/>
          </p:cNvSpPr>
          <p:nvPr/>
        </p:nvSpPr>
        <p:spPr>
          <a:xfrm xmlns:a="http://schemas.openxmlformats.org/drawingml/2006/main">
            <a:off x="4495800" y="9096375"/>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Georgia"/>
                <a:ea typeface="Georgia"/>
                <a:cs typeface="Georgia"/>
              </a:defRPr>
            </a:pPr>
            <a:r>
              <a:rPr sz="2175" b="0">
                <a:solidFill>
                  <a:srgbClr val="F4E9D2"/>
                </a:solidFill>
                <a:latin typeface="Georgia"/>
                <a:ea typeface="Georgia"/>
                <a:cs typeface="Georgia"/>
              </a:rPr>
              <a:t>Stone</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349efea542f94163"/>
          <a:stretch xmlns:a="http://schemas.openxmlformats.org/drawingml/2006/main"/>
        </p:blipFill>
        <p:spPr>
          <a:xfrm xmlns:a="http://schemas.openxmlformats.org/drawingml/2006/main">
            <a:off x="6038850" y="8921289"/>
            <a:ext cx="952500" cy="731172"/>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32C6F6F-33EB-4A50-8C48-CC5292E049BE}"/>
              </a:ext>
            </a:extLst>
          </p:cNvPr>
          <p:cNvSpPr>
            <a:spLocks xmlns:a="http://schemas.openxmlformats.org/drawingml/2006/main" noGrp="1"/>
          </p:cNvSpPr>
          <p:nvPr/>
        </p:nvSpPr>
        <p:spPr>
          <a:xfrm xmlns:a="http://schemas.openxmlformats.org/drawingml/2006/main">
            <a:off x="7143750" y="9096375"/>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Georgia"/>
                <a:ea typeface="Georgia"/>
                <a:cs typeface="Georgia"/>
              </a:defRPr>
            </a:pPr>
            <a:r>
              <a:rPr sz="2175" b="0">
                <a:solidFill>
                  <a:srgbClr val="F4E9D2"/>
                </a:solidFill>
                <a:latin typeface="Georgia"/>
                <a:ea typeface="Georgia"/>
                <a:cs typeface="Georgia"/>
              </a:rPr>
              <a:t>Gel</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bcdf088819534795"/>
          <a:stretch xmlns:a="http://schemas.openxmlformats.org/drawingml/2006/main"/>
        </p:blipFill>
        <p:spPr>
          <a:xfrm xmlns:a="http://schemas.openxmlformats.org/drawingml/2006/main">
            <a:off x="8686800" y="8832582"/>
            <a:ext cx="952500" cy="908587"/>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9609C18E-5ACF-42B0-93FC-729F74DEC0A6}"/>
              </a:ext>
            </a:extLst>
          </p:cNvPr>
          <p:cNvSpPr>
            <a:spLocks xmlns:a="http://schemas.openxmlformats.org/drawingml/2006/main" noGrp="1"/>
          </p:cNvSpPr>
          <p:nvPr/>
        </p:nvSpPr>
        <p:spPr>
          <a:xfrm xmlns:a="http://schemas.openxmlformats.org/drawingml/2006/main">
            <a:off x="9791700" y="9096375"/>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Georgia"/>
                <a:ea typeface="Georgia"/>
                <a:cs typeface="Georgia"/>
              </a:defRPr>
            </a:pPr>
            <a:r>
              <a:rPr sz="2175" b="0">
                <a:solidFill>
                  <a:srgbClr val="F4E9D2"/>
                </a:solidFill>
                <a:latin typeface="Georgia"/>
                <a:ea typeface="Georgia"/>
                <a:cs typeface="Georgia"/>
              </a:rPr>
              <a:t>Teeth</a:t>
            </a:r>
          </a:p>
        </p:txBody>
      </p:sp>
      <p:sp>
        <p:nvSpPr>
          <p:cNvPr id="27" name="">
            <a:extLst xmlns:a="http://schemas.openxmlformats.org/drawingml/2006/main">
              <a:ext uri="{FF2B5EF4-FFF2-40B4-BE49-F238E27FC236}">
                <a16:creationId xmlns:a16="http://schemas.microsoft.com/office/drawing/2014/main" id="{6822E253-399B-4E89-AF93-DF7A46FE6FA5}"/>
              </a:ext>
            </a:extLst>
          </p:cNvPr>
          <p:cNvSpPr>
            <a:spLocks xmlns:a="http://schemas.openxmlformats.org/drawingml/2006/main" noGrp="1"/>
          </p:cNvSpPr>
          <p:nvPr/>
        </p:nvSpPr>
        <p:spPr>
          <a:xfrm xmlns:a="http://schemas.openxmlformats.org/drawingml/2006/main">
            <a:off x="11963400" y="3381375"/>
            <a:ext cx="557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DEVELOPMENT PROCESS</a:t>
            </a:r>
          </a:p>
        </p:txBody>
      </p:sp>
      <p:sp>
        <p:nvSpPr>
          <p:cNvPr id="28" name="">
            <a:extLst xmlns:a="http://schemas.openxmlformats.org/drawingml/2006/main">
              <a:ext uri="{FF2B5EF4-FFF2-40B4-BE49-F238E27FC236}">
                <a16:creationId xmlns:a16="http://schemas.microsoft.com/office/drawing/2014/main" id="{583FD581-B64C-4C03-8749-031C6E923F16}"/>
              </a:ext>
            </a:extLst>
          </p:cNvPr>
          <p:cNvSpPr>
            <a:spLocks xmlns:a="http://schemas.openxmlformats.org/drawingml/2006/main" noGrp="1"/>
          </p:cNvSpPr>
          <p:nvPr/>
        </p:nvSpPr>
        <p:spPr>
          <a:xfrm xmlns:a="http://schemas.openxmlformats.org/drawingml/2006/main">
            <a:off x="11963400" y="400050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01  Prototype</a:t>
            </a:r>
          </a:p>
        </p:txBody>
      </p:sp>
      <p:sp>
        <p:nvSpPr>
          <p:cNvPr id="29" name="">
            <a:extLst xmlns:a="http://schemas.openxmlformats.org/drawingml/2006/main">
              <a:ext uri="{FF2B5EF4-FFF2-40B4-BE49-F238E27FC236}">
                <a16:creationId xmlns:a16="http://schemas.microsoft.com/office/drawing/2014/main" id="{CD9D7183-5978-4B75-9D7D-C47D1BA4411C}"/>
              </a:ext>
            </a:extLst>
          </p:cNvPr>
          <p:cNvSpPr>
            <a:spLocks xmlns:a="http://schemas.openxmlformats.org/drawingml/2006/main" noGrp="1"/>
          </p:cNvSpPr>
          <p:nvPr/>
        </p:nvSpPr>
        <p:spPr>
          <a:xfrm xmlns:a="http://schemas.openxmlformats.org/drawingml/2006/main">
            <a:off x="11963400" y="465772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Movement, resources, tower upgrades and authored enemy waves.</a:t>
            </a:r>
          </a:p>
        </p:txBody>
      </p:sp>
      <p:sp>
        <p:nvSpPr>
          <p:cNvPr id="30" name="">
            <a:extLst xmlns:a="http://schemas.openxmlformats.org/drawingml/2006/main">
              <a:ext uri="{FF2B5EF4-FFF2-40B4-BE49-F238E27FC236}">
                <a16:creationId xmlns:a16="http://schemas.microsoft.com/office/drawing/2014/main" id="{0E1D24C7-AF29-4FDE-B2E8-3179F7BEF57D}"/>
              </a:ext>
            </a:extLst>
          </p:cNvPr>
          <p:cNvSpPr>
            <a:spLocks xmlns:a="http://schemas.openxmlformats.org/drawingml/2006/main" noGrp="1"/>
          </p:cNvSpPr>
          <p:nvPr/>
        </p:nvSpPr>
        <p:spPr>
          <a:xfrm xmlns:a="http://schemas.openxmlformats.org/drawingml/2006/main">
            <a:off x="11963400" y="5819775"/>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02  Integrate</a:t>
            </a:r>
          </a:p>
        </p:txBody>
      </p:sp>
      <p:sp>
        <p:nvSpPr>
          <p:cNvPr id="31" name="">
            <a:extLst xmlns:a="http://schemas.openxmlformats.org/drawingml/2006/main">
              <a:ext uri="{FF2B5EF4-FFF2-40B4-BE49-F238E27FC236}">
                <a16:creationId xmlns:a16="http://schemas.microsoft.com/office/drawing/2014/main" id="{B947D3F6-4177-4C55-BBC5-A5C4B5E0F813}"/>
              </a:ext>
            </a:extLst>
          </p:cNvPr>
          <p:cNvSpPr>
            <a:spLocks xmlns:a="http://schemas.openxmlformats.org/drawingml/2006/main" noGrp="1"/>
          </p:cNvSpPr>
          <p:nvPr/>
        </p:nvSpPr>
        <p:spPr>
          <a:xfrm xmlns:a="http://schemas.openxmlformats.org/drawingml/2006/main">
            <a:off x="11963400" y="6477000"/>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Import transparent sprites. Align tower pivots and keep pixel filtering consistent.</a:t>
            </a:r>
          </a:p>
        </p:txBody>
      </p:sp>
      <p:sp>
        <p:nvSpPr>
          <p:cNvPr id="32" name="">
            <a:extLst xmlns:a="http://schemas.openxmlformats.org/drawingml/2006/main">
              <a:ext uri="{FF2B5EF4-FFF2-40B4-BE49-F238E27FC236}">
                <a16:creationId xmlns:a16="http://schemas.microsoft.com/office/drawing/2014/main" id="{5F86BA4A-4B04-4983-B904-DE5FB75B287A}"/>
              </a:ext>
            </a:extLst>
          </p:cNvPr>
          <p:cNvSpPr>
            <a:spLocks xmlns:a="http://schemas.openxmlformats.org/drawingml/2006/main" noGrp="1"/>
          </p:cNvSpPr>
          <p:nvPr/>
        </p:nvSpPr>
        <p:spPr>
          <a:xfrm xmlns:a="http://schemas.openxmlformats.org/drawingml/2006/main">
            <a:off x="11963400" y="763905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03  Refine</a:t>
            </a:r>
          </a:p>
        </p:txBody>
      </p:sp>
      <p:sp>
        <p:nvSpPr>
          <p:cNvPr id="33" name="">
            <a:extLst xmlns:a="http://schemas.openxmlformats.org/drawingml/2006/main">
              <a:ext uri="{FF2B5EF4-FFF2-40B4-BE49-F238E27FC236}">
                <a16:creationId xmlns:a16="http://schemas.microsoft.com/office/drawing/2014/main" id="{47CF2D63-B30D-4206-A5F9-9FA9DD89C2DC}"/>
              </a:ext>
            </a:extLst>
          </p:cNvPr>
          <p:cNvSpPr>
            <a:spLocks xmlns:a="http://schemas.openxmlformats.org/drawingml/2006/main" noGrp="1"/>
          </p:cNvSpPr>
          <p:nvPr/>
        </p:nvSpPr>
        <p:spPr>
          <a:xfrm xmlns:a="http://schemas.openxmlformats.org/drawingml/2006/main">
            <a:off x="11963400" y="829627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Tune navigation, warning effects, bilingual UI and the full game loop.</a:t>
            </a:r>
          </a:p>
        </p:txBody>
      </p:sp>
    </p:spTree>
    <p:extLst>
      <p:ext uri="{BB962C8B-B14F-4D97-AF65-F5344CB8AC3E}">
        <p14:creationId xmlns:p14="http://schemas.microsoft.com/office/powerpoint/2010/main" val="1496176740"/>
      </p:ext>
    </p:extLst>
  </p:cSld>
</p:sld>
</file>

<file path=ppt/slides/slide6.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8c04738724e4c0c"/>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E5ABD3-28CE-4CE1-9F45-132780C71FA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F40596-34CD-478E-B3D6-FB011D36C341}"/>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FCEC0DD9-1743-422E-AEB8-BFD160FC24FD}"/>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06 / 06</a:t>
            </a:r>
          </a:p>
        </p:txBody>
      </p:sp>
      <p:sp>
        <p:nvSpPr>
          <p:cNvPr id="5" name="">
            <a:extLst xmlns:a="http://schemas.openxmlformats.org/drawingml/2006/main">
              <a:ext uri="{FF2B5EF4-FFF2-40B4-BE49-F238E27FC236}">
                <a16:creationId xmlns:a16="http://schemas.microsoft.com/office/drawing/2014/main" id="{979A5598-7634-42FC-84D4-C069222BEFFA}"/>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Game gallery &amp; presentation</a:t>
            </a:r>
          </a:p>
        </p:txBody>
      </p:sp>
      <p:sp>
        <p:nvSpPr>
          <p:cNvPr id="6" name="">
            <a:extLst xmlns:a="http://schemas.openxmlformats.org/drawingml/2006/main">
              <a:ext uri="{FF2B5EF4-FFF2-40B4-BE49-F238E27FC236}">
                <a16:creationId xmlns:a16="http://schemas.microsoft.com/office/drawing/2014/main" id="{D7A36D72-592C-4120-A729-22E3B5BF9C6A}"/>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From the first menu to the final defense. English and Chinese interface settings remain available.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05fecf9e9ea4013"/>
          <a:stretch xmlns:a="http://schemas.openxmlformats.org/drawingml/2006/main"/>
        </p:blipFill>
        <p:spPr>
          <a:xfrm xmlns:a="http://schemas.openxmlformats.org/drawingml/2006/main">
            <a:off x="647700" y="2509166"/>
            <a:ext cx="5410200" cy="283979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334D767-2FDB-47B7-945B-2D0FCE72EDF4}"/>
              </a:ext>
            </a:extLst>
          </p:cNvPr>
          <p:cNvSpPr>
            <a:spLocks xmlns:a="http://schemas.openxmlformats.org/drawingml/2006/main" noGrp="1"/>
          </p:cNvSpPr>
          <p:nvPr/>
        </p:nvSpPr>
        <p:spPr>
          <a:xfrm xmlns:a="http://schemas.openxmlformats.org/drawingml/2006/main">
            <a:off x="6477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Main menu</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79c3e5b77e140e6"/>
          <a:stretch xmlns:a="http://schemas.openxmlformats.org/drawingml/2006/main"/>
        </p:blipFill>
        <p:spPr>
          <a:xfrm xmlns:a="http://schemas.openxmlformats.org/drawingml/2006/main">
            <a:off x="6419850" y="2509166"/>
            <a:ext cx="5410200" cy="283979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4F975A8-8AF3-4D0E-BFF7-687CA478736E}"/>
              </a:ext>
            </a:extLst>
          </p:cNvPr>
          <p:cNvSpPr>
            <a:spLocks xmlns:a="http://schemas.openxmlformats.org/drawingml/2006/main" noGrp="1"/>
          </p:cNvSpPr>
          <p:nvPr/>
        </p:nvSpPr>
        <p:spPr>
          <a:xfrm xmlns:a="http://schemas.openxmlformats.org/drawingml/2006/main">
            <a:off x="641985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feedback</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dfb7491de864bdd"/>
          <a:stretch xmlns:a="http://schemas.openxmlformats.org/drawingml/2006/main"/>
        </p:blipFill>
        <p:spPr>
          <a:xfrm xmlns:a="http://schemas.openxmlformats.org/drawingml/2006/main">
            <a:off x="12192000" y="2509166"/>
            <a:ext cx="5410200" cy="283979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8556ADA-CEF1-4A93-9ACE-739D17DC603B}"/>
              </a:ext>
            </a:extLst>
          </p:cNvPr>
          <p:cNvSpPr>
            <a:spLocks xmlns:a="http://schemas.openxmlformats.org/drawingml/2006/main" noGrp="1"/>
          </p:cNvSpPr>
          <p:nvPr/>
        </p:nvSpPr>
        <p:spPr>
          <a:xfrm xmlns:a="http://schemas.openxmlformats.org/drawingml/2006/main">
            <a:off x="121920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All three regions reclaimed</a:t>
            </a:r>
          </a:p>
        </p:txBody>
      </p:sp>
      <p:sp>
        <p:nvSpPr>
          <p:cNvPr id="13" name="">
            <a:extLst xmlns:a="http://schemas.openxmlformats.org/drawingml/2006/main">
              <a:ext uri="{FF2B5EF4-FFF2-40B4-BE49-F238E27FC236}">
                <a16:creationId xmlns:a16="http://schemas.microsoft.com/office/drawing/2014/main" id="{90C1CD37-BF23-4BE6-B9DF-AE6B8B83B8DE}"/>
              </a:ext>
            </a:extLst>
          </p:cNvPr>
          <p:cNvSpPr>
            <a:spLocks xmlns:a="http://schemas.openxmlformats.org/drawingml/2006/main" noGrp="1"/>
          </p:cNvSpPr>
          <p:nvPr/>
        </p:nvSpPr>
        <p:spPr>
          <a:xfrm xmlns:a="http://schemas.openxmlformats.org/drawingml/2006/main">
            <a:off x="647700" y="60579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PROMOTIONAL VIDEO / 1–2 MIN</a:t>
            </a:r>
          </a:p>
        </p:txBody>
      </p:sp>
      <p:sp>
        <p:nvSpPr>
          <p:cNvPr id="14" name="">
            <a:extLst xmlns:a="http://schemas.openxmlformats.org/drawingml/2006/main">
              <a:ext uri="{FF2B5EF4-FFF2-40B4-BE49-F238E27FC236}">
                <a16:creationId xmlns:a16="http://schemas.microsoft.com/office/drawing/2014/main" id="{D1C7330E-C003-4993-96F3-CA3DF4FCAA29}"/>
              </a:ext>
            </a:extLst>
          </p:cNvPr>
          <p:cNvSpPr>
            <a:spLocks xmlns:a="http://schemas.openxmlformats.org/drawingml/2006/main" noGrp="1"/>
          </p:cNvSpPr>
          <p:nvPr/>
        </p:nvSpPr>
        <p:spPr>
          <a:xfrm xmlns:a="http://schemas.openxmlformats.org/drawingml/2006/main">
            <a:off x="647700" y="6562725"/>
            <a:ext cx="6096000" cy="342900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5" name="">
            <a:extLst xmlns:a="http://schemas.openxmlformats.org/drawingml/2006/main">
              <a:ext uri="{FF2B5EF4-FFF2-40B4-BE49-F238E27FC236}">
                <a16:creationId xmlns:a16="http://schemas.microsoft.com/office/drawing/2014/main" id="{A201AA4E-EB5D-489F-81E0-02A43B432EEE}"/>
              </a:ext>
            </a:extLst>
          </p:cNvPr>
          <p:cNvSpPr>
            <a:spLocks xmlns:a="http://schemas.openxmlformats.org/drawingml/2006/main" noGrp="1"/>
          </p:cNvSpPr>
          <p:nvPr/>
        </p:nvSpPr>
        <p:spPr>
          <a:xfrm xmlns:a="http://schemas.openxmlformats.org/drawingml/2006/main">
            <a:off x="3048000" y="8067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Video slot</a:t>
            </a:r>
          </a:p>
        </p:txBody>
      </p:sp>
      <p:sp>
        <p:nvSpPr>
          <p:cNvPr id="16" name="">
            <a:extLst xmlns:a="http://schemas.openxmlformats.org/drawingml/2006/main">
              <a:ext uri="{FF2B5EF4-FFF2-40B4-BE49-F238E27FC236}">
                <a16:creationId xmlns:a16="http://schemas.microsoft.com/office/drawing/2014/main" id="{5855764D-04CF-4E83-BAEE-0763D322E066}"/>
              </a:ext>
            </a:extLst>
          </p:cNvPr>
          <p:cNvSpPr>
            <a:spLocks xmlns:a="http://schemas.openxmlformats.org/drawingml/2006/main" noGrp="1"/>
          </p:cNvSpPr>
          <p:nvPr/>
        </p:nvSpPr>
        <p:spPr>
          <a:xfrm xmlns:a="http://schemas.openxmlformats.org/drawingml/2006/main">
            <a:off x="7524750" y="6057900"/>
            <a:ext cx="10115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PLAYTEST</a:t>
            </a:r>
          </a:p>
        </p:txBody>
      </p:sp>
      <p:sp>
        <p:nvSpPr>
          <p:cNvPr id="17" name="">
            <a:extLst xmlns:a="http://schemas.openxmlformats.org/drawingml/2006/main">
              <a:ext uri="{FF2B5EF4-FFF2-40B4-BE49-F238E27FC236}">
                <a16:creationId xmlns:a16="http://schemas.microsoft.com/office/drawing/2014/main" id="{0EAEA0D0-E59E-44EA-809F-547B0E1E7CA6}"/>
              </a:ext>
            </a:extLst>
          </p:cNvPr>
          <p:cNvSpPr>
            <a:spLocks xmlns:a="http://schemas.openxmlformats.org/drawingml/2006/main" noGrp="1"/>
          </p:cNvSpPr>
          <p:nvPr/>
        </p:nvSpPr>
        <p:spPr>
          <a:xfrm xmlns:a="http://schemas.openxmlformats.org/drawingml/2006/main">
            <a:off x="7524750" y="6562725"/>
            <a:ext cx="10115550" cy="21907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8" name="">
            <a:extLst xmlns:a="http://schemas.openxmlformats.org/drawingml/2006/main">
              <a:ext uri="{FF2B5EF4-FFF2-40B4-BE49-F238E27FC236}">
                <a16:creationId xmlns:a16="http://schemas.microsoft.com/office/drawing/2014/main" id="{7AA896FC-019E-445E-AC9F-9529507BB72F}"/>
              </a:ext>
            </a:extLst>
          </p:cNvPr>
          <p:cNvSpPr>
            <a:spLocks xmlns:a="http://schemas.openxmlformats.org/drawingml/2006/main" noGrp="1"/>
          </p:cNvSpPr>
          <p:nvPr/>
        </p:nvSpPr>
        <p:spPr>
          <a:xfrm xmlns:a="http://schemas.openxmlformats.org/drawingml/2006/main">
            <a:off x="7524750" y="9286875"/>
            <a:ext cx="290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THE ROOKIES</a:t>
            </a:r>
          </a:p>
        </p:txBody>
      </p:sp>
      <p:sp>
        <p:nvSpPr>
          <p:cNvPr id="19" name="">
            <a:extLst xmlns:a="http://schemas.openxmlformats.org/drawingml/2006/main">
              <a:ext uri="{FF2B5EF4-FFF2-40B4-BE49-F238E27FC236}">
                <a16:creationId xmlns:a16="http://schemas.microsoft.com/office/drawing/2014/main" id="{9C6FD0D5-10AF-4B1F-8F81-E55B26CAD830}"/>
              </a:ext>
            </a:extLst>
          </p:cNvPr>
          <p:cNvSpPr>
            <a:spLocks xmlns:a="http://schemas.openxmlformats.org/drawingml/2006/main" noGrp="1"/>
          </p:cNvSpPr>
          <p:nvPr/>
        </p:nvSpPr>
        <p:spPr>
          <a:xfrm xmlns:a="http://schemas.openxmlformats.org/drawingml/2006/main">
            <a:off x="10953750" y="9286875"/>
            <a:ext cx="666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Project page pending</a:t>
            </a:r>
          </a:p>
        </p:txBody>
      </p:sp>
    </p:spTree>
    <p:extLst>
      <p:ext uri="{BB962C8B-B14F-4D97-AF65-F5344CB8AC3E}">
        <p14:creationId xmlns:p14="http://schemas.microsoft.com/office/powerpoint/2010/main" val="8171837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2026-09-20T14:34:08.8720000Z</dcterms:created>
  <dcterms:modified xsi:type="dcterms:W3CDTF">2026-09-20T14:34:08.8720000Z</dcterms:modified>
</coreProperties>
</file>
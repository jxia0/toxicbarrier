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2163e2abea408b" /><Relationship Type="http://schemas.openxmlformats.org/officeDocument/2006/relationships/extended-properties" Target="/docProps/app.xml" Id="R55b54324adb84500" /><Relationship Type="http://schemas.openxmlformats.org/officeDocument/2006/relationships/officeDocument" Target="/ppt/presentation.xml" Id="R2f5908aa61494503" /></Relationships>
</file>

<file path=ppt/presentation.xml><?xml version="1.0" encoding="utf-8"?>
<p:presentation xmlns:p="http://schemas.openxmlformats.org/presentationml/2006/main">
  <p:sldMasterIdLst>
    <p:sldMasterId xmlns:r="http://schemas.openxmlformats.org/officeDocument/2006/relationships" id="2147483648" r:id="R1ebcf88cf4184f36"/>
  </p:sldMasterIdLst>
  <p:notesMasterIdLst>
    <p:notesMasterId xmlns:r="http://schemas.openxmlformats.org/officeDocument/2006/relationships" r:id="Re7709b27e6b64077"/>
  </p:notesMasterIdLst>
  <p:sldIdLst>
    <p:sldId xmlns:r="http://schemas.openxmlformats.org/officeDocument/2006/relationships" id="256" r:id="R952fd04a75114d77"/>
    <p:sldId xmlns:r="http://schemas.openxmlformats.org/officeDocument/2006/relationships" id="257" r:id="R68187f2bb8b044ba"/>
    <p:sldId xmlns:r="http://schemas.openxmlformats.org/officeDocument/2006/relationships" id="258" r:id="R2dba34ff86964803"/>
    <p:sldId xmlns:r="http://schemas.openxmlformats.org/officeDocument/2006/relationships" id="259" r:id="R17632098441b4604"/>
    <p:sldId xmlns:r="http://schemas.openxmlformats.org/officeDocument/2006/relationships" id="260" r:id="R5a48f7f9c03c479e"/>
    <p:sldId xmlns:r="http://schemas.openxmlformats.org/officeDocument/2006/relationships" id="261" r:id="Raa017ebb9df64a1c"/>
    <p:sldId xmlns:r="http://schemas.openxmlformats.org/officeDocument/2006/relationships" id="262" r:id="R428852a2bb4e4d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4ffa702d9f4d75" /><Relationship Type="http://schemas.openxmlformats.org/officeDocument/2006/relationships/slideMaster" Target="/ppt/slideMasters/slideMaster1.xml" Id="R1ebcf88cf4184f36" /><Relationship Type="http://schemas.openxmlformats.org/officeDocument/2006/relationships/notesMaster" Target="/ppt/notesMasters/notesMaster1.xml" Id="Re7709b27e6b64077" /><Relationship Type="http://schemas.openxmlformats.org/officeDocument/2006/relationships/presProps" Target="/ppt/presProps.xml" Id="Rdb4902e4aa2e406d" /><Relationship Type="http://schemas.openxmlformats.org/officeDocument/2006/relationships/tableStyles" Target="/ppt/tableStyles.xml" Id="Rcb90244f6e9347cb" /><Relationship Type="http://schemas.openxmlformats.org/officeDocument/2006/relationships/slide" Target="/ppt/slides/slide1.xml" Id="R952fd04a75114d77" /><Relationship Type="http://schemas.openxmlformats.org/officeDocument/2006/relationships/slide" Target="/ppt/slides/slide2.xml" Id="R68187f2bb8b044ba" /><Relationship Type="http://schemas.openxmlformats.org/officeDocument/2006/relationships/slide" Target="/ppt/slides/slide3.xml" Id="R2dba34ff86964803" /><Relationship Type="http://schemas.openxmlformats.org/officeDocument/2006/relationships/slide" Target="/ppt/slides/slide4.xml" Id="R17632098441b4604" /><Relationship Type="http://schemas.openxmlformats.org/officeDocument/2006/relationships/slide" Target="/ppt/slides/slide5.xml" Id="R5a48f7f9c03c479e" /><Relationship Type="http://schemas.openxmlformats.org/officeDocument/2006/relationships/slide" Target="/ppt/slides/slide6.xml" Id="Raa017ebb9df64a1c" /><Relationship Type="http://schemas.openxmlformats.org/officeDocument/2006/relationships/slide" Target="/ppt/slides/slide7.xml" Id="R428852a2bb4e4d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108dc77a3c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ddfa15c9a94a0a" /><Relationship Type="http://schemas.openxmlformats.org/officeDocument/2006/relationships/notesMaster" Target="/ppt/notesMasters/notesMaster1.xml" Id="Rb6c9c1f6782b4f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951c9766124031" /><Relationship Type="http://schemas.openxmlformats.org/officeDocument/2006/relationships/notesMaster" Target="/ppt/notesMasters/notesMaster1.xml" Id="Re524f5d5cd914d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a6187033e34fe8" /><Relationship Type="http://schemas.openxmlformats.org/officeDocument/2006/relationships/notesMaster" Target="/ppt/notesMasters/notesMaster1.xml" Id="R5c247538398346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73f799f6bc4ff8" /><Relationship Type="http://schemas.openxmlformats.org/officeDocument/2006/relationships/notesMaster" Target="/ppt/notesMasters/notesMaster1.xml" Id="R8a6a67d1adc04f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5489cd823a4ee0" /><Relationship Type="http://schemas.openxmlformats.org/officeDocument/2006/relationships/notesMaster" Target="/ppt/notesMasters/notesMaster1.xml" Id="R9df23b19b0e047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c0880113434e12" /><Relationship Type="http://schemas.openxmlformats.org/officeDocument/2006/relationships/notesMaster" Target="/ppt/notesMasters/notesMaster1.xml" Id="R241492f38f7e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aff76411224696" /><Relationship Type="http://schemas.openxmlformats.org/officeDocument/2006/relationships/notesMaster" Target="/ppt/notesMasters/notesMaster1.xml" Id="Refeab8a938b941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Today I’m presenting two of my game projects. ToxicBarrier is a digital survival game about protecting a tower. Vision Zero is a competitive board game about planning safer streets. I’ll explain the main decisions in each game, with a short gameplay video for ToxicBarrier.</a:t>
            </a:r>
          </a:p>
          <a:p xmlns:a="http://schemas.openxmlformats.org/drawingml/2006/main">
            <a:r>
              <a:t/>
            </a:r>
          </a:p>
          <a:p xmlns:a="http://schemas.openxmlformats.org/drawingml/2006/main">
            <a:r>
              <a:t>PROJECT SOURCES</a:t>
            </a:r>
          </a:p>
          <a:p xmlns:a="http://schemas.openxmlformats.org/drawingml/2006/main">
            <a:r>
              <a:t>ToxicBarrier: output/Promo/2026-09-19/ToxicBarrier_Background_1920x1080.png, promotional illustration, not gameplay. Vision Zero: C:/GameProjects/CityBoardGame/核心美术背景图.png, project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In ToxicBarrier, the player and the central tower are on the same side. The tower attacks automatically, while the player moves around the map, collects materials and draws enemies into its range. The tower starts at level zero and can reach level three. Upgrades improve it and open access to more of the map. The main decision is when to explore and when to return. Staying close is safer, but collecting resources requires leaving that protection. To win, the player must fully upgrade the tower and clear the waves and remaining enemies in all three regions.</a:t>
            </a:r>
          </a:p>
          <a:p xmlns:a="http://schemas.openxmlformats.org/drawingml/2006/main">
            <a:r>
              <a:t/>
            </a:r>
          </a:p>
          <a:p xmlns:a="http://schemas.openxmlformats.org/drawingml/2006/main">
            <a:r>
              <a:t>PROJECT SOURCES</a:t>
            </a:r>
          </a:p>
          <a:p xmlns:a="http://schemas.openxmlformats.org/drawingml/2006/main">
            <a:r>
              <a:t>Assets/Scripts/Loot/Enemies/Tower.cs: InitialLevel=0, MaxLevel=3. .utmp/ui-checks/02-game-hud.png. output/Review/2026-09-19/GameplayPolish.md.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I’ve been refining the decisions around movement. Buildings now give players routes around enemies. If a building blocks an enemy’s view, it searches the last place it saw the player before returning to the tower. This lets positioning change a fight. The orange circle shown here warns the player before a boss attack lands. There are also limited repair supplies in the outer region. Bringing one back can save the tower, but the trip means spending time away from it. The next video shows these decisions in action.</a:t>
            </a:r>
          </a:p>
          <a:p xmlns:a="http://schemas.openxmlformats.org/drawingml/2006/main">
            <a:r>
              <a:t/>
            </a:r>
          </a:p>
          <a:p xmlns:a="http://schemas.openxmlformats.org/drawingml/2006/main">
            <a:r>
              <a:t>PROJECT SOURCES</a:t>
            </a:r>
          </a:p>
          <a:p xmlns:a="http://schemas.openxmlformats.org/drawingml/2006/main">
            <a:r>
              <a:t>.utmp/ui-checks/12-boss-telegraph.png is a staged Play Mode feature check, not a complete natural playthrough. EnemyAttackBehavior.cs; FinalSiegeBoss.cs; TowerRepairCargo.cs.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[Play the 60-second gameplay recording. Let the game audio carry this section. No live narration is required.]</a:t>
            </a:r>
          </a:p>
          <a:p xmlns:a="http://schemas.openxmlformats.org/drawingml/2006/main">
            <a:r>
              <a:t/>
            </a:r>
          </a:p>
          <a:p xmlns:a="http://schemas.openxmlformats.org/drawingml/2006/main">
            <a:r>
              <a:t>PROJECT SOURCES</a:t>
            </a:r>
          </a:p>
          <a:p xmlns:a="http://schemas.openxmlformats.org/drawingml/2006/main">
            <a:r>
              <a:t>Poster artwork: output/Promo/2026-09-19/ToxicBarrier_Background_1920x1080.png. A video file has not yet been supplied. The deck currently contains a poster image, not an embedded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Vision Zero moves from real-time action to planning around a table. It is a competitive game for two to four players, played over five rounds. Each player leads a city-planning team with three employees. Players send them to departments on this shared board to obtain funding, choose projects, gain policies or invest in infrastructure. Then they draft safety dice and place them on projects. A limited supply means a useful die may disappear before your next turn. Projects earn Safety Points when their requirements are complete. The player with the highest final score wins. The board and component designs are prepared for a physical prototype.</a:t>
            </a:r>
          </a:p>
          <a:p xmlns:a="http://schemas.openxmlformats.org/drawingml/2006/main">
            <a:r>
              <a:t/>
            </a:r>
          </a:p>
          <a:p xmlns:a="http://schemas.openxmlformats.org/drawingml/2006/main">
            <a:r>
              <a:t>PROJECT SOURCES</a:t>
            </a:r>
          </a:p>
          <a:p xmlns:a="http://schemas.openxmlformats.org/drawingml/2006/main">
            <a:r>
              <a:t>C:/GameProjects/CityBoardGame/Vision Zero - The Safe City Project Rulebook.docx, sections 1, 3, 7, 8 and 14. Latest department rules take precedence in Production/制作与缺项清单.md, updated 2026-09-19. Image: Structures/Vision_Zero_Main_Board_Open_City_Board_Final.png. Production is in prototype preparation, not claimed manufactured.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Here is a simple example. The Elementary Student project needs one crosswalk and one sidewalk, and it is worth three Safety Points. A player drafts matching symbols to complete it. But the choice sits inside a larger plan. Do I take the die that finishes this project now, or build toward another project? How much funding should I keep for emergencies? The Heavy Rain and Fog event on the right adds two emergency dice to the pool. That makes saving money more useful, because many emergency penalties can be mitigated with Coins. Permanent infrastructure offers another option: a reusable safety symbol for future projects. I want the transport theme to affect decisions through the rules, so different travelers and changing conditions matter during play.</a:t>
            </a:r>
          </a:p>
          <a:p xmlns:a="http://schemas.openxmlformats.org/drawingml/2006/main">
            <a:r>
              <a:t/>
            </a:r>
          </a:p>
          <a:p xmlns:a="http://schemas.openxmlformats.org/drawingml/2006/main">
            <a:r>
              <a:t>PROJECT SOURCES</a:t>
            </a:r>
          </a:p>
          <a:p xmlns:a="http://schemas.openxmlformats.org/drawingml/2006/main">
            <a:r>
              <a:t>Vision Zero rulebook sections 5, 8, 10 and 12. Original files: CommuterCards/ElementaryStudent.png and TrafficCards/HeavyRain_Fog.png. Not every emergency can be mitigated: Critical Error cannot. Permanent infrastructure maximum three per player.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These projects explore decisions at different speeds. ToxicBarrier asks players to react through movement and choose when to leave the tower. Vision Zero asks them to plan across rounds with limited resources. My focus across both is to give players clear choices and visible consequences. Thank you.</a:t>
            </a:r>
          </a:p>
          <a:p xmlns:a="http://schemas.openxmlformats.org/drawingml/2006/main">
            <a:r>
              <a:t/>
            </a:r>
          </a:p>
          <a:p xmlns:a="http://schemas.openxmlformats.org/drawingml/2006/main">
            <a:r>
              <a:t>PROJECT SOURCES</a:t>
            </a:r>
          </a:p>
          <a:p xmlns:a="http://schemas.openxmlformats.org/drawingml/2006/main">
            <a:r>
              <a:t>Closing is a design reflection based on the project mechanics described on slides 2–6, not a claim about measured player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ec5a8a319440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4fc579b08e4616" /><Relationship Type="http://schemas.openxmlformats.org/officeDocument/2006/relationships/slideLayout" Target="/ppt/slideLayouts/slideLayout1.xml" Id="Rc5f3582e707e47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f3582e707e47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4da7c9f4194e33" /><Relationship Type="http://schemas.openxmlformats.org/officeDocument/2006/relationships/image" Target="/ppt/media/image.jpeg" Id="Rd4ab514e743445a7" /><Relationship Type="http://schemas.openxmlformats.org/officeDocument/2006/relationships/image" Target="/ppt/media/image2.jpeg" Id="Re2c1b48bebc348d9" /><Relationship Type="http://schemas.openxmlformats.org/officeDocument/2006/relationships/notesSlide" Target="/ppt/notesSlides/notesSlide1.xml" Id="R5363d8c062014f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afaeeb85af45db" /><Relationship Type="http://schemas.openxmlformats.org/officeDocument/2006/relationships/image" Target="/ppt/media/image3.jpeg" Id="R17d0095b5fa64733" /><Relationship Type="http://schemas.openxmlformats.org/officeDocument/2006/relationships/notesSlide" Target="/ppt/notesSlides/notesSlide2.xml" Id="R3d4a74d70deb42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be0e34e16646bf" /><Relationship Type="http://schemas.openxmlformats.org/officeDocument/2006/relationships/image" Target="/ppt/media/image4.jpeg" Id="Rf44c757fd45244b1" /><Relationship Type="http://schemas.openxmlformats.org/officeDocument/2006/relationships/notesSlide" Target="/ppt/notesSlides/notesSlide3.xml" Id="R59a631ad7ca74e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682058fbe74354" /><Relationship Type="http://schemas.openxmlformats.org/officeDocument/2006/relationships/image" Target="/ppt/media/image5.jpeg" Id="R0231c09f00de4070" /><Relationship Type="http://schemas.openxmlformats.org/officeDocument/2006/relationships/notesSlide" Target="/ppt/notesSlides/notesSlide4.xml" Id="Redff35ce7b504d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c2533abede4410" /><Relationship Type="http://schemas.openxmlformats.org/officeDocument/2006/relationships/image" Target="/ppt/media/image6.jpeg" Id="Ra30f368682c54abf" /><Relationship Type="http://schemas.openxmlformats.org/officeDocument/2006/relationships/notesSlide" Target="/ppt/notesSlides/notesSlide5.xml" Id="Ra51636cd82d748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b6d8c364ba4b2b" /><Relationship Type="http://schemas.openxmlformats.org/officeDocument/2006/relationships/image" Target="/ppt/media/image7.jpeg" Id="Rd54b639e522e4d1e" /><Relationship Type="http://schemas.openxmlformats.org/officeDocument/2006/relationships/image" Target="/ppt/media/image8.jpeg" Id="Ra4bc72ce9ea24508" /><Relationship Type="http://schemas.openxmlformats.org/officeDocument/2006/relationships/notesSlide" Target="/ppt/notesSlides/notesSlide6.xml" Id="Rf4098ecf4dfa47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dea662c2b34dd7" /><Relationship Type="http://schemas.openxmlformats.org/officeDocument/2006/relationships/notesSlide" Target="/ppt/notesSlides/notesSlide7.xml" Id="R3e2b718ef88a4082" /></Relationships>
</file>

<file path=ppt/slides/slide1.xml><?xml version="1.0" encoding="utf-8"?>
<p:sld xmlns:p="http://schemas.openxmlformats.org/presentationml/2006/main">
  <p:cSld>
    <p:bg>
      <p:bgPr>
        <a:solidFill xmlns:a="http://schemas.openxmlformats.org/drawingml/2006/main">
          <a:srgbClr val="101C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C066D0-6545-4169-B0B7-4E0D4A644AB9}"/>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8F4EB"/>
                </a:solidFill>
                <a:latin typeface="Arial"/>
                <a:ea typeface="Arial"/>
                <a:cs typeface="Arial"/>
              </a:defRPr>
            </a:pPr>
            <a:r>
              <a:rPr sz="3900" b="1">
                <a:solidFill>
                  <a:srgbClr val="F8F4EB"/>
                </a:solidFill>
                <a:latin typeface="Arial"/>
                <a:ea typeface="Arial"/>
                <a:cs typeface="Arial"/>
              </a:rPr>
              <a:t>ToxicBarrier &amp; Vision Zero</a:t>
            </a:r>
          </a:p>
        </p:txBody>
      </p:sp>
      <p:sp>
        <p:nvSpPr>
          <p:cNvPr id="2" name="">
            <a:extLst xmlns:a="http://schemas.openxmlformats.org/drawingml/2006/main">
              <a:ext uri="{FF2B5EF4-FFF2-40B4-BE49-F238E27FC236}">
                <a16:creationId xmlns:a16="http://schemas.microsoft.com/office/drawing/2014/main" id="{477133E6-6FC0-4A46-909B-E4E17656D73B}"/>
              </a:ext>
            </a:extLst>
          </p:cNvPr>
          <p:cNvSpPr>
            <a:spLocks xmlns:a="http://schemas.openxmlformats.org/drawingml/2006/main" noGrp="1"/>
          </p:cNvSpPr>
          <p:nvPr/>
        </p:nvSpPr>
        <p:spPr>
          <a:xfrm xmlns:a="http://schemas.openxmlformats.org/drawingml/2006/main">
            <a:off x="552450" y="1219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B9C4CB"/>
                </a:solidFill>
                <a:latin typeface="Arial"/>
                <a:ea typeface="Arial"/>
                <a:cs typeface="Arial"/>
              </a:defRPr>
            </a:pPr>
            <a:r>
              <a:rPr sz="2025" b="0">
                <a:solidFill>
                  <a:srgbClr val="B9C4CB"/>
                </a:solidFill>
                <a:latin typeface="Arial"/>
                <a:ea typeface="Arial"/>
                <a:cs typeface="Arial"/>
              </a:rPr>
              <a:t>Game design portfolio</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4ab514e743445a7"/>
          <a:srcRect xmlns:a="http://schemas.openxmlformats.org/drawingml/2006/main" l="39" t="0" r="39" b="0"/>
          <a:stretch xmlns:a="http://schemas.openxmlformats.org/drawingml/2006/main">
            <a:fillRect l="0" t="0" r="0" b="0"/>
          </a:stretch>
        </p:blipFill>
        <p:spPr>
          <a:xfrm xmlns:a="http://schemas.openxmlformats.org/drawingml/2006/main">
            <a:off x="533400" y="2009775"/>
            <a:ext cx="5448300" cy="306705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2c1b48bebc348d9"/>
          <a:srcRect xmlns:a="http://schemas.openxmlformats.org/drawingml/2006/main" l="426" t="0" r="426" b="0"/>
          <a:stretch xmlns:a="http://schemas.openxmlformats.org/drawingml/2006/main">
            <a:fillRect l="0" t="0" r="0" b="0"/>
          </a:stretch>
        </p:blipFill>
        <p:spPr>
          <a:xfrm xmlns:a="http://schemas.openxmlformats.org/drawingml/2006/main">
            <a:off x="6210300" y="2009775"/>
            <a:ext cx="5448300" cy="3067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A6F6F5-4C3A-4142-B25D-5709D3DC8B4C}"/>
              </a:ext>
            </a:extLst>
          </p:cNvPr>
          <p:cNvSpPr>
            <a:spLocks xmlns:a="http://schemas.openxmlformats.org/drawingml/2006/main" noGrp="1"/>
          </p:cNvSpPr>
          <p:nvPr/>
        </p:nvSpPr>
        <p:spPr>
          <a:xfrm xmlns:a="http://schemas.openxmlformats.org/drawingml/2006/main">
            <a:off x="533400" y="5334000"/>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E9BB75"/>
                </a:solidFill>
                <a:latin typeface="Arial"/>
                <a:ea typeface="Arial"/>
                <a:cs typeface="Arial"/>
              </a:defRPr>
            </a:pPr>
            <a:r>
              <a:rPr sz="2700" b="1">
                <a:solidFill>
                  <a:srgbClr val="E9BB75"/>
                </a:solidFill>
                <a:latin typeface="Arial"/>
                <a:ea typeface="Arial"/>
                <a:cs typeface="Arial"/>
              </a:rPr>
              <a:t>ToxicBarrier</a:t>
            </a:r>
          </a:p>
        </p:txBody>
      </p:sp>
      <p:sp>
        <p:nvSpPr>
          <p:cNvPr id="6" name="">
            <a:extLst xmlns:a="http://schemas.openxmlformats.org/drawingml/2006/main">
              <a:ext uri="{FF2B5EF4-FFF2-40B4-BE49-F238E27FC236}">
                <a16:creationId xmlns:a16="http://schemas.microsoft.com/office/drawing/2014/main" id="{A855FC5A-0F62-4D07-A92E-B4B98F6F5D4C}"/>
              </a:ext>
            </a:extLst>
          </p:cNvPr>
          <p:cNvSpPr>
            <a:spLocks xmlns:a="http://schemas.openxmlformats.org/drawingml/2006/main" noGrp="1"/>
          </p:cNvSpPr>
          <p:nvPr/>
        </p:nvSpPr>
        <p:spPr>
          <a:xfrm xmlns:a="http://schemas.openxmlformats.org/drawingml/2006/main">
            <a:off x="6210300" y="5334000"/>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E9BB75"/>
                </a:solidFill>
                <a:latin typeface="Arial"/>
                <a:ea typeface="Arial"/>
                <a:cs typeface="Arial"/>
              </a:defRPr>
            </a:pPr>
            <a:r>
              <a:rPr sz="2700" b="1">
                <a:solidFill>
                  <a:srgbClr val="E9BB75"/>
                </a:solidFill>
                <a:latin typeface="Arial"/>
                <a:ea typeface="Arial"/>
                <a:cs typeface="Arial"/>
              </a:rPr>
              <a:t>Vision Zero</a:t>
            </a:r>
          </a:p>
        </p:txBody>
      </p:sp>
      <p:sp>
        <p:nvSpPr>
          <p:cNvPr id="7" name="">
            <a:extLst xmlns:a="http://schemas.openxmlformats.org/drawingml/2006/main">
              <a:ext uri="{FF2B5EF4-FFF2-40B4-BE49-F238E27FC236}">
                <a16:creationId xmlns:a16="http://schemas.microsoft.com/office/drawing/2014/main" id="{B7EDA689-6D12-462C-88CF-5F950E4294EB}"/>
              </a:ext>
            </a:extLst>
          </p:cNvPr>
          <p:cNvSpPr>
            <a:spLocks xmlns:a="http://schemas.openxmlformats.org/drawingml/2006/main" noGrp="1"/>
          </p:cNvSpPr>
          <p:nvPr/>
        </p:nvSpPr>
        <p:spPr>
          <a:xfrm xmlns:a="http://schemas.openxmlformats.org/drawingml/2006/main">
            <a:off x="533400" y="584835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B"/>
                </a:solidFill>
                <a:latin typeface="Arial"/>
                <a:ea typeface="Arial"/>
                <a:cs typeface="Arial"/>
              </a:defRPr>
            </a:pPr>
            <a:r>
              <a:rPr sz="1875" b="0">
                <a:solidFill>
                  <a:srgbClr val="B9C4CB"/>
                </a:solidFill>
                <a:latin typeface="Arial"/>
                <a:ea typeface="Arial"/>
                <a:cs typeface="Arial"/>
              </a:rPr>
              <a:t>A Unity survival game</a:t>
            </a:r>
          </a:p>
        </p:txBody>
      </p:sp>
      <p:sp>
        <p:nvSpPr>
          <p:cNvPr id="8" name="">
            <a:extLst xmlns:a="http://schemas.openxmlformats.org/drawingml/2006/main">
              <a:ext uri="{FF2B5EF4-FFF2-40B4-BE49-F238E27FC236}">
                <a16:creationId xmlns:a16="http://schemas.microsoft.com/office/drawing/2014/main" id="{9DBF5726-73ED-4E1B-8850-DE2A26DDC5AC}"/>
              </a:ext>
            </a:extLst>
          </p:cNvPr>
          <p:cNvSpPr>
            <a:spLocks xmlns:a="http://schemas.openxmlformats.org/drawingml/2006/main" noGrp="1"/>
          </p:cNvSpPr>
          <p:nvPr/>
        </p:nvSpPr>
        <p:spPr>
          <a:xfrm xmlns:a="http://schemas.openxmlformats.org/drawingml/2006/main">
            <a:off x="6210300" y="58483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B"/>
                </a:solidFill>
                <a:latin typeface="Arial"/>
                <a:ea typeface="Arial"/>
                <a:cs typeface="Arial"/>
              </a:defRPr>
            </a:pPr>
            <a:r>
              <a:rPr sz="1875" b="0">
                <a:solidFill>
                  <a:srgbClr val="B9C4CB"/>
                </a:solidFill>
                <a:latin typeface="Arial"/>
                <a:ea typeface="Arial"/>
                <a:cs typeface="Arial"/>
              </a:rPr>
              <a:t>A competitive city-planning board game</a:t>
            </a:r>
          </a:p>
        </p:txBody>
      </p:sp>
    </p:spTree>
    <p:extLst>
      <p:ext uri="{BB962C8B-B14F-4D97-AF65-F5344CB8AC3E}">
        <p14:creationId xmlns:p14="http://schemas.microsoft.com/office/powerpoint/2010/main" val="306877834"/>
      </p:ext>
    </p:extLst>
  </p:cSld>
</p:sld>
</file>

<file path=ppt/slides/slide2.xml><?xml version="1.0" encoding="utf-8"?>
<p:sld xmlns:p="http://schemas.openxmlformats.org/presentationml/2006/main">
  <p:cSld>
    <p:bg>
      <p:bgPr>
        <a:solidFill xmlns:a="http://schemas.openxmlformats.org/drawingml/2006/main">
          <a:srgbClr val="101C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38C93A-C9B8-409F-934A-804B0F7D5140}"/>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8F4EB"/>
                </a:solidFill>
                <a:latin typeface="Arial"/>
                <a:ea typeface="Arial"/>
                <a:cs typeface="Arial"/>
              </a:defRPr>
            </a:pPr>
            <a:r>
              <a:rPr sz="3900" b="1">
                <a:solidFill>
                  <a:srgbClr val="F8F4EB"/>
                </a:solidFill>
                <a:latin typeface="Arial"/>
                <a:ea typeface="Arial"/>
                <a:cs typeface="Arial"/>
              </a:rPr>
              <a:t>ToxicBarrier</a:t>
            </a:r>
          </a:p>
        </p:txBody>
      </p:sp>
      <p:sp>
        <p:nvSpPr>
          <p:cNvPr id="2" name="">
            <a:extLst xmlns:a="http://schemas.openxmlformats.org/drawingml/2006/main">
              <a:ext uri="{FF2B5EF4-FFF2-40B4-BE49-F238E27FC236}">
                <a16:creationId xmlns:a16="http://schemas.microsoft.com/office/drawing/2014/main" id="{0B9E6ADB-F3EF-45F6-AD11-1799547B4B39}"/>
              </a:ext>
            </a:extLst>
          </p:cNvPr>
          <p:cNvSpPr>
            <a:spLocks xmlns:a="http://schemas.openxmlformats.org/drawingml/2006/main" noGrp="1"/>
          </p:cNvSpPr>
          <p:nvPr/>
        </p:nvSpPr>
        <p:spPr>
          <a:xfrm xmlns:a="http://schemas.openxmlformats.org/drawingml/2006/main">
            <a:off x="533400" y="12001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E9BB75"/>
                </a:solidFill>
                <a:latin typeface="Arial"/>
                <a:ea typeface="Arial"/>
                <a:cs typeface="Arial"/>
              </a:defRPr>
            </a:pPr>
            <a:r>
              <a:rPr sz="2250" b="0">
                <a:solidFill>
                  <a:srgbClr val="E9BB75"/>
                </a:solidFill>
                <a:latin typeface="Arial"/>
                <a:ea typeface="Arial"/>
                <a:cs typeface="Arial"/>
              </a:rPr>
              <a:t>Survive while protecting the tower</a:t>
            </a:r>
          </a:p>
        </p:txBody>
      </p:sp>
      <p:sp>
        <p:nvSpPr>
          <p:cNvPr id="3" name="">
            <a:extLst xmlns:a="http://schemas.openxmlformats.org/drawingml/2006/main">
              <a:ext uri="{FF2B5EF4-FFF2-40B4-BE49-F238E27FC236}">
                <a16:creationId xmlns:a16="http://schemas.microsoft.com/office/drawing/2014/main" id="{956E698B-C128-444B-9E81-DB7C3463491F}"/>
              </a:ext>
            </a:extLst>
          </p:cNvPr>
          <p:cNvSpPr>
            <a:spLocks xmlns:a="http://schemas.openxmlformats.org/drawingml/2006/main" noGrp="1"/>
          </p:cNvSpPr>
          <p:nvPr/>
        </p:nvSpPr>
        <p:spPr>
          <a:xfrm xmlns:a="http://schemas.openxmlformats.org/drawingml/2006/main">
            <a:off x="533400" y="2200275"/>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8F4EB"/>
                </a:solidFill>
                <a:latin typeface="Arial"/>
                <a:ea typeface="Arial"/>
                <a:cs typeface="Arial"/>
              </a:defRPr>
            </a:pPr>
            <a:r>
              <a:rPr sz="2175" b="1">
                <a:solidFill>
                  <a:srgbClr val="F8F4EB"/>
                </a:solidFill>
                <a:latin typeface="Arial"/>
                <a:ea typeface="Arial"/>
                <a:cs typeface="Arial"/>
              </a:rPr>
              <a:t>Explore for resources</a:t>
            </a:r>
          </a:p>
        </p:txBody>
      </p:sp>
      <p:sp>
        <p:nvSpPr>
          <p:cNvPr id="4" name="">
            <a:extLst xmlns:a="http://schemas.openxmlformats.org/drawingml/2006/main">
              <a:ext uri="{FF2B5EF4-FFF2-40B4-BE49-F238E27FC236}">
                <a16:creationId xmlns:a16="http://schemas.microsoft.com/office/drawing/2014/main" id="{ED7E5358-FAF1-45E1-B2E8-77ADC1B36FBD}"/>
              </a:ext>
            </a:extLst>
          </p:cNvPr>
          <p:cNvSpPr>
            <a:spLocks xmlns:a="http://schemas.openxmlformats.org/drawingml/2006/main" noGrp="1"/>
          </p:cNvSpPr>
          <p:nvPr/>
        </p:nvSpPr>
        <p:spPr>
          <a:xfrm xmlns:a="http://schemas.openxmlformats.org/drawingml/2006/main">
            <a:off x="533400" y="2695575"/>
            <a:ext cx="3638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B9C4CB"/>
                </a:solidFill>
                <a:latin typeface="Arial"/>
                <a:ea typeface="Arial"/>
                <a:cs typeface="Arial"/>
              </a:defRPr>
            </a:pPr>
            <a:r>
              <a:rPr sz="2025" b="0">
                <a:solidFill>
                  <a:srgbClr val="B9C4CB"/>
                </a:solidFill>
                <a:latin typeface="Arial"/>
                <a:ea typeface="Arial"/>
                <a:cs typeface="Arial"/>
              </a:rPr>
              <a:t>Gather materials and bring them back to upgrade your tower.</a:t>
            </a:r>
          </a:p>
        </p:txBody>
      </p:sp>
      <p:sp>
        <p:nvSpPr>
          <p:cNvPr id="5" name="">
            <a:extLst xmlns:a="http://schemas.openxmlformats.org/drawingml/2006/main">
              <a:ext uri="{FF2B5EF4-FFF2-40B4-BE49-F238E27FC236}">
                <a16:creationId xmlns:a16="http://schemas.microsoft.com/office/drawing/2014/main" id="{EE0C9A47-99E6-4FA8-952E-319E495BFAA0}"/>
              </a:ext>
            </a:extLst>
          </p:cNvPr>
          <p:cNvSpPr>
            <a:spLocks xmlns:a="http://schemas.openxmlformats.org/drawingml/2006/main" noGrp="1"/>
          </p:cNvSpPr>
          <p:nvPr/>
        </p:nvSpPr>
        <p:spPr>
          <a:xfrm xmlns:a="http://schemas.openxmlformats.org/drawingml/2006/main">
            <a:off x="533400" y="4086225"/>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8F4EB"/>
                </a:solidFill>
                <a:latin typeface="Arial"/>
                <a:ea typeface="Arial"/>
                <a:cs typeface="Arial"/>
              </a:defRPr>
            </a:pPr>
            <a:r>
              <a:rPr sz="2175" b="1">
                <a:solidFill>
                  <a:srgbClr val="F8F4EB"/>
                </a:solidFill>
                <a:latin typeface="Arial"/>
                <a:ea typeface="Arial"/>
                <a:cs typeface="Arial"/>
              </a:rPr>
              <a:t>Return to defend</a:t>
            </a:r>
          </a:p>
        </p:txBody>
      </p:sp>
      <p:sp>
        <p:nvSpPr>
          <p:cNvPr id="6" name="">
            <a:extLst xmlns:a="http://schemas.openxmlformats.org/drawingml/2006/main">
              <a:ext uri="{FF2B5EF4-FFF2-40B4-BE49-F238E27FC236}">
                <a16:creationId xmlns:a16="http://schemas.microsoft.com/office/drawing/2014/main" id="{360C7C1C-9449-49F2-927E-65760B386865}"/>
              </a:ext>
            </a:extLst>
          </p:cNvPr>
          <p:cNvSpPr>
            <a:spLocks xmlns:a="http://schemas.openxmlformats.org/drawingml/2006/main" noGrp="1"/>
          </p:cNvSpPr>
          <p:nvPr/>
        </p:nvSpPr>
        <p:spPr>
          <a:xfrm xmlns:a="http://schemas.openxmlformats.org/drawingml/2006/main">
            <a:off x="533400" y="4581525"/>
            <a:ext cx="3638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B9C4CB"/>
                </a:solidFill>
                <a:latin typeface="Arial"/>
                <a:ea typeface="Arial"/>
                <a:cs typeface="Arial"/>
              </a:defRPr>
            </a:pPr>
            <a:r>
              <a:rPr sz="2025" b="0">
                <a:solidFill>
                  <a:srgbClr val="B9C4CB"/>
                </a:solidFill>
                <a:latin typeface="Arial"/>
                <a:ea typeface="Arial"/>
                <a:cs typeface="Arial"/>
              </a:rPr>
              <a:t>Lure enemies into its attacks and decide when to leave safety.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d0095b5fa64733"/>
          <a:stretch xmlns:a="http://schemas.openxmlformats.org/drawingml/2006/main"/>
        </p:blipFill>
        <p:spPr>
          <a:xfrm xmlns:a="http://schemas.openxmlformats.org/drawingml/2006/main">
            <a:off x="4533900" y="2106823"/>
            <a:ext cx="7124700" cy="373972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DF8A32B-FA30-45F9-B56B-1AE18D64E596}"/>
              </a:ext>
            </a:extLst>
          </p:cNvPr>
          <p:cNvSpPr>
            <a:spLocks xmlns:a="http://schemas.openxmlformats.org/drawingml/2006/main" noGrp="1"/>
          </p:cNvSpPr>
          <p:nvPr/>
        </p:nvSpPr>
        <p:spPr>
          <a:xfrm xmlns:a="http://schemas.openxmlformats.org/drawingml/2006/main">
            <a:off x="533400" y="615315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E9BB75"/>
                </a:solidFill>
                <a:latin typeface="Arial"/>
                <a:ea typeface="Arial"/>
                <a:cs typeface="Arial"/>
              </a:defRPr>
            </a:pPr>
            <a:r>
              <a:rPr sz="1950" b="0">
                <a:solidFill>
                  <a:srgbClr val="E9BB75"/>
                </a:solidFill>
                <a:latin typeface="Arial"/>
                <a:ea typeface="Arial"/>
                <a:cs typeface="Arial"/>
              </a:rPr>
              <a:t>Win: reach tower level 3 and clear all three regions.</a:t>
            </a:r>
          </a:p>
        </p:txBody>
      </p:sp>
    </p:spTree>
    <p:extLst>
      <p:ext uri="{BB962C8B-B14F-4D97-AF65-F5344CB8AC3E}">
        <p14:creationId xmlns:p14="http://schemas.microsoft.com/office/powerpoint/2010/main" val="310149630"/>
      </p:ext>
    </p:extLst>
  </p:cSld>
</p:sld>
</file>

<file path=ppt/slides/slide3.xml><?xml version="1.0" encoding="utf-8"?>
<p:sld xmlns:p="http://schemas.openxmlformats.org/presentationml/2006/main">
  <p:cSld>
    <p:bg>
      <p:bgPr>
        <a:solidFill xmlns:a="http://schemas.openxmlformats.org/drawingml/2006/main">
          <a:srgbClr val="101C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A0106B-AC08-4C29-9D38-7A64D8AC4D43}"/>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8F4EB"/>
                </a:solidFill>
                <a:latin typeface="Arial"/>
                <a:ea typeface="Arial"/>
                <a:cs typeface="Arial"/>
              </a:defRPr>
            </a:pPr>
            <a:r>
              <a:rPr sz="3900" b="1">
                <a:solidFill>
                  <a:srgbClr val="F8F4EB"/>
                </a:solidFill>
                <a:latin typeface="Arial"/>
                <a:ea typeface="Arial"/>
                <a:cs typeface="Arial"/>
              </a:rPr>
              <a:t>Movement creates tactical choices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44c757fd45244b1"/>
          <a:stretch xmlns:a="http://schemas.openxmlformats.org/drawingml/2006/main"/>
        </p:blipFill>
        <p:spPr>
          <a:xfrm xmlns:a="http://schemas.openxmlformats.org/drawingml/2006/main">
            <a:off x="533400" y="1915612"/>
            <a:ext cx="7181850" cy="376972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09025B-D4F0-47BE-82FE-F955F6F1BBF3}"/>
              </a:ext>
            </a:extLst>
          </p:cNvPr>
          <p:cNvSpPr>
            <a:spLocks xmlns:a="http://schemas.openxmlformats.org/drawingml/2006/main" noGrp="1"/>
          </p:cNvSpPr>
          <p:nvPr/>
        </p:nvSpPr>
        <p:spPr>
          <a:xfrm xmlns:a="http://schemas.openxmlformats.org/drawingml/2006/main">
            <a:off x="8124825" y="19240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E9BB75"/>
                </a:solidFill>
                <a:latin typeface="Arial"/>
                <a:ea typeface="Arial"/>
                <a:cs typeface="Arial"/>
              </a:defRPr>
            </a:pPr>
            <a:r>
              <a:rPr sz="2250" b="1">
                <a:solidFill>
                  <a:srgbClr val="E9BB75"/>
                </a:solidFill>
                <a:latin typeface="Arial"/>
                <a:ea typeface="Arial"/>
                <a:cs typeface="Arial"/>
              </a:rPr>
              <a:t>Break enemy sight</a:t>
            </a:r>
          </a:p>
        </p:txBody>
      </p:sp>
      <p:sp>
        <p:nvSpPr>
          <p:cNvPr id="4" name="">
            <a:extLst xmlns:a="http://schemas.openxmlformats.org/drawingml/2006/main">
              <a:ext uri="{FF2B5EF4-FFF2-40B4-BE49-F238E27FC236}">
                <a16:creationId xmlns:a16="http://schemas.microsoft.com/office/drawing/2014/main" id="{F157979F-C7E3-4580-B380-159CACA5B480}"/>
              </a:ext>
            </a:extLst>
          </p:cNvPr>
          <p:cNvSpPr>
            <a:spLocks xmlns:a="http://schemas.openxmlformats.org/drawingml/2006/main" noGrp="1"/>
          </p:cNvSpPr>
          <p:nvPr/>
        </p:nvSpPr>
        <p:spPr>
          <a:xfrm xmlns:a="http://schemas.openxmlformats.org/drawingml/2006/main">
            <a:off x="8124825" y="2476500"/>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8F4EB"/>
                </a:solidFill>
                <a:latin typeface="Arial"/>
                <a:ea typeface="Arial"/>
                <a:cs typeface="Arial"/>
              </a:defRPr>
            </a:pPr>
            <a:r>
              <a:rPr sz="2025" b="0">
                <a:solidFill>
                  <a:srgbClr val="F8F4EB"/>
                </a:solidFill>
                <a:latin typeface="Arial"/>
                <a:ea typeface="Arial"/>
                <a:cs typeface="Arial"/>
              </a:rPr>
              <a:t>Buildings create alternate routes and places to escape pursuit.</a:t>
            </a:r>
          </a:p>
        </p:txBody>
      </p:sp>
      <p:sp>
        <p:nvSpPr>
          <p:cNvPr id="5" name="">
            <a:extLst xmlns:a="http://schemas.openxmlformats.org/drawingml/2006/main">
              <a:ext uri="{FF2B5EF4-FFF2-40B4-BE49-F238E27FC236}">
                <a16:creationId xmlns:a16="http://schemas.microsoft.com/office/drawing/2014/main" id="{CF85E5F8-46E6-434C-8EC5-E6B62328F4BC}"/>
              </a:ext>
            </a:extLst>
          </p:cNvPr>
          <p:cNvSpPr>
            <a:spLocks xmlns:a="http://schemas.openxmlformats.org/drawingml/2006/main" noGrp="1"/>
          </p:cNvSpPr>
          <p:nvPr/>
        </p:nvSpPr>
        <p:spPr>
          <a:xfrm xmlns:a="http://schemas.openxmlformats.org/drawingml/2006/main">
            <a:off x="8124825" y="4105275"/>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E9BB75"/>
                </a:solidFill>
                <a:latin typeface="Arial"/>
                <a:ea typeface="Arial"/>
                <a:cs typeface="Arial"/>
              </a:defRPr>
            </a:pPr>
            <a:r>
              <a:rPr sz="2250" b="1">
                <a:solidFill>
                  <a:srgbClr val="E9BB75"/>
                </a:solidFill>
                <a:latin typeface="Arial"/>
                <a:ea typeface="Arial"/>
                <a:cs typeface="Arial"/>
              </a:rPr>
              <a:t>Read the danger</a:t>
            </a:r>
          </a:p>
        </p:txBody>
      </p:sp>
      <p:sp>
        <p:nvSpPr>
          <p:cNvPr id="6" name="">
            <a:extLst xmlns:a="http://schemas.openxmlformats.org/drawingml/2006/main">
              <a:ext uri="{FF2B5EF4-FFF2-40B4-BE49-F238E27FC236}">
                <a16:creationId xmlns:a16="http://schemas.microsoft.com/office/drawing/2014/main" id="{0004F3AE-A011-41DA-8197-476205F68DCC}"/>
              </a:ext>
            </a:extLst>
          </p:cNvPr>
          <p:cNvSpPr>
            <a:spLocks xmlns:a="http://schemas.openxmlformats.org/drawingml/2006/main" noGrp="1"/>
          </p:cNvSpPr>
          <p:nvPr/>
        </p:nvSpPr>
        <p:spPr>
          <a:xfrm xmlns:a="http://schemas.openxmlformats.org/drawingml/2006/main">
            <a:off x="8124825" y="4657725"/>
            <a:ext cx="3476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8F4EB"/>
                </a:solidFill>
                <a:latin typeface="Arial"/>
                <a:ea typeface="Arial"/>
                <a:cs typeface="Arial"/>
              </a:defRPr>
            </a:pPr>
            <a:r>
              <a:rPr sz="2025" b="0">
                <a:solidFill>
                  <a:srgbClr val="F8F4EB"/>
                </a:solidFill>
                <a:latin typeface="Arial"/>
                <a:ea typeface="Arial"/>
                <a:cs typeface="Arial"/>
              </a:rPr>
              <a:t>The boss marks its strike area before the attack lands.</a:t>
            </a:r>
          </a:p>
        </p:txBody>
      </p:sp>
      <p:sp>
        <p:nvSpPr>
          <p:cNvPr id="7" name="">
            <a:extLst xmlns:a="http://schemas.openxmlformats.org/drawingml/2006/main">
              <a:ext uri="{FF2B5EF4-FFF2-40B4-BE49-F238E27FC236}">
                <a16:creationId xmlns:a16="http://schemas.microsoft.com/office/drawing/2014/main" id="{51C508D6-8360-4D97-9593-1F0398829286}"/>
              </a:ext>
            </a:extLst>
          </p:cNvPr>
          <p:cNvSpPr>
            <a:spLocks xmlns:a="http://schemas.openxmlformats.org/drawingml/2006/main" noGrp="1"/>
          </p:cNvSpPr>
          <p:nvPr/>
        </p:nvSpPr>
        <p:spPr>
          <a:xfrm xmlns:a="http://schemas.openxmlformats.org/drawingml/2006/main">
            <a:off x="533400" y="6153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B9C4CB"/>
                </a:solidFill>
                <a:latin typeface="Arial"/>
                <a:ea typeface="Arial"/>
                <a:cs typeface="Arial"/>
              </a:defRPr>
            </a:pPr>
            <a:r>
              <a:rPr sz="1950" b="0">
                <a:solidFill>
                  <a:srgbClr val="B9C4CB"/>
                </a:solidFill>
                <a:latin typeface="Arial"/>
                <a:ea typeface="Arial"/>
                <a:cs typeface="Arial"/>
              </a:rPr>
              <a:t>Exploration also offers limited supplies to repair the tower.</a:t>
            </a:r>
          </a:p>
        </p:txBody>
      </p:sp>
    </p:spTree>
    <p:extLst>
      <p:ext uri="{BB962C8B-B14F-4D97-AF65-F5344CB8AC3E}">
        <p14:creationId xmlns:p14="http://schemas.microsoft.com/office/powerpoint/2010/main" val="2002318829"/>
      </p:ext>
    </p:extLst>
  </p:cSld>
</p:sld>
</file>

<file path=ppt/slides/slide4.xml><?xml version="1.0" encoding="utf-8"?>
<p:sld xmlns:p="http://schemas.openxmlformats.org/presentationml/2006/main">
  <p:cSld>
    <p:bg>
      <p:bgPr>
        <a:solidFill xmlns:a="http://schemas.openxmlformats.org/drawingml/2006/main">
          <a:srgbClr val="101C2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1AEEFA-2877-4FFF-83DF-DF58A7516E9F}"/>
              </a:ext>
            </a:extLst>
          </p:cNvPr>
          <p:cNvSpPr>
            <a:spLocks xmlns:a="http://schemas.openxmlformats.org/drawingml/2006/main" noGrp="1"/>
          </p:cNvSpPr>
          <p:nvPr/>
        </p:nvSpPr>
        <p:spPr>
          <a:xfrm xmlns:a="http://schemas.openxmlformats.org/drawingml/2006/main">
            <a:off x="533400" y="361950"/>
            <a:ext cx="942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F8F4EB"/>
                </a:solidFill>
                <a:latin typeface="Arial"/>
                <a:ea typeface="Arial"/>
                <a:cs typeface="Arial"/>
              </a:defRPr>
            </a:pPr>
            <a:r>
              <a:rPr sz="3375" b="1">
                <a:solidFill>
                  <a:srgbClr val="F8F4EB"/>
                </a:solidFill>
                <a:latin typeface="Arial"/>
                <a:ea typeface="Arial"/>
                <a:cs typeface="Arial"/>
              </a:rPr>
              <a:t>ToxicBarrier gameplay</a:t>
            </a:r>
          </a:p>
        </p:txBody>
      </p:sp>
      <p:sp>
        <p:nvSpPr>
          <p:cNvPr id="2" name="">
            <a:extLst xmlns:a="http://schemas.openxmlformats.org/drawingml/2006/main">
              <a:ext uri="{FF2B5EF4-FFF2-40B4-BE49-F238E27FC236}">
                <a16:creationId xmlns:a16="http://schemas.microsoft.com/office/drawing/2014/main" id="{E815302A-FEDA-4DBC-AFE1-13331DC09103}"/>
              </a:ext>
            </a:extLst>
          </p:cNvPr>
          <p:cNvSpPr>
            <a:spLocks xmlns:a="http://schemas.openxmlformats.org/drawingml/2006/main" noGrp="1"/>
          </p:cNvSpPr>
          <p:nvPr/>
        </p:nvSpPr>
        <p:spPr>
          <a:xfrm xmlns:a="http://schemas.openxmlformats.org/drawingml/2006/main">
            <a:off x="10477500" y="457200"/>
            <a:ext cx="118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E9BB75"/>
                </a:solidFill>
                <a:latin typeface="Arial"/>
                <a:ea typeface="Arial"/>
                <a:cs typeface="Arial"/>
              </a:defRPr>
            </a:pPr>
            <a:r>
              <a:rPr sz="2325" b="1">
                <a:solidFill>
                  <a:srgbClr val="E9BB75"/>
                </a:solidFill>
                <a:latin typeface="Arial"/>
                <a:ea typeface="Arial"/>
                <a:cs typeface="Arial"/>
              </a:rPr>
              <a:t>01:00</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231c09f00de4070"/>
          <a:srcRect xmlns:a="http://schemas.openxmlformats.org/drawingml/2006/main" l="0" t="0" r="0" b="0"/>
          <a:stretch xmlns:a="http://schemas.openxmlformats.org/drawingml/2006/main">
            <a:fillRect l="0" t="0" r="0" b="0"/>
          </a:stretch>
        </p:blipFill>
        <p:spPr>
          <a:xfrm xmlns:a="http://schemas.openxmlformats.org/drawingml/2006/main">
            <a:off x="2057400" y="1143000"/>
            <a:ext cx="8077200" cy="45434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3E30C9-D9ED-401C-A28E-4DA2A824ED1B}"/>
              </a:ext>
            </a:extLst>
          </p:cNvPr>
          <p:cNvSpPr>
            <a:spLocks xmlns:a="http://schemas.openxmlformats.org/drawingml/2006/main" noGrp="1"/>
          </p:cNvSpPr>
          <p:nvPr/>
        </p:nvSpPr>
        <p:spPr>
          <a:xfrm xmlns:a="http://schemas.openxmlformats.org/drawingml/2006/main">
            <a:off x="2057400" y="5991225"/>
            <a:ext cx="8077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E9BB75"/>
                </a:solidFill>
                <a:latin typeface="Arial"/>
                <a:ea typeface="Arial"/>
                <a:cs typeface="Arial"/>
              </a:defRPr>
            </a:pPr>
            <a:r>
              <a:rPr sz="2175" b="0">
                <a:solidFill>
                  <a:srgbClr val="E9BB75"/>
                </a:solidFill>
                <a:latin typeface="Arial"/>
                <a:ea typeface="Arial"/>
                <a:cs typeface="Arial"/>
              </a:rPr>
              <a:t>Explore. Upgrade. Defend the tower.</a:t>
            </a:r>
          </a:p>
        </p:txBody>
      </p:sp>
    </p:spTree>
    <p:extLst>
      <p:ext uri="{BB962C8B-B14F-4D97-AF65-F5344CB8AC3E}">
        <p14:creationId xmlns:p14="http://schemas.microsoft.com/office/powerpoint/2010/main" val="1191641155"/>
      </p:ext>
    </p:extLst>
  </p:cSld>
</p:sld>
</file>

<file path=ppt/slides/slide5.xml><?xml version="1.0" encoding="utf-8"?>
<p:sld xmlns:p="http://schemas.openxmlformats.org/presentationml/2006/main">
  <p:cSld>
    <p:bg>
      <p:bgPr>
        <a:solidFill xmlns:a="http://schemas.openxmlformats.org/drawingml/2006/main">
          <a:srgbClr val="F8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1660F6-73B7-41D4-B061-08F40A1E8A63}"/>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7323E"/>
                </a:solidFill>
                <a:latin typeface="Arial"/>
                <a:ea typeface="Arial"/>
                <a:cs typeface="Arial"/>
              </a:defRPr>
            </a:pPr>
            <a:r>
              <a:rPr sz="3900" b="1">
                <a:solidFill>
                  <a:srgbClr val="17323E"/>
                </a:solidFill>
                <a:latin typeface="Arial"/>
                <a:ea typeface="Arial"/>
                <a:cs typeface="Arial"/>
              </a:rPr>
              <a:t>Vision Zero</a:t>
            </a:r>
          </a:p>
        </p:txBody>
      </p:sp>
      <p:sp>
        <p:nvSpPr>
          <p:cNvPr id="2" name="">
            <a:extLst xmlns:a="http://schemas.openxmlformats.org/drawingml/2006/main">
              <a:ext uri="{FF2B5EF4-FFF2-40B4-BE49-F238E27FC236}">
                <a16:creationId xmlns:a16="http://schemas.microsoft.com/office/drawing/2014/main" id="{68EA0967-42EC-4045-A835-F98EEC3E4530}"/>
              </a:ext>
            </a:extLst>
          </p:cNvPr>
          <p:cNvSpPr>
            <a:spLocks xmlns:a="http://schemas.openxmlformats.org/drawingml/2006/main" noGrp="1"/>
          </p:cNvSpPr>
          <p:nvPr/>
        </p:nvSpPr>
        <p:spPr>
          <a:xfrm xmlns:a="http://schemas.openxmlformats.org/drawingml/2006/main">
            <a:off x="533400" y="119062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276C76"/>
                </a:solidFill>
                <a:latin typeface="Arial"/>
                <a:ea typeface="Arial"/>
                <a:cs typeface="Arial"/>
              </a:defRPr>
            </a:pPr>
            <a:r>
              <a:rPr sz="2250" b="0">
                <a:solidFill>
                  <a:srgbClr val="276C76"/>
                </a:solidFill>
                <a:latin typeface="Arial"/>
                <a:ea typeface="Arial"/>
                <a:cs typeface="Arial"/>
              </a:rPr>
              <a:t>The Safe City Project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0f368682c54abf"/>
          <a:stretch xmlns:a="http://schemas.openxmlformats.org/drawingml/2006/main"/>
        </p:blipFill>
        <p:spPr>
          <a:xfrm xmlns:a="http://schemas.openxmlformats.org/drawingml/2006/main">
            <a:off x="535119" y="1924050"/>
            <a:ext cx="6683111" cy="4676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062023-4E61-4F45-B602-6088D0FB1C96}"/>
              </a:ext>
            </a:extLst>
          </p:cNvPr>
          <p:cNvSpPr>
            <a:spLocks xmlns:a="http://schemas.openxmlformats.org/drawingml/2006/main" noGrp="1"/>
          </p:cNvSpPr>
          <p:nvPr/>
        </p:nvSpPr>
        <p:spPr>
          <a:xfrm xmlns:a="http://schemas.openxmlformats.org/drawingml/2006/main">
            <a:off x="7705725" y="197167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7323E"/>
                </a:solidFill>
                <a:latin typeface="Arial"/>
                <a:ea typeface="Arial"/>
                <a:cs typeface="Arial"/>
              </a:defRPr>
            </a:pPr>
            <a:r>
              <a:rPr sz="2325" b="1">
                <a:solidFill>
                  <a:srgbClr val="17323E"/>
                </a:solidFill>
                <a:latin typeface="Arial"/>
                <a:ea typeface="Arial"/>
                <a:cs typeface="Arial"/>
              </a:rPr>
              <a:t>2–4 players, 5 rounds</a:t>
            </a:r>
          </a:p>
        </p:txBody>
      </p:sp>
      <p:sp>
        <p:nvSpPr>
          <p:cNvPr id="5" name="">
            <a:extLst xmlns:a="http://schemas.openxmlformats.org/drawingml/2006/main">
              <a:ext uri="{FF2B5EF4-FFF2-40B4-BE49-F238E27FC236}">
                <a16:creationId xmlns:a16="http://schemas.microsoft.com/office/drawing/2014/main" id="{8B1AED17-557E-42E2-816F-95E8B570E066}"/>
              </a:ext>
            </a:extLst>
          </p:cNvPr>
          <p:cNvSpPr>
            <a:spLocks xmlns:a="http://schemas.openxmlformats.org/drawingml/2006/main" noGrp="1"/>
          </p:cNvSpPr>
          <p:nvPr/>
        </p:nvSpPr>
        <p:spPr>
          <a:xfrm xmlns:a="http://schemas.openxmlformats.org/drawingml/2006/main">
            <a:off x="7705725" y="2562225"/>
            <a:ext cx="3905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323E"/>
                </a:solidFill>
                <a:latin typeface="Arial"/>
                <a:ea typeface="Arial"/>
                <a:cs typeface="Arial"/>
              </a:defRPr>
            </a:pPr>
            <a:r>
              <a:rPr sz="2100" b="0">
                <a:solidFill>
                  <a:srgbClr val="17323E"/>
                </a:solidFill>
                <a:latin typeface="Arial"/>
                <a:ea typeface="Arial"/>
                <a:cs typeface="Arial"/>
              </a:rPr>
              <a:t>Each player leads a city-planning team.</a:t>
            </a:r>
          </a:p>
        </p:txBody>
      </p:sp>
      <p:sp>
        <p:nvSpPr>
          <p:cNvPr id="6" name="">
            <a:extLst xmlns:a="http://schemas.openxmlformats.org/drawingml/2006/main">
              <a:ext uri="{FF2B5EF4-FFF2-40B4-BE49-F238E27FC236}">
                <a16:creationId xmlns:a16="http://schemas.microsoft.com/office/drawing/2014/main" id="{565B46CC-B011-4679-8523-A5FF37A072C3}"/>
              </a:ext>
            </a:extLst>
          </p:cNvPr>
          <p:cNvSpPr>
            <a:spLocks xmlns:a="http://schemas.openxmlformats.org/drawingml/2006/main" noGrp="1"/>
          </p:cNvSpPr>
          <p:nvPr/>
        </p:nvSpPr>
        <p:spPr>
          <a:xfrm xmlns:a="http://schemas.openxmlformats.org/drawingml/2006/main">
            <a:off x="7705725" y="3600450"/>
            <a:ext cx="3905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323E"/>
                </a:solidFill>
                <a:latin typeface="Arial"/>
                <a:ea typeface="Arial"/>
                <a:cs typeface="Arial"/>
              </a:defRPr>
            </a:pPr>
            <a:r>
              <a:rPr sz="2100" b="0">
                <a:solidFill>
                  <a:srgbClr val="17323E"/>
                </a:solidFill>
                <a:latin typeface="Arial"/>
                <a:ea typeface="Arial"/>
                <a:cs typeface="Arial"/>
              </a:rPr>
              <a:t>Assign employees to departments. Draft safety dice to complete transport projects.</a:t>
            </a:r>
          </a:p>
        </p:txBody>
      </p:sp>
      <p:sp>
        <p:nvSpPr>
          <p:cNvPr id="7" name="">
            <a:extLst xmlns:a="http://schemas.openxmlformats.org/drawingml/2006/main">
              <a:ext uri="{FF2B5EF4-FFF2-40B4-BE49-F238E27FC236}">
                <a16:creationId xmlns:a16="http://schemas.microsoft.com/office/drawing/2014/main" id="{B1AED52E-597D-4C64-B2CF-B0B03ED4CF34}"/>
              </a:ext>
            </a:extLst>
          </p:cNvPr>
          <p:cNvSpPr>
            <a:spLocks xmlns:a="http://schemas.openxmlformats.org/drawingml/2006/main" noGrp="1"/>
          </p:cNvSpPr>
          <p:nvPr/>
        </p:nvSpPr>
        <p:spPr>
          <a:xfrm xmlns:a="http://schemas.openxmlformats.org/drawingml/2006/main">
            <a:off x="7705725" y="5448300"/>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76C76"/>
                </a:solidFill>
                <a:latin typeface="Arial"/>
                <a:ea typeface="Arial"/>
                <a:cs typeface="Arial"/>
              </a:defRPr>
            </a:pPr>
            <a:r>
              <a:rPr sz="2325" b="1">
                <a:solidFill>
                  <a:srgbClr val="276C76"/>
                </a:solidFill>
                <a:latin typeface="Arial"/>
                <a:ea typeface="Arial"/>
                <a:cs typeface="Arial"/>
              </a:rPr>
              <a:t>Most Safety Points wins.</a:t>
            </a:r>
          </a:p>
        </p:txBody>
      </p:sp>
    </p:spTree>
    <p:extLst>
      <p:ext uri="{BB962C8B-B14F-4D97-AF65-F5344CB8AC3E}">
        <p14:creationId xmlns:p14="http://schemas.microsoft.com/office/powerpoint/2010/main" val="1152741353"/>
      </p:ext>
    </p:extLst>
  </p:cSld>
</p:sld>
</file>

<file path=ppt/slides/slide6.xml><?xml version="1.0" encoding="utf-8"?>
<p:sld xmlns:p="http://schemas.openxmlformats.org/presentationml/2006/main">
  <p:cSld>
    <p:bg>
      <p:bgPr>
        <a:solidFill xmlns:a="http://schemas.openxmlformats.org/drawingml/2006/main">
          <a:srgbClr val="F8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080D00-218D-40ED-917B-39123A3237C6}"/>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7323E"/>
                </a:solidFill>
                <a:latin typeface="Arial"/>
                <a:ea typeface="Arial"/>
                <a:cs typeface="Arial"/>
              </a:defRPr>
            </a:pPr>
            <a:r>
              <a:rPr sz="3900" b="1">
                <a:solidFill>
                  <a:srgbClr val="17323E"/>
                </a:solidFill>
                <a:latin typeface="Arial"/>
                <a:ea typeface="Arial"/>
                <a:cs typeface="Arial"/>
              </a:rPr>
              <a:t>A small project, a real trade-off</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54b639e522e4d1e"/>
          <a:stretch xmlns:a="http://schemas.openxmlformats.org/drawingml/2006/main"/>
        </p:blipFill>
        <p:spPr>
          <a:xfrm xmlns:a="http://schemas.openxmlformats.org/drawingml/2006/main">
            <a:off x="533400" y="1754188"/>
            <a:ext cx="3105150" cy="41402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bc72ce9ea24508"/>
          <a:stretch xmlns:a="http://schemas.openxmlformats.org/drawingml/2006/main"/>
        </p:blipFill>
        <p:spPr>
          <a:xfrm xmlns:a="http://schemas.openxmlformats.org/drawingml/2006/main">
            <a:off x="3895725" y="1754188"/>
            <a:ext cx="3105150" cy="4140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CFA175-8D41-48A0-9FBE-B664C2FF845B}"/>
              </a:ext>
            </a:extLst>
          </p:cNvPr>
          <p:cNvSpPr>
            <a:spLocks xmlns:a="http://schemas.openxmlformats.org/drawingml/2006/main" noGrp="1"/>
          </p:cNvSpPr>
          <p:nvPr/>
        </p:nvSpPr>
        <p:spPr>
          <a:xfrm xmlns:a="http://schemas.openxmlformats.org/drawingml/2006/main">
            <a:off x="7515225" y="1857375"/>
            <a:ext cx="414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7323E"/>
                </a:solidFill>
                <a:latin typeface="Arial"/>
                <a:ea typeface="Arial"/>
                <a:cs typeface="Arial"/>
              </a:defRPr>
            </a:pPr>
            <a:r>
              <a:rPr sz="2325" b="1">
                <a:solidFill>
                  <a:srgbClr val="17323E"/>
                </a:solidFill>
                <a:latin typeface="Arial"/>
                <a:ea typeface="Arial"/>
                <a:cs typeface="Arial"/>
              </a:rPr>
              <a:t>Complete a safe route</a:t>
            </a:r>
          </a:p>
        </p:txBody>
      </p:sp>
      <p:sp>
        <p:nvSpPr>
          <p:cNvPr id="5" name="">
            <a:extLst xmlns:a="http://schemas.openxmlformats.org/drawingml/2006/main">
              <a:ext uri="{FF2B5EF4-FFF2-40B4-BE49-F238E27FC236}">
                <a16:creationId xmlns:a16="http://schemas.microsoft.com/office/drawing/2014/main" id="{E4CB95E6-34BF-4728-A95C-B8E3AFE17846}"/>
              </a:ext>
            </a:extLst>
          </p:cNvPr>
          <p:cNvSpPr>
            <a:spLocks xmlns:a="http://schemas.openxmlformats.org/drawingml/2006/main" noGrp="1"/>
          </p:cNvSpPr>
          <p:nvPr/>
        </p:nvSpPr>
        <p:spPr>
          <a:xfrm xmlns:a="http://schemas.openxmlformats.org/drawingml/2006/main">
            <a:off x="7515225" y="2733675"/>
            <a:ext cx="4038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23E"/>
                </a:solidFill>
                <a:latin typeface="Arial"/>
                <a:ea typeface="Arial"/>
                <a:cs typeface="Arial"/>
              </a:defRPr>
            </a:pPr>
            <a:r>
              <a:rPr sz="2025" b="0">
                <a:solidFill>
                  <a:srgbClr val="17323E"/>
                </a:solidFill>
                <a:latin typeface="Arial"/>
                <a:ea typeface="Arial"/>
                <a:cs typeface="Arial"/>
              </a:rPr>
              <a:t>The Student project needs a crosswalk and a sidewalk. It earns 3 Safety Points.</a:t>
            </a:r>
          </a:p>
        </p:txBody>
      </p:sp>
      <p:sp>
        <p:nvSpPr>
          <p:cNvPr id="6" name="">
            <a:extLst xmlns:a="http://schemas.openxmlformats.org/drawingml/2006/main">
              <a:ext uri="{FF2B5EF4-FFF2-40B4-BE49-F238E27FC236}">
                <a16:creationId xmlns:a16="http://schemas.microsoft.com/office/drawing/2014/main" id="{714B66AF-7E07-483B-9B4D-5DD605E49A81}"/>
              </a:ext>
            </a:extLst>
          </p:cNvPr>
          <p:cNvSpPr>
            <a:spLocks xmlns:a="http://schemas.openxmlformats.org/drawingml/2006/main" noGrp="1"/>
          </p:cNvSpPr>
          <p:nvPr/>
        </p:nvSpPr>
        <p:spPr>
          <a:xfrm xmlns:a="http://schemas.openxmlformats.org/drawingml/2006/main">
            <a:off x="7515225" y="4486275"/>
            <a:ext cx="4143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76C76"/>
                </a:solidFill>
                <a:latin typeface="Arial"/>
                <a:ea typeface="Arial"/>
                <a:cs typeface="Arial"/>
              </a:defRPr>
            </a:pPr>
            <a:r>
              <a:rPr sz="2325" b="1">
                <a:solidFill>
                  <a:srgbClr val="276C76"/>
                </a:solidFill>
                <a:latin typeface="Arial"/>
                <a:ea typeface="Arial"/>
                <a:cs typeface="Arial"/>
              </a:rPr>
              <a:t>Keep money for risk</a:t>
            </a:r>
          </a:p>
        </p:txBody>
      </p:sp>
      <p:sp>
        <p:nvSpPr>
          <p:cNvPr id="7" name="">
            <a:extLst xmlns:a="http://schemas.openxmlformats.org/drawingml/2006/main">
              <a:ext uri="{FF2B5EF4-FFF2-40B4-BE49-F238E27FC236}">
                <a16:creationId xmlns:a16="http://schemas.microsoft.com/office/drawing/2014/main" id="{42D94DB6-147F-41D3-A049-B0F1D2FD1F9C}"/>
              </a:ext>
            </a:extLst>
          </p:cNvPr>
          <p:cNvSpPr>
            <a:spLocks xmlns:a="http://schemas.openxmlformats.org/drawingml/2006/main" noGrp="1"/>
          </p:cNvSpPr>
          <p:nvPr/>
        </p:nvSpPr>
        <p:spPr>
          <a:xfrm xmlns:a="http://schemas.openxmlformats.org/drawingml/2006/main">
            <a:off x="7515225" y="5057775"/>
            <a:ext cx="4038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23E"/>
                </a:solidFill>
                <a:latin typeface="Arial"/>
                <a:ea typeface="Arial"/>
                <a:cs typeface="Arial"/>
              </a:defRPr>
            </a:pPr>
            <a:r>
              <a:rPr sz="2025" b="0">
                <a:solidFill>
                  <a:srgbClr val="17323E"/>
                </a:solidFill>
                <a:latin typeface="Arial"/>
                <a:ea typeface="Arial"/>
                <a:cs typeface="Arial"/>
              </a:rPr>
              <a:t>Heavy rain adds emergency dice. Funding can help mitigate their penalties.</a:t>
            </a:r>
          </a:p>
        </p:txBody>
      </p:sp>
    </p:spTree>
    <p:extLst>
      <p:ext uri="{BB962C8B-B14F-4D97-AF65-F5344CB8AC3E}">
        <p14:creationId xmlns:p14="http://schemas.microsoft.com/office/powerpoint/2010/main" val="769687132"/>
      </p:ext>
    </p:extLst>
  </p:cSld>
</p:sld>
</file>

<file path=ppt/slides/slide7.xml><?xml version="1.0" encoding="utf-8"?>
<p:sld xmlns:p="http://schemas.openxmlformats.org/presentationml/2006/main">
  <p:cSld>
    <p:bg>
      <p:bgPr>
        <a:solidFill xmlns:a="http://schemas.openxmlformats.org/drawingml/2006/main">
          <a:srgbClr val="101C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58A4B9-16E9-4E41-A6FD-EE12F5DDDF75}"/>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8F4EB"/>
                </a:solidFill>
                <a:latin typeface="Arial"/>
                <a:ea typeface="Arial"/>
                <a:cs typeface="Arial"/>
              </a:defRPr>
            </a:pPr>
            <a:r>
              <a:rPr sz="3900" b="1">
                <a:solidFill>
                  <a:srgbClr val="F8F4EB"/>
                </a:solidFill>
                <a:latin typeface="Arial"/>
                <a:ea typeface="Arial"/>
                <a:cs typeface="Arial"/>
              </a:rPr>
              <a:t>Design focus</a:t>
            </a:r>
          </a:p>
        </p:txBody>
      </p:sp>
      <p:sp>
        <p:nvSpPr>
          <p:cNvPr id="2" name="">
            <a:extLst xmlns:a="http://schemas.openxmlformats.org/drawingml/2006/main">
              <a:ext uri="{FF2B5EF4-FFF2-40B4-BE49-F238E27FC236}">
                <a16:creationId xmlns:a16="http://schemas.microsoft.com/office/drawing/2014/main" id="{A9043EC8-BBAF-4B40-8C4B-087902B123A7}"/>
              </a:ext>
            </a:extLst>
          </p:cNvPr>
          <p:cNvSpPr>
            <a:spLocks xmlns:a="http://schemas.openxmlformats.org/drawingml/2006/main" noGrp="1"/>
          </p:cNvSpPr>
          <p:nvPr/>
        </p:nvSpPr>
        <p:spPr>
          <a:xfrm xmlns:a="http://schemas.openxmlformats.org/drawingml/2006/main">
            <a:off x="533400" y="19621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E9BB75"/>
                </a:solidFill>
                <a:latin typeface="Arial"/>
                <a:ea typeface="Arial"/>
                <a:cs typeface="Arial"/>
              </a:defRPr>
            </a:pPr>
            <a:r>
              <a:rPr sz="2925" b="1">
                <a:solidFill>
                  <a:srgbClr val="E9BB75"/>
                </a:solidFill>
                <a:latin typeface="Arial"/>
                <a:ea typeface="Arial"/>
                <a:cs typeface="Arial"/>
              </a:rPr>
              <a:t>ToxicBarrier</a:t>
            </a:r>
          </a:p>
        </p:txBody>
      </p:sp>
      <p:sp>
        <p:nvSpPr>
          <p:cNvPr id="3" name="">
            <a:extLst xmlns:a="http://schemas.openxmlformats.org/drawingml/2006/main">
              <a:ext uri="{FF2B5EF4-FFF2-40B4-BE49-F238E27FC236}">
                <a16:creationId xmlns:a16="http://schemas.microsoft.com/office/drawing/2014/main" id="{0EB9B427-FDF2-48FC-BD1B-51E4995BDB6B}"/>
              </a:ext>
            </a:extLst>
          </p:cNvPr>
          <p:cNvSpPr>
            <a:spLocks xmlns:a="http://schemas.openxmlformats.org/drawingml/2006/main" noGrp="1"/>
          </p:cNvSpPr>
          <p:nvPr/>
        </p:nvSpPr>
        <p:spPr>
          <a:xfrm xmlns:a="http://schemas.openxmlformats.org/drawingml/2006/main">
            <a:off x="533400" y="271462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8F4EB"/>
                </a:solidFill>
                <a:latin typeface="Arial"/>
                <a:ea typeface="Arial"/>
                <a:cs typeface="Arial"/>
              </a:defRPr>
            </a:pPr>
            <a:r>
              <a:rPr sz="2400" b="1">
                <a:solidFill>
                  <a:srgbClr val="F8F4EB"/>
                </a:solidFill>
                <a:latin typeface="Arial"/>
                <a:ea typeface="Arial"/>
                <a:cs typeface="Arial"/>
              </a:rPr>
              <a:t>Immediate decisions</a:t>
            </a:r>
          </a:p>
        </p:txBody>
      </p:sp>
      <p:sp>
        <p:nvSpPr>
          <p:cNvPr id="4" name="">
            <a:extLst xmlns:a="http://schemas.openxmlformats.org/drawingml/2006/main">
              <a:ext uri="{FF2B5EF4-FFF2-40B4-BE49-F238E27FC236}">
                <a16:creationId xmlns:a16="http://schemas.microsoft.com/office/drawing/2014/main" id="{D286BED8-102C-4807-B173-1A183260156F}"/>
              </a:ext>
            </a:extLst>
          </p:cNvPr>
          <p:cNvSpPr>
            <a:spLocks xmlns:a="http://schemas.openxmlformats.org/drawingml/2006/main" noGrp="1"/>
          </p:cNvSpPr>
          <p:nvPr/>
        </p:nvSpPr>
        <p:spPr>
          <a:xfrm xmlns:a="http://schemas.openxmlformats.org/drawingml/2006/main">
            <a:off x="533400" y="3409950"/>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B9C4CB"/>
                </a:solidFill>
                <a:latin typeface="Arial"/>
                <a:ea typeface="Arial"/>
                <a:cs typeface="Arial"/>
              </a:defRPr>
            </a:pPr>
            <a:r>
              <a:rPr sz="2175" b="0">
                <a:solidFill>
                  <a:srgbClr val="B9C4CB"/>
                </a:solidFill>
                <a:latin typeface="Arial"/>
                <a:ea typeface="Arial"/>
                <a:cs typeface="Arial"/>
              </a:rPr>
              <a:t>Where to move, when to explore,</a:t>
            </a:r>
          </a:p>
          <a:p xmlns:a="http://schemas.openxmlformats.org/drawingml/2006/main">
            <a:pPr>
              <a:defRPr sz="2175" b="0">
                <a:solidFill>
                  <a:srgbClr val="B9C4CB"/>
                </a:solidFill>
                <a:latin typeface="Arial"/>
                <a:ea typeface="Arial"/>
                <a:cs typeface="Arial"/>
              </a:defRPr>
            </a:pPr>
            <a:r>
              <a:rPr sz="2175" b="0">
                <a:solidFill>
                  <a:srgbClr val="B9C4CB"/>
                </a:solidFill>
                <a:latin typeface="Arial"/>
                <a:ea typeface="Arial"/>
                <a:cs typeface="Arial"/>
              </a:rPr>
              <a:t>and when to return to the tower.</a:t>
            </a:r>
          </a:p>
        </p:txBody>
      </p:sp>
      <p:sp>
        <p:nvSpPr>
          <p:cNvPr id="5" name="">
            <a:extLst xmlns:a="http://schemas.openxmlformats.org/drawingml/2006/main">
              <a:ext uri="{FF2B5EF4-FFF2-40B4-BE49-F238E27FC236}">
                <a16:creationId xmlns:a16="http://schemas.microsoft.com/office/drawing/2014/main" id="{E38D58A1-4AA0-4ABF-A232-65913D9D3439}"/>
              </a:ext>
            </a:extLst>
          </p:cNvPr>
          <p:cNvSpPr>
            <a:spLocks xmlns:a="http://schemas.openxmlformats.org/drawingml/2006/main" noGrp="1"/>
          </p:cNvSpPr>
          <p:nvPr/>
        </p:nvSpPr>
        <p:spPr>
          <a:xfrm xmlns:a="http://schemas.openxmlformats.org/drawingml/2006/main">
            <a:off x="6515100" y="19621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E9BB75"/>
                </a:solidFill>
                <a:latin typeface="Arial"/>
                <a:ea typeface="Arial"/>
                <a:cs typeface="Arial"/>
              </a:defRPr>
            </a:pPr>
            <a:r>
              <a:rPr sz="2925" b="1">
                <a:solidFill>
                  <a:srgbClr val="E9BB75"/>
                </a:solidFill>
                <a:latin typeface="Arial"/>
                <a:ea typeface="Arial"/>
                <a:cs typeface="Arial"/>
              </a:rPr>
              <a:t>Vision Zero</a:t>
            </a:r>
          </a:p>
        </p:txBody>
      </p:sp>
      <p:sp>
        <p:nvSpPr>
          <p:cNvPr id="6" name="">
            <a:extLst xmlns:a="http://schemas.openxmlformats.org/drawingml/2006/main">
              <a:ext uri="{FF2B5EF4-FFF2-40B4-BE49-F238E27FC236}">
                <a16:creationId xmlns:a16="http://schemas.microsoft.com/office/drawing/2014/main" id="{ED99F09C-D65C-4109-B28A-CF8DE1C043EB}"/>
              </a:ext>
            </a:extLst>
          </p:cNvPr>
          <p:cNvSpPr>
            <a:spLocks xmlns:a="http://schemas.openxmlformats.org/drawingml/2006/main" noGrp="1"/>
          </p:cNvSpPr>
          <p:nvPr/>
        </p:nvSpPr>
        <p:spPr>
          <a:xfrm xmlns:a="http://schemas.openxmlformats.org/drawingml/2006/main">
            <a:off x="6515100" y="271462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8F4EB"/>
                </a:solidFill>
                <a:latin typeface="Arial"/>
                <a:ea typeface="Arial"/>
                <a:cs typeface="Arial"/>
              </a:defRPr>
            </a:pPr>
            <a:r>
              <a:rPr sz="2400" b="1">
                <a:solidFill>
                  <a:srgbClr val="F8F4EB"/>
                </a:solidFill>
                <a:latin typeface="Arial"/>
                <a:ea typeface="Arial"/>
                <a:cs typeface="Arial"/>
              </a:rPr>
              <a:t>Planning across rounds</a:t>
            </a:r>
          </a:p>
        </p:txBody>
      </p:sp>
      <p:sp>
        <p:nvSpPr>
          <p:cNvPr id="7" name="">
            <a:extLst xmlns:a="http://schemas.openxmlformats.org/drawingml/2006/main">
              <a:ext uri="{FF2B5EF4-FFF2-40B4-BE49-F238E27FC236}">
                <a16:creationId xmlns:a16="http://schemas.microsoft.com/office/drawing/2014/main" id="{72AF5DD4-2B08-4612-BA40-EB2FD64C8E18}"/>
              </a:ext>
            </a:extLst>
          </p:cNvPr>
          <p:cNvSpPr>
            <a:spLocks xmlns:a="http://schemas.openxmlformats.org/drawingml/2006/main" noGrp="1"/>
          </p:cNvSpPr>
          <p:nvPr/>
        </p:nvSpPr>
        <p:spPr>
          <a:xfrm xmlns:a="http://schemas.openxmlformats.org/drawingml/2006/main">
            <a:off x="6515100" y="3409950"/>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B9C4CB"/>
                </a:solidFill>
                <a:latin typeface="Arial"/>
                <a:ea typeface="Arial"/>
                <a:cs typeface="Arial"/>
              </a:defRPr>
            </a:pPr>
            <a:r>
              <a:rPr sz="2175" b="0">
                <a:solidFill>
                  <a:srgbClr val="B9C4CB"/>
                </a:solidFill>
                <a:latin typeface="Arial"/>
                <a:ea typeface="Arial"/>
                <a:cs typeface="Arial"/>
              </a:rPr>
              <a:t>Which projects to pursue,</a:t>
            </a:r>
          </a:p>
          <a:p xmlns:a="http://schemas.openxmlformats.org/drawingml/2006/main">
            <a:pPr>
              <a:defRPr sz="2175" b="0">
                <a:solidFill>
                  <a:srgbClr val="B9C4CB"/>
                </a:solidFill>
                <a:latin typeface="Arial"/>
                <a:ea typeface="Arial"/>
                <a:cs typeface="Arial"/>
              </a:defRPr>
            </a:pPr>
            <a:r>
              <a:rPr sz="2175" b="0">
                <a:solidFill>
                  <a:srgbClr val="B9C4CB"/>
                </a:solidFill>
                <a:latin typeface="Arial"/>
                <a:ea typeface="Arial"/>
                <a:cs typeface="Arial"/>
              </a:rPr>
              <a:t>and how much risk to accept.</a:t>
            </a:r>
          </a:p>
        </p:txBody>
      </p:sp>
      <p:sp>
        <p:nvSpPr>
          <p:cNvPr id="8" name="">
            <a:extLst xmlns:a="http://schemas.openxmlformats.org/drawingml/2006/main">
              <a:ext uri="{FF2B5EF4-FFF2-40B4-BE49-F238E27FC236}">
                <a16:creationId xmlns:a16="http://schemas.microsoft.com/office/drawing/2014/main" id="{53AEFD2B-2F22-4480-95BF-67A6AF094E04}"/>
              </a:ext>
            </a:extLst>
          </p:cNvPr>
          <p:cNvSpPr>
            <a:spLocks xmlns:a="http://schemas.openxmlformats.org/drawingml/2006/main" noGrp="1"/>
          </p:cNvSpPr>
          <p:nvPr/>
        </p:nvSpPr>
        <p:spPr>
          <a:xfrm xmlns:a="http://schemas.openxmlformats.org/drawingml/2006/main">
            <a:off x="533400" y="53816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8F4EB"/>
                </a:solidFill>
                <a:latin typeface="Arial"/>
                <a:ea typeface="Arial"/>
                <a:cs typeface="Arial"/>
              </a:defRPr>
            </a:pPr>
            <a:r>
              <a:rPr sz="3225" b="1">
                <a:solidFill>
                  <a:srgbClr val="F8F4EB"/>
                </a:solidFill>
                <a:latin typeface="Arial"/>
                <a:ea typeface="Arial"/>
                <a:cs typeface="Arial"/>
              </a:rPr>
              <a:t>Clear choices. Visible consequences.</a:t>
            </a:r>
          </a:p>
        </p:txBody>
      </p:sp>
    </p:spTree>
    <p:extLst>
      <p:ext uri="{BB962C8B-B14F-4D97-AF65-F5344CB8AC3E}">
        <p14:creationId xmlns:p14="http://schemas.microsoft.com/office/powerpoint/2010/main" val="9321097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2026-09-20T10:06:25.0690000Z</dcterms:created>
  <dcterms:modified xsi:type="dcterms:W3CDTF">2026-09-20T10:06:25.0690000Z</dcterms:modified>
</coreProperties>
</file>